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271d0821664253" /><Relationship Type="http://schemas.openxmlformats.org/officeDocument/2006/relationships/extended-properties" Target="/docProps/app.xml" Id="Re4668e88b11a4667" /><Relationship Type="http://schemas.openxmlformats.org/officeDocument/2006/relationships/officeDocument" Target="/ppt/presentation.xml" Id="R95851e122ad141c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f280fa3628a430a"/>
  </p:sldMasterIdLst>
  <p:notesMasterIdLst>
    <p:notesMasterId xmlns:r="http://schemas.openxmlformats.org/officeDocument/2006/relationships" r:id="R0da17bd1072a40df"/>
  </p:notesMasterIdLst>
  <p:sldIdLst>
    <p:sldId xmlns:r="http://schemas.openxmlformats.org/officeDocument/2006/relationships" id="256" r:id="R41ebfcdedaba4df2"/>
    <p:sldId xmlns:r="http://schemas.openxmlformats.org/officeDocument/2006/relationships" id="257" r:id="R89a2181bec794d6c"/>
    <p:sldId xmlns:r="http://schemas.openxmlformats.org/officeDocument/2006/relationships" id="258" r:id="R94815e19bb7d4079"/>
    <p:sldId xmlns:r="http://schemas.openxmlformats.org/officeDocument/2006/relationships" id="259" r:id="Rc422928c2bfb4d65"/>
    <p:sldId xmlns:r="http://schemas.openxmlformats.org/officeDocument/2006/relationships" id="260" r:id="R50078605296d48ec"/>
    <p:sldId xmlns:r="http://schemas.openxmlformats.org/officeDocument/2006/relationships" id="261" r:id="R5c8801c5585b474a"/>
    <p:sldId xmlns:r="http://schemas.openxmlformats.org/officeDocument/2006/relationships" id="262" r:id="Rb49c75fbb90e4510"/>
    <p:sldId xmlns:r="http://schemas.openxmlformats.org/officeDocument/2006/relationships" id="263" r:id="R0ad9a9b4318b4c0a"/>
    <p:sldId xmlns:r="http://schemas.openxmlformats.org/officeDocument/2006/relationships" id="264" r:id="R98497b0b8e7b4e3e"/>
    <p:sldId xmlns:r="http://schemas.openxmlformats.org/officeDocument/2006/relationships" id="265" r:id="Re39bb01777a74f65"/>
    <p:sldId xmlns:r="http://schemas.openxmlformats.org/officeDocument/2006/relationships" id="266" r:id="R5272d77df0f94d9c"/>
    <p:sldId xmlns:r="http://schemas.openxmlformats.org/officeDocument/2006/relationships" id="267" r:id="R075e39153c6d4d50"/>
    <p:sldId xmlns:r="http://schemas.openxmlformats.org/officeDocument/2006/relationships" id="268" r:id="R9c70045bce8341db"/>
    <p:sldId xmlns:r="http://schemas.openxmlformats.org/officeDocument/2006/relationships" id="269" r:id="Rc4c776cace2c46b7"/>
    <p:sldId xmlns:r="http://schemas.openxmlformats.org/officeDocument/2006/relationships" id="270" r:id="R4ca8ec4560ea442d"/>
  </p:sldIdLst>
  <p:sldSz cx="9144000" cy="5143500"/>
  <p:notesSz cx="6858000" cy="9144000"/>
  <p:embeddedFontLst>
    <p:embeddedFont>
      <p:font typeface="Helvetica Neue Light"/>
      <p:regular xmlns:r="http://schemas.openxmlformats.org/officeDocument/2006/relationships" r:id="R57d09625d48f4112"/>
      <p:bold xmlns:r="http://schemas.openxmlformats.org/officeDocument/2006/relationships" r:id="R927de93ad3354a09"/>
      <p:italic xmlns:r="http://schemas.openxmlformats.org/officeDocument/2006/relationships" r:id="R40b8967e17ca4a5e"/>
      <p:boldItalic xmlns:r="http://schemas.openxmlformats.org/officeDocument/2006/relationships" r:id="R37f1a0b46d0f4ee8"/>
    </p:embeddedFont>
    <p:embeddedFont>
      <p:font typeface="Open Sans"/>
      <p:regular xmlns:r="http://schemas.openxmlformats.org/officeDocument/2006/relationships" r:id="Rf14d41893484424d"/>
      <p:bold xmlns:r="http://schemas.openxmlformats.org/officeDocument/2006/relationships" r:id="R7ba10f8433f74434"/>
      <p:italic xmlns:r="http://schemas.openxmlformats.org/officeDocument/2006/relationships" r:id="R3271c85a7e7b4a62"/>
      <p:boldItalic xmlns:r="http://schemas.openxmlformats.org/officeDocument/2006/relationships" r:id="Ra94157ef0acf4fd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7f7a9e95c23442bc" /><Relationship Type="http://schemas.openxmlformats.org/officeDocument/2006/relationships/slideMaster" Target="/ppt/slideMasters/slideMaster1.xml" Id="R9f280fa3628a430a" /><Relationship Type="http://schemas.openxmlformats.org/officeDocument/2006/relationships/notesMaster" Target="/ppt/notesMasters/notesMaster1.xml" Id="R0da17bd1072a40df" /><Relationship Type="http://schemas.openxmlformats.org/officeDocument/2006/relationships/presProps" Target="/ppt/presProps.xml" Id="R23baea29165c4e43" /><Relationship Type="http://schemas.openxmlformats.org/officeDocument/2006/relationships/viewProps" Target="/ppt/viewProps.xml" Id="R2bb154dfaa304205" /><Relationship Type="http://schemas.openxmlformats.org/officeDocument/2006/relationships/tableStyles" Target="/ppt/tableStyles.xml" Id="R985e3252feaf4103" /><Relationship Type="http://schemas.openxmlformats.org/officeDocument/2006/relationships/font" Target="/ppt/fonts/font.dat" Id="R57d09625d48f4112" /><Relationship Type="http://schemas.openxmlformats.org/officeDocument/2006/relationships/font" Target="/ppt/fonts/font2.dat" Id="R927de93ad3354a09" /><Relationship Type="http://schemas.openxmlformats.org/officeDocument/2006/relationships/font" Target="/ppt/fonts/font3.dat" Id="R40b8967e17ca4a5e" /><Relationship Type="http://schemas.openxmlformats.org/officeDocument/2006/relationships/font" Target="/ppt/fonts/font4.dat" Id="R37f1a0b46d0f4ee8" /><Relationship Type="http://schemas.openxmlformats.org/officeDocument/2006/relationships/font" Target="/ppt/fonts/font5.dat" Id="Rf14d41893484424d" /><Relationship Type="http://schemas.openxmlformats.org/officeDocument/2006/relationships/font" Target="/ppt/fonts/font6.dat" Id="R7ba10f8433f74434" /><Relationship Type="http://schemas.openxmlformats.org/officeDocument/2006/relationships/font" Target="/ppt/fonts/font7.dat" Id="R3271c85a7e7b4a62" /><Relationship Type="http://schemas.openxmlformats.org/officeDocument/2006/relationships/font" Target="/ppt/fonts/font8.dat" Id="Ra94157ef0acf4fdb" /><Relationship Type="http://schemas.openxmlformats.org/officeDocument/2006/relationships/slide" Target="/ppt/slides/slide1.xml" Id="R41ebfcdedaba4df2" /><Relationship Type="http://schemas.openxmlformats.org/officeDocument/2006/relationships/slide" Target="/ppt/slides/slide2.xml" Id="R89a2181bec794d6c" /><Relationship Type="http://schemas.openxmlformats.org/officeDocument/2006/relationships/slide" Target="/ppt/slides/slide3.xml" Id="R94815e19bb7d4079" /><Relationship Type="http://schemas.openxmlformats.org/officeDocument/2006/relationships/slide" Target="/ppt/slides/slide4.xml" Id="Rc422928c2bfb4d65" /><Relationship Type="http://schemas.openxmlformats.org/officeDocument/2006/relationships/slide" Target="/ppt/slides/slide5.xml" Id="R50078605296d48ec" /><Relationship Type="http://schemas.openxmlformats.org/officeDocument/2006/relationships/slide" Target="/ppt/slides/slide6.xml" Id="R5c8801c5585b474a" /><Relationship Type="http://schemas.openxmlformats.org/officeDocument/2006/relationships/slide" Target="/ppt/slides/slide7.xml" Id="Rb49c75fbb90e4510" /><Relationship Type="http://schemas.openxmlformats.org/officeDocument/2006/relationships/slide" Target="/ppt/slides/slide8.xml" Id="R0ad9a9b4318b4c0a" /><Relationship Type="http://schemas.openxmlformats.org/officeDocument/2006/relationships/slide" Target="/ppt/slides/slide9.xml" Id="R98497b0b8e7b4e3e" /><Relationship Type="http://schemas.openxmlformats.org/officeDocument/2006/relationships/slide" Target="/ppt/slides/slide10.xml" Id="Re39bb01777a74f65" /><Relationship Type="http://schemas.openxmlformats.org/officeDocument/2006/relationships/slide" Target="/ppt/slides/slide11.xml" Id="R5272d77df0f94d9c" /><Relationship Type="http://schemas.openxmlformats.org/officeDocument/2006/relationships/slide" Target="/ppt/slides/slide12.xml" Id="R075e39153c6d4d50" /><Relationship Type="http://schemas.openxmlformats.org/officeDocument/2006/relationships/slide" Target="/ppt/slides/slide13.xml" Id="R9c70045bce8341db" /><Relationship Type="http://schemas.openxmlformats.org/officeDocument/2006/relationships/slide" Target="/ppt/slides/slide14.xml" Id="Rc4c776cace2c46b7" /><Relationship Type="http://schemas.openxmlformats.org/officeDocument/2006/relationships/slide" Target="/ppt/slides/slide15.xml" Id="R4ca8ec4560ea44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123f9f65fd49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ab1536f22c4cbf" /><Relationship Type="http://schemas.openxmlformats.org/officeDocument/2006/relationships/notesMaster" Target="/ppt/notesMasters/notesMaster1.xml" Id="R5067b823a6e946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88da72c54044b5" /><Relationship Type="http://schemas.openxmlformats.org/officeDocument/2006/relationships/notesMaster" Target="/ppt/notesMasters/notesMaster1.xml" Id="R336460a40e4e4d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8977dfe6b04804" /><Relationship Type="http://schemas.openxmlformats.org/officeDocument/2006/relationships/notesMaster" Target="/ppt/notesMasters/notesMaster1.xml" Id="R1c3fa6799c9540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8bddb071504c59" /><Relationship Type="http://schemas.openxmlformats.org/officeDocument/2006/relationships/notesMaster" Target="/ppt/notesMasters/notesMaster1.xml" Id="R724fe8e69d4c4b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47dfda2f16458f" /><Relationship Type="http://schemas.openxmlformats.org/officeDocument/2006/relationships/notesMaster" Target="/ppt/notesMasters/notesMaster1.xml" Id="R342577839a7249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f6bf33b22245ec" /><Relationship Type="http://schemas.openxmlformats.org/officeDocument/2006/relationships/notesMaster" Target="/ppt/notesMasters/notesMaster1.xml" Id="R05e125cad2a145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0ff8d454da488d" /><Relationship Type="http://schemas.openxmlformats.org/officeDocument/2006/relationships/notesMaster" Target="/ppt/notesMasters/notesMaster1.xml" Id="R57f89d568e114c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8572353b8641d7" /><Relationship Type="http://schemas.openxmlformats.org/officeDocument/2006/relationships/notesMaster" Target="/ppt/notesMasters/notesMaster1.xml" Id="Rfb59fa0024fe4a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6cae20014b4c88" /><Relationship Type="http://schemas.openxmlformats.org/officeDocument/2006/relationships/notesMaster" Target="/ppt/notesMasters/notesMaster1.xml" Id="R0cb70c7e19284d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bc01c1e1df4f63" /><Relationship Type="http://schemas.openxmlformats.org/officeDocument/2006/relationships/notesMaster" Target="/ppt/notesMasters/notesMaster1.xml" Id="Rb8a5e6d9f72242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15587583f84c30" /><Relationship Type="http://schemas.openxmlformats.org/officeDocument/2006/relationships/notesMaster" Target="/ppt/notesMasters/notesMaster1.xml" Id="R8ee3840787b644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565c700665474e" /><Relationship Type="http://schemas.openxmlformats.org/officeDocument/2006/relationships/notesMaster" Target="/ppt/notesMasters/notesMaster1.xml" Id="Rc4e2b4b1d7c243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4158e3c83848e2" /><Relationship Type="http://schemas.openxmlformats.org/officeDocument/2006/relationships/notesMaster" Target="/ppt/notesMasters/notesMaster1.xml" Id="R7c32b312bc1e4b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5f47d5027f485b" /><Relationship Type="http://schemas.openxmlformats.org/officeDocument/2006/relationships/notesMaster" Target="/ppt/notesMasters/notesMaster1.xml" Id="R53cfb19223df474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76b9c40d464250" /><Relationship Type="http://schemas.openxmlformats.org/officeDocument/2006/relationships/notesMaster" Target="/ppt/notesMasters/notesMaster1.xml" Id="R38f332d6479e4a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a:t>
            </a:r>
            <a:endParaRPr/>
          </a:p>
          <a:p xmlns:a="http://schemas.openxmlformats.org/drawingml/2006/main">
            <a:pPr marL="0" lvl="0" indent="0" algn="l">
              <a:spcBef>
                <a:spcPts val="0"/>
              </a:spcBef>
              <a:spcAft>
                <a:spcPts val="0"/>
              </a:spcAft>
              <a:buNone/>
            </a:pPr>
            <a:r>
              <a:t>Open with the expanded scope: the workbench can now start from a gene, metabolite, study, paper, or variable, but every path still ends in reviewable evidence rather than an autonomous scientific claim.</a:t>
            </a:r>
            <a:endParaRPr/>
          </a:p>
          <a:p xmlns:a="http://schemas.openxmlformats.org/drawingml/2006/main">
            <a:pPr marL="0" lvl="0" indent="0" algn="l">
              <a:spcBef>
                <a:spcPts val="0"/>
              </a:spcBef>
              <a:spcAft>
                <a:spcPts val="0"/>
              </a:spcAft>
              <a:buNone/>
            </a:pPr>
            <a:r>
              <a:t>Preview the throughline: allowlisted retrieval, offline appraisal, explicit uncertainty states, human gates, and executable regression tests.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/Users/samuelmontalvo/.codex/skills/stanford-presentation-template/assets/stanford-slide-template.pptx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frozen public corpus shows abundance, not immediate comparability.</a:t>
            </a:r>
            <a:endParaRPr/>
          </a:p>
          <a:p xmlns:a="http://schemas.openxmlformats.org/drawingml/2006/main">
            <a:pPr marL="0" lvl="0" indent="0" algn="l">
              <a:spcBef>
                <a:spcPts val="0"/>
              </a:spcBef>
              <a:spcAft>
                <a:spcPts val="0"/>
              </a:spcAft>
              <a:buNone/>
            </a:pPr>
            <a:r>
              <a:t>Emphasize the different denominators: study summaries, analyses, feature incidences, and reference nomenclature cannot be treated as one count.</a:t>
            </a:r>
            <a:endParaRPr/>
          </a:p>
          <a:p xmlns:a="http://schemas.openxmlformats.org/drawingml/2006/main">
            <a:pPr marL="0" lvl="0" indent="0" algn="l">
              <a:spcBef>
                <a:spcPts val="0"/>
              </a:spcBef>
              <a:spcAft>
                <a:spcPts val="0"/>
              </a:spcAft>
              <a:buNone/>
            </a:pPr>
            <a:r>
              <a:t>The scientific bottleneck is proving identity, assay, timing, phenotype, and estimand compatibility before combining results.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/Users/samuelmontalvo/Documents/GitHub/metabotyping-agentic-workbench/data/live/mw_corpus_snapshot/manifest.json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Use this as the talk map: find candidate studies, extract metadata, harmonize metabolite identities and variables, analyze study-specific contrasts, summarize the evidence and limitations, and package the result as a cited report.</a:t>
            </a:r>
            <a:endParaRPr/>
          </a:p>
          <a:p xmlns:a="http://schemas.openxmlformats.org/drawingml/2006/main">
            <a:pPr marL="0" lvl="0" indent="0" algn="l">
              <a:spcBef>
                <a:spcPts val="0"/>
              </a:spcBef>
              <a:spcAft>
                <a:spcPts val="0"/>
              </a:spcAft>
              <a:buNone/>
            </a:pPr>
            <a:r>
              <a:t>The colored callouts are safeguards, not extra autonomous steps. Identity, protocol, and estimand uncertainty can pause the flow at any point.</a:t>
            </a:r>
            <a:endParaRPr/>
          </a:p>
          <a:p xmlns:a="http://schemas.openxmlformats.org/drawingml/2006/main">
            <a:pPr marL="0" lvl="0" indent="0" algn="l">
              <a:spcBef>
                <a:spcPts val="0"/>
              </a:spcBef>
              <a:spcAft>
                <a:spcPts val="0"/>
              </a:spcAft>
              <a:buNone/>
            </a:pPr>
            <a:r>
              <a:t>Typed tables, provenance, and review queues connect every stage so the final report can be traced back to source records and reviewer decisions.</a:t>
            </a:r>
            <a:endParaRPr/>
          </a:p>
          <a:p xmlns:a="http://schemas.openxmlformats.org/drawingml/2006/main">
            <a:pPr marL="0" lvl="0" indent="0" algn="l">
              <a:spcBef>
                <a:spcPts val="0"/>
              </a:spcBef>
              <a:spcAft>
                <a:spcPts val="0"/>
              </a:spcAft>
              <a:buNone/>
            </a:pPr>
            <a:r>
              <a:t>The remainder of the deck walks through these stages with repository outputs and authentic interface evidence.</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a:t>
            </a:r>
            <a:endParaRPr/>
          </a:p>
          <a:p xmlns:a="http://schemas.openxmlformats.org/drawingml/2006/main">
            <a:pPr marL="0" lvl="0" indent="0" algn="l">
              <a:spcBef>
                <a:spcPts val="0"/>
              </a:spcBef>
              <a:spcAft>
                <a:spcPts val="0"/>
              </a:spcAft>
              <a:buNone/>
            </a:pPr>
            <a:r>
              <a:t>- /Users/samuelmontalvo/Documents/GitHub/metabotyping-agentic-workbench/scripts/build_final_workbench_report.py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These are operating layers, not three different levels of intelligence.</a:t>
            </a:r>
            <a:endParaRPr/>
          </a:p>
          <a:p xmlns:a="http://schemas.openxmlformats.org/drawingml/2006/main">
            <a:pPr marL="0" lvl="0" indent="0" algn="l">
              <a:spcBef>
                <a:spcPts val="0"/>
              </a:spcBef>
              <a:spcAft>
                <a:spcPts val="0"/>
              </a:spcAft>
              <a:buNone/>
            </a:pPr>
            <a:r>
              <a:t>With direct ChatGPT use, the model responds to a prompt and the user manages the sequence: ask, inspect, and ask again.</a:t>
            </a:r>
            <a:endParaRPr/>
          </a:p>
          <a:p xmlns:a="http://schemas.openxmlformats.org/drawingml/2006/main">
            <a:pPr marL="0" lvl="0" indent="0" algn="l">
              <a:spcBef>
                <a:spcPts val="0"/>
              </a:spcBef>
              <a:spcAft>
                <a:spcPts val="0"/>
              </a:spcAft>
              <a:buNone/>
            </a:pPr>
            <a:r>
              <a:t>A skill is a reusable method or contract: structured instructions, checks, and an expected output. It does not independently decide to run.</a:t>
            </a:r>
            <a:endParaRPr/>
          </a:p>
          <a:p xmlns:a="http://schemas.openxmlformats.org/drawingml/2006/main">
            <a:pPr marL="0" lvl="0" indent="0" algn="l">
              <a:spcBef>
                <a:spcPts val="0"/>
              </a:spcBef>
              <a:spcAft>
                <a:spcPts val="0"/>
              </a:spcAft>
              <a:buNone/>
            </a:pPr>
            <a:r>
              <a:t>An agent is goal-directed orchestration. It maintains state, chooses tools and skills, iterates, produces artifacts, and can pause for human review.</a:t>
            </a:r>
            <a:endParaRPr/>
          </a:p>
          <a:p xmlns:a="http://schemas.openxmlformats.org/drawingml/2006/main">
            <a:pPr marL="0" lvl="0" indent="0" algn="l">
              <a:spcBef>
                <a:spcPts val="0"/>
              </a:spcBef>
              <a:spcAft>
                <a:spcPts val="0"/>
              </a:spcAft>
              <a:buNone/>
            </a:pPr>
            <a:r>
              <a:t>ChatGPT can host agentic behavior when it is given tools, state, and permission to coordinate a workflow. The distinction is the operating contract, not a separate kind of intelligence.</a:t>
            </a:r>
            <a:endParaRPr/>
          </a:p>
          <a:p xmlns:a="http://schemas.openxmlformats.org/drawingml/2006/main">
            <a:pPr marL="0" lvl="0" indent="0" algn="l">
              <a:spcBef>
                <a:spcPts val="0"/>
              </a:spcBef>
              <a:spcAft>
                <a:spcPts val="0"/>
              </a:spcAft>
              <a:buNone/>
            </a:pPr>
            <a:r>
              <a:t>In this workbench, agents call domain skills such as study discovery, metadata-card extraction, identity resolution, crosswalking, analysis planning, and report packaging.</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/Users/samuelmontalvo/Documents/GitHub/metabotyping-agentic-workbench/.agents/skills</a:t>
            </a:r>
            <a:endParaRPr/>
          </a:p>
          <a:p xmlns:a="http://schemas.openxmlformats.org/drawingml/2006/main">
            <a:pPr marL="0" lvl="0" indent="0" algn="l">
              <a:spcBef>
                <a:spcPts val="0"/>
              </a:spcBef>
              <a:spcAft>
                <a:spcPts val="0"/>
              </a:spcAft>
              <a:buNone/>
            </a:pPr>
            <a:r>
              <a:t>- /Users/samuelmontalvo/Documents/GitHub/metabotyping-agentic-workbench/src/metabotyping_agentic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update is not another free-form agent layer. It adds explicit entry points and keeps retrieval separate from appraisal.</a:t>
            </a:r>
            <a:endParaRPr/>
          </a:p>
          <a:p xmlns:a="http://schemas.openxmlformats.org/drawingml/2006/main">
            <a:pPr marL="0" lvl="0" indent="0" algn="l">
              <a:spcBef>
                <a:spcPts val="0"/>
              </a:spcBef>
              <a:spcAft>
                <a:spcPts val="0"/>
              </a:spcAft>
              <a:buNone/>
            </a:pPr>
            <a:r>
              <a:t>The gene route uses MetGENE and Metabolomics Workbench contexts; metabolite, study, effect, and literature routes use their own allowlisted adapters.</a:t>
            </a:r>
            <a:endParaRPr/>
          </a:p>
          <a:p xmlns:a="http://schemas.openxmlformats.org/drawingml/2006/main">
            <a:pPr marL="0" lvl="0" indent="0" algn="l">
              <a:spcBef>
                <a:spcPts val="0"/>
              </a:spcBef>
              <a:spcAft>
                <a:spcPts val="0"/>
              </a:spcAft>
              <a:buNone/>
            </a:pPr>
            <a:r>
              <a:t>Retrieved records are appraised offline into typed inference, coverage, evidence-card, and review artifacts.</a:t>
            </a:r>
            <a:endParaRPr/>
          </a:p>
          <a:p xmlns:a="http://schemas.openxmlformats.org/drawingml/2006/main">
            <a:pPr marL="0" lvl="0" indent="0" algn="l">
              <a:spcBef>
                <a:spcPts val="0"/>
              </a:spcBef>
              <a:spcAft>
                <a:spcPts val="0"/>
              </a:spcAft>
              <a:buNone/>
            </a:pPr>
            <a:r>
              <a:t>Licence, chemical identity, protocol, and estimand decisions remain named human gates. Unavailable, no-hit, unresolved, server-error, empty-body, and not-requested states are not collapsed.</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/Users/samuelmontalvo/Documents/GitHub/metabotyping-agentic-workbench/src/metabotyping_agentic/knowledge/source_registry.py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/Users/samuelmontalvo/Documents/GitHub/metabotyping-agentic-workbench/src/metabotyping_agentic/live_sources/literature_search.py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This synthetic ranking rewards direct exercise/activity evidence, genetics, CPET, body composition, diet, and usable repository assets.</a:t>
            </a:r>
            <a:endParaRPr/>
          </a:p>
          <a:p xmlns:a="http://schemas.openxmlformats.org/drawingml/2006/main">
            <a:pPr marL="0" lvl="0" indent="0" algn="l">
              <a:spcBef>
                <a:spcPts val="0"/>
              </a:spcBef>
              <a:spcAft>
                <a:spcPts val="0"/>
              </a:spcAft>
              <a:buNone/>
            </a:pPr>
            <a:r>
              <a:t>Two superficially relevant studies remain mirages because repository data or a codebook is missing.</a:t>
            </a:r>
            <a:endParaRPr/>
          </a:p>
          <a:p xmlns:a="http://schemas.openxmlformats.org/drawingml/2006/main">
            <a:pPr marL="0" lvl="0" indent="0" algn="l">
              <a:spcBef>
                <a:spcPts val="0"/>
              </a:spcBef>
              <a:spcAft>
                <a:spcPts val="0"/>
              </a:spcAft>
              <a:buNone/>
            </a:pPr>
            <a:r>
              <a:t>The animal study is excluded by the human-participant criterion even though some metadata fields are complete.</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/Users/samuelmontalvo/Documents/GitHub/metabotyping-agentic-workbench/reports/aim1_catalog_report.md</a:t>
            </a:r>
            <a:endParaRPr/>
          </a:p>
          <a:p xmlns:a="http://schemas.openxmlformats.org/drawingml/2006/main">
            <a:pPr marL="0" lvl="0" indent="0" algn="l">
              <a:spcBef>
                <a:spcPts val="0"/>
              </a:spcBef>
              <a:spcAft>
                <a:spcPts val="0"/>
              </a:spcAft>
              <a:buNone/>
            </a:pPr>
            <a:r>
              <a:t>- /Users/samuelmontalvo/Documents/GitHub/metabotyping-agentic-workbench/data/extracted/recommendations.csv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agent extracts cohort, assay, biospecimen, phenotype, timing, unit, and provenance fields into typed metadata cards.</a:t>
            </a:r>
            <a:endParaRPr/>
          </a:p>
          <a:p xmlns:a="http://schemas.openxmlformats.org/drawingml/2006/main">
            <a:pPr marL="0" lvl="0" indent="0" algn="l">
              <a:spcBef>
                <a:spcPts val="0"/>
              </a:spcBef>
              <a:spcAft>
                <a:spcPts val="0"/>
              </a:spcAft>
              <a:buNone/>
            </a:pPr>
            <a:r>
              <a:t>The interface makes incomplete fields and conflicting mappings visible before a crosswalk is accepted.</a:t>
            </a:r>
            <a:endParaRPr/>
          </a:p>
          <a:p xmlns:a="http://schemas.openxmlformats.org/drawingml/2006/main">
            <a:pPr marL="0" lvl="0" indent="0" algn="l">
              <a:spcBef>
                <a:spcPts val="0"/>
              </a:spcBef>
              <a:spcAft>
                <a:spcPts val="0"/>
              </a:spcAft>
              <a:buNone/>
            </a:pPr>
            <a:r>
              <a:t>The screenshot is the repository's Metabo-Diet Harmonization Trainer, built with synthetic training data. It demonstrates the same review-gated metadata and crosswalk decisions used by the workbench.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/Users/samuelmontalvo/Documents/GitHub/metabotyping-agentic-workbench/docs/metabo-diet-training-app/app.js</a:t>
            </a:r>
            <a:endParaRPr/>
          </a:p>
          <a:p xmlns:a="http://schemas.openxmlformats.org/drawingml/2006/main">
            <a:pPr marL="0" lvl="0" indent="0" algn="l">
              <a:spcBef>
                <a:spcPts val="0"/>
              </a:spcBef>
              <a:spcAft>
                <a:spcPts val="0"/>
              </a:spcAft>
              <a:buNone/>
            </a:pPr>
            <a:r>
              <a:t>- /Users/samuelmontalvo/Documents/GitHub/metabotyping-agentic-workbench/docs/metabo-diet-training-app/data.js</a:t>
            </a:r>
            <a:endParaRPr/>
          </a:p>
          <a:p xmlns:a="http://schemas.openxmlformats.org/drawingml/2006/main">
            <a:pPr marL="0" lvl="0" indent="0" algn="l">
              <a:spcBef>
                <a:spcPts val="0"/>
              </a:spcBef>
              <a:spcAft>
                <a:spcPts val="0"/>
              </a:spcAft>
              <a:buNone/>
            </a:pPr>
            <a:r>
              <a:t>- /Users/samuelmontalvo/Documents/GitHub/metabotyping-agentic-workbench/.agents/skills/metadata-card-extraction/SKILL.md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privacy boundary is data minimization: participant identifiers, phenotypes, sample-level factors, and full quantitative matrices are not sent to RefMet.</a:t>
            </a:r>
            <a:endParaRPr/>
          </a:p>
          <a:p xmlns:a="http://schemas.openxmlformats.org/drawingml/2006/main">
            <a:pPr marL="0" lvl="0" indent="0" algn="l">
              <a:spcBef>
                <a:spcPts val="0"/>
              </a:spcBef>
              <a:spcAft>
                <a:spcPts val="0"/>
              </a:spcAft>
              <a:buNone/>
            </a:pPr>
            <a:r>
              <a:t>During an online lookup, this implementation sends only the metabolite query name and receives standardized nomenclature fields. Offline analyses use the frozen local RefMet snapshot and do not call the network.</a:t>
            </a:r>
            <a:endParaRPr/>
          </a:p>
          <a:p xmlns:a="http://schemas.openxmlformats.org/drawingml/2006/main">
            <a:pPr marL="0" lvl="0" indent="0" algn="l">
              <a:spcBef>
                <a:spcPts val="0"/>
              </a:spcBef>
              <a:spcAft>
                <a:spcPts val="0"/>
              </a:spcAft>
              <a:buNone/>
            </a:pPr>
            <a:r>
              <a:t>RefMet is a public nomenclature service, not a private-data vault. Security comes from keeping sensitive study data local and restricting network access to reviewed connector modules.</a:t>
            </a:r>
            <a:endParaRPr/>
          </a:p>
          <a:p xmlns:a="http://schemas.openxmlformats.org/drawingml/2006/main">
            <a:pPr marL="0" lvl="0" indent="0" algn="l">
              <a:spcBef>
                <a:spcPts val="0"/>
              </a:spcBef>
              <a:spcAft>
                <a:spcPts val="0"/>
              </a:spcAft>
              <a:buNone/>
            </a:pPr>
            <a:r>
              <a:t>The returned RefMet label and hierarchy remain nomenclature evidence. They do not prove feature identity or authorize pooling; conflicting assay evidence stays review-gated.</a:t>
            </a:r>
            <a:endParaRPr/>
          </a:p>
          <a:p xmlns:a="http://schemas.openxmlformats.org/drawingml/2006/main">
            <a:pPr marL="0" lvl="0" indent="0" algn="l">
              <a:spcBef>
                <a:spcPts val="0"/>
              </a:spcBef>
              <a:spcAft>
                <a:spcPts val="0"/>
              </a:spcAft>
              <a:buNone/>
            </a:pPr>
            <a:r>
              <a:t>This is an official RefMet tutorial screenshot. Counts visible in the historic tutorial interface are archival and are not used as current totals.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https://www.metabolomicsworkbench.org/data/tutorials/Refmet_Metabolite_Database.pdf</a:t>
            </a:r>
            <a:endParaRPr/>
          </a:p>
          <a:p xmlns:a="http://schemas.openxmlformats.org/drawingml/2006/main">
            <a:pPr marL="0" lvl="0" indent="0" algn="l">
              <a:spcBef>
                <a:spcPts val="0"/>
              </a:spcBef>
              <a:spcAft>
                <a:spcPts val="0"/>
              </a:spcAft>
              <a:buNone/>
            </a:pPr>
            <a:r>
              <a:t>- https://www.metabolomicsworkbench.org/databases/refmet/refmet.php</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/Users/samuelmontalvo/Documents/GitHub/metabotyping-agentic-workbench/src/metabotyping_agentic/live_sources/metabolomics_workbench.py</a:t>
            </a:r>
            <a:endParaRPr/>
          </a:p>
          <a:p xmlns:a="http://schemas.openxmlformats.org/drawingml/2006/main">
            <a:pPr marL="0" lvl="0" indent="0" algn="l">
              <a:spcBef>
                <a:spcPts val="0"/>
              </a:spcBef>
              <a:spcAft>
                <a:spcPts val="0"/>
              </a:spcAft>
              <a:buNone/>
            </a:pPr>
            <a:r>
              <a:t>- /Users/samuelmontalvo/Documents/GitHub/metabotyping-agentic-workbench/tests/test_network_boundary.py</a:t>
            </a:r>
            <a:endParaRPr/>
          </a:p>
          <a:p xmlns:a="http://schemas.openxmlformats.org/drawingml/2006/main">
            <a:pPr marL="0" lvl="0" indent="0" algn="l">
              <a:spcBef>
                <a:spcPts val="0"/>
              </a:spcBef>
              <a:spcAft>
                <a:spcPts val="0"/>
              </a:spcAft>
              <a:buNone/>
            </a:pPr>
            <a:r>
              <a:t>- /Users/samuelmontalvo/Documents/GitHub/metabotyping-agentic-workbench/data/live/refmet_annotations.csv</a:t>
            </a:r>
            <a:endParaRPr/>
          </a:p>
          <a:p xmlns:a="http://schemas.openxmlformats.org/drawingml/2006/main">
            <a:pPr marL="0" lvl="0" indent="0" algn="l">
              <a:spcBef>
                <a:spcPts val="0"/>
              </a:spcBef>
              <a:spcAft>
                <a:spcPts val="0"/>
              </a:spcAft>
              <a:buNone/>
            </a:pPr>
            <a:r>
              <a:t>- /Users/samuelmontalvo/Documents/GitHub/metabotyping-agentic-workbench/data/live/refmet_annotations_provenance.json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score combines study-design rigor, metadata completeness, metabolomics quality, and harmonization feasibility.</a:t>
            </a:r>
            <a:endParaRPr/>
          </a:p>
          <a:p xmlns:a="http://schemas.openxmlformats.org/drawingml/2006/main">
            <a:pPr marL="0" lvl="0" indent="0" algn="l">
              <a:spcBef>
                <a:spcPts val="0"/>
              </a:spcBef>
              <a:spcAft>
                <a:spcPts val="0"/>
              </a:spcAft>
              <a:buNone/>
            </a:pPr>
            <a:r>
              <a:t>Use the animal fixture to explain the separation between readiness and eligibility: a record can be well described yet still outside the target population.</a:t>
            </a:r>
            <a:endParaRPr/>
          </a:p>
          <a:p xmlns:a="http://schemas.openxmlformats.org/drawingml/2006/main">
            <a:pPr marL="0" lvl="0" indent="0" algn="l">
              <a:spcBef>
                <a:spcPts val="0"/>
              </a:spcBef>
              <a:spcAft>
                <a:spcPts val="0"/>
              </a:spcAft>
              <a:buNone/>
            </a:pPr>
            <a:r>
              <a:t>The score is a curation triage signal, not validated overall study quality or risk of bias.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/Users/samuelmontalvo/Documents/GitHub/metabotyping-agentic-workbench/reports/aim3_evaluation_report.md</a:t>
            </a:r>
            <a:endParaRPr/>
          </a:p>
          <a:p xmlns:a="http://schemas.openxmlformats.org/drawingml/2006/main">
            <a:pPr marL="0" lvl="0" indent="0" algn="l">
              <a:spcBef>
                <a:spcPts val="0"/>
              </a:spcBef>
              <a:spcAft>
                <a:spcPts val="0"/>
              </a:spcAft>
              <a:buNone/>
            </a:pPr>
            <a:r>
              <a:t>- /Users/samuelmontalvo/Documents/GitHub/metabotyping-agentic-workbench/data/extracted/quality_scores.json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alignment score records whether metadata contain prerequisites for a MoTrPAC-style comparison plan.</a:t>
            </a:r>
            <a:endParaRPr/>
          </a:p>
          <a:p xmlns:a="http://schemas.openxmlformats.org/drawingml/2006/main">
            <a:pPr marL="0" lvl="0" indent="0" algn="l">
              <a:spcBef>
                <a:spcPts val="0"/>
              </a:spcBef>
              <a:spcAft>
                <a:spcPts val="0"/>
              </a:spcAft>
              <a:buNone/>
            </a:pPr>
            <a:r>
              <a:t>High readiness means the planning fields are present; it does not establish protocol equivalence, biological replication, or pooling permission.</a:t>
            </a:r>
            <a:endParaRPr/>
          </a:p>
          <a:p xmlns:a="http://schemas.openxmlformats.org/drawingml/2006/main">
            <a:pPr marL="0" lvl="0" indent="0" algn="l">
              <a:spcBef>
                <a:spcPts val="0"/>
              </a:spcBef>
              <a:spcAft>
                <a:spcPts val="0"/>
              </a:spcAft>
              <a:buNone/>
            </a:pPr>
            <a:r>
              <a:t>The lowest score is driven by missing repository assets and core metadata, not a biological conclusion.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/Users/samuelmontalvo/Documents/GitHub/metabotyping-agentic-workbench/reports/motrpac_alignment_report.md</a:t>
            </a:r>
            <a:endParaRPr/>
          </a:p>
          <a:p xmlns:a="http://schemas.openxmlformats.org/drawingml/2006/main">
            <a:pPr marL="0" lvl="0" indent="0" algn="l">
              <a:spcBef>
                <a:spcPts val="0"/>
              </a:spcBef>
              <a:spcAft>
                <a:spcPts val="0"/>
              </a:spcAft>
              <a:buNone/>
            </a:pPr>
            <a:r>
              <a:t>- /Users/samuelmontalvo/Documents/GitHub/metabotyping-agentic-workbench/reports/motrpac_alignment.json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This synthetic demonstration retains four distinct contrasts: MoTrPAC acute, MoTrPAC eight-week, MW acute, and MW trained versus baseline.</a:t>
            </a:r>
            <a:endParaRPr/>
          </a:p>
          <a:p xmlns:a="http://schemas.openxmlformats.org/drawingml/2006/main">
            <a:pPr marL="0" lvl="0" indent="0" algn="l">
              <a:spcBef>
                <a:spcPts val="0"/>
              </a:spcBef>
              <a:spcAft>
                <a:spcPts val="0"/>
              </a:spcAft>
              <a:buNone/>
            </a:pPr>
            <a:r>
              <a:t>The shared heatmap is restricted to reviewed canonical labels; each value remains tied to its original study contrast.</a:t>
            </a:r>
            <a:endParaRPr/>
          </a:p>
          <a:p xmlns:a="http://schemas.openxmlformats.org/drawingml/2006/main">
            <a:pPr marL="0" lvl="0" indent="0" algn="l">
              <a:spcBef>
                <a:spcPts val="0"/>
              </a:spcBef>
              <a:spcAft>
                <a:spcPts val="0"/>
              </a:spcAft>
              <a:buNone/>
            </a:pPr>
            <a:r>
              <a:t>The visual is a planning and review artifact. Similarity across panels is not evidence of harmonized replication.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/Users/samuelmontalvo/Documents/GitHub/metabotyping-agentic-workbench/reports/synthetic_four_study_figure/motrpac_mw_four_study_multiplot.png</a:t>
            </a:r>
            <a:endParaRPr/>
          </a:p>
          <a:p xmlns:a="http://schemas.openxmlformats.org/drawingml/2006/main">
            <a:pPr marL="0" lvl="0" indent="0" algn="l">
              <a:spcBef>
                <a:spcPts val="0"/>
              </a:spcBef>
              <a:spcAft>
                <a:spcPts val="0"/>
              </a:spcAft>
              <a:buNone/>
            </a:pPr>
            <a:r>
              <a:t>- /Users/samuelmontalvo/Documents/GitHub/metabotyping-agentic-workbench/reports/synthetic_four_study_figure/study_contrast_metadata.csv</a:t>
            </a:r>
            <a:endParaRPr/>
          </a:p>
          <a:p xmlns:a="http://schemas.openxmlformats.org/drawingml/2006/main">
            <a:pPr marL="0" lvl="0" indent="0" algn="l">
              <a:spcBef>
                <a:spcPts val="0"/>
              </a:spcBef>
              <a:spcAft>
                <a:spcPts val="0"/>
              </a:spcAft>
              <a:buNone/>
            </a:pPr>
            <a:r>
              <a:t>- /Users/samuelmontalvo/Documents/GitHub/metabotyping-agentic-workbench/reports/synthetic_four_study_figure/four_study_differential_results.csv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Walk the chain one hop at a time: queried gene to annotated reaction, reaction to compound, compound to standardized name, and standardized name to a repository study candidate.</a:t>
            </a:r>
            <a:endParaRPr/>
          </a:p>
          <a:p xmlns:a="http://schemas.openxmlformats.org/drawingml/2006/main">
            <a:pPr marL="0" lvl="0" indent="0" algn="l">
              <a:spcBef>
                <a:spcPts val="0"/>
              </a:spcBef>
              <a:spcAft>
                <a:spcPts val="0"/>
              </a:spcAft>
              <a:buNone/>
            </a:pPr>
            <a:r>
              <a:t>Each hop explicitly states what it establishes and what it does not establish. The ledger writes measurement_established=not_established throughout.</a:t>
            </a:r>
            <a:endParaRPr/>
          </a:p>
          <a:p xmlns:a="http://schemas.openxmlformats.org/drawingml/2006/main">
            <a:pPr marL="0" lvl="0" indent="0" algn="l">
              <a:spcBef>
                <a:spcPts val="0"/>
              </a:spcBef>
              <a:spcAft>
                <a:spcPts val="0"/>
              </a:spcAft>
              <a:buNone/>
            </a:pPr>
            <a:r>
              <a:t>MetGENE rows are KEGG-derived and are withheld unless a reviewer acknowledges the personal, non-commercial licence posture; provenance and escalation records are written either way.</a:t>
            </a:r>
            <a:endParaRPr/>
          </a:p>
          <a:p xmlns:a="http://schemas.openxmlformats.org/drawingml/2006/main">
            <a:pPr marL="0" lvl="0" indent="0" algn="l">
              <a:spcBef>
                <a:spcPts val="0"/>
              </a:spcBef>
              <a:spcAft>
                <a:spcPts val="0"/>
              </a:spcAft>
              <a:buNone/>
            </a:pPr>
            <a:r>
              <a:t>A candidate study accession must be re-fetched directly from Metabolomics Workbench before describing its matrix, platform, measurement, or result.</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/Users/samuelmontalvo/Documents/GitHub/metabotyping-agentic-workbench/.agents/skills/gene-centric-metabolite-lookup/SKILL.md</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/Users/samuelmontalvo/Documents/GitHub/metabotyping-agentic-workbench/src/metabotyping_agentic/live_sources/metgene.py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/Users/samuelmontalvo/Documents/GitHub/metabotyping-agentic-workbench/src/metabotyping_agentic/live_sources/metabolomics_workbench.py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strict offline synthetic release gate now reports 210 passed tests with no failures, errors, or skips.</a:t>
            </a:r>
            <a:endParaRPr/>
          </a:p>
          <a:p xmlns:a="http://schemas.openxmlformats.org/drawingml/2006/main">
            <a:pPr marL="0" lvl="0" indent="0" algn="l">
              <a:spcBef>
                <a:spcPts val="0"/>
              </a:spcBef>
              <a:spcAft>
                <a:spcPts val="0"/>
              </a:spcAft>
              <a:buNone/>
            </a:pPr>
            <a:r>
              <a:t>The new gene-centric integrity gate contributes 54 tests covering licence withholding, annotation-versus-measurement semantics, distinct failure and no-hit states, adduct echo validation, and review routing.</a:t>
            </a:r>
            <a:endParaRPr/>
          </a:p>
          <a:p xmlns:a="http://schemas.openxmlformats.org/drawingml/2006/main">
            <a:pPr marL="0" lvl="0" indent="0" algn="l">
              <a:spcBef>
                <a:spcPts val="0"/>
              </a:spcBef>
              <a:spcAft>
                <a:spcPts val="0"/>
              </a:spcAft>
              <a:buNone/>
            </a:pPr>
            <a:r>
              <a:t>The deterministic contract audit now covers 25 paired skill names and 23 paired canonical agent roles with no inventory issues.</a:t>
            </a:r>
            <a:endParaRPr/>
          </a:p>
          <a:p xmlns:a="http://schemas.openxmlformats.org/drawingml/2006/main">
            <a:pPr marL="0" lvl="0" indent="0" algn="l">
              <a:spcBef>
                <a:spcPts val="0"/>
              </a:spcBef>
              <a:spcAft>
                <a:spcPts val="0"/>
              </a:spcAft>
              <a:buNone/>
            </a:pPr>
            <a:r>
              <a:t>The benchmark chart remains unchanged: the visible 80% quality-score agreement is still the imperfection to discuss. All of these are synthetic regression results, not independent scientific validation.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a:p xmlns:a="http://schemas.openxmlformats.org/drawingml/2006/main">
            <a:pPr marL="0" lvl="0" indent="0" algn="l">
              <a:spcBef>
                <a:spcPts val="0"/>
              </a:spcBef>
              <a:spcAft>
                <a:spcPts val="0"/>
              </a:spcAft>
              <a:buNone/>
            </a:pPr>
            <a:r>
              <a:t>- /Users/samuelmontalvo/Documents/GitHub/metabotyping-agentic-workbench/docs/scientific_readiness_results.json</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/Users/samuelmontalvo/Documents/GitHub/metabotyping-agentic-workbench/tests/test_live_sources_metgene.py</a:t>
            </a:r>
            <a:endParaRPr/>
          </a:p>
          <a:p xmlns:a="http://schemas.openxmlformats.org/drawingml/2006/main">
            <a:pPr marL="0" lvl="0" indent="0" algn="l">
              <a:spcBef>
                <a:spcPts val="0"/>
              </a:spcBef>
              <a:spcAft>
                <a:spcPts val="0"/>
              </a:spcAft>
              <a:buNone/>
            </a:pPr>
            <a:r>
              <a:t>- /Users/samuelmontalvo/Documents/GitHub/metabotyping-agentic-workbench/reports/benchmark_report.md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workflow does not end at a chart. It packages three linked layers: the reviewable metadata/crosswalk artifact, the summary figure, and a cited report with methods, limitations, and provenance.</a:t>
            </a:r>
            <a:endParaRPr/>
          </a:p>
          <a:p xmlns:a="http://schemas.openxmlformats.org/drawingml/2006/main">
            <a:pPr marL="0" lvl="0" indent="0" algn="l">
              <a:spcBef>
                <a:spcPts val="0"/>
              </a:spcBef>
              <a:spcAft>
                <a:spcPts val="0"/>
              </a:spcAft>
              <a:buNone/>
            </a:pPr>
            <a:r>
              <a:t>The report is generated from frozen repository records and deterministic outputs; it does not convert unresolved identity, protocol, or estimand questions into accepted claims.</a:t>
            </a:r>
            <a:endParaRPr/>
          </a:p>
          <a:p xmlns:a="http://schemas.openxmlformats.org/drawingml/2006/main">
            <a:pPr marL="0" lvl="0" indent="0" algn="l">
              <a:spcBef>
                <a:spcPts val="0"/>
              </a:spcBef>
              <a:spcAft>
                <a:spcPts val="0"/>
              </a:spcAft>
              <a:buNone/>
            </a:pPr>
            <a:r>
              <a:t>The final human-review packet makes it possible to inspect the evidence chain before deciding whether to validate, pool, or publish.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/Users/samuelmontalvo/Documents/GitHub/metabotyping-agentic-workbench/output/pdf/metabotyping_agentic_workbench_final_report.pdf</a:t>
            </a:r>
            <a:endParaRPr/>
          </a:p>
          <a:p xmlns:a="http://schemas.openxmlformats.org/drawingml/2006/main">
            <a:pPr marL="0" lvl="0" indent="0" algn="l">
              <a:spcBef>
                <a:spcPts val="0"/>
              </a:spcBef>
              <a:spcAft>
                <a:spcPts val="0"/>
              </a:spcAft>
              <a:buNone/>
            </a:pPr>
            <a:r>
              <a:t>- /Users/samuelmontalvo/Documents/GitHub/metabotyping-agentic-workbench/scripts/build_final_workbench_report.py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approximately 4 minutes for synthesis and discussion.</a:t>
            </a:r>
            <a:endParaRPr/>
          </a:p>
          <a:p xmlns:a="http://schemas.openxmlformats.org/drawingml/2006/main">
            <a:pPr marL="0" lvl="0" indent="0" algn="l">
              <a:spcBef>
                <a:spcPts val="0"/>
              </a:spcBef>
              <a:spcAft>
                <a:spcPts val="0"/>
              </a:spcAft>
              <a:buNone/>
            </a:pPr>
            <a:r>
              <a:t>Close by returning to the opening: scale creates opportunity only when comparability decisions are traceable and review-gated.</a:t>
            </a:r>
            <a:endParaRPr/>
          </a:p>
          <a:p xmlns:a="http://schemas.openxmlformats.org/drawingml/2006/main">
            <a:pPr marL="0" lvl="0" indent="0" algn="l">
              <a:spcBef>
                <a:spcPts val="0"/>
              </a:spcBef>
              <a:spcAft>
                <a:spcPts val="0"/>
              </a:spcAft>
              <a:buNone/>
            </a:pPr>
            <a:r>
              <a:t>Invite discussion around the first external validation cohort, assay diversity, and adjudication team.</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10fe463c044c15" /><Relationship Type="http://schemas.openxmlformats.org/officeDocument/2006/relationships/image" Target="/ppt/media/image2.png" Id="Raf75742b5f234a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6859cade084f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ba9ce10b7a43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711a7672064208" /><Relationship Type="http://schemas.openxmlformats.org/officeDocument/2006/relationships/image" Target="/ppt/media/image2.png" Id="Re0e273b4ecbb4a5d" /><Relationship Type="http://schemas.openxmlformats.org/officeDocument/2006/relationships/image" Target="/ppt/media/image.jpeg" Id="Rb01c6953ee6048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afd1e4215e4788" /><Relationship Type="http://schemas.openxmlformats.org/officeDocument/2006/relationships/image" Target="/ppt/media/image2.png" Id="R30b19ae01ab54e91" /><Relationship Type="http://schemas.openxmlformats.org/officeDocument/2006/relationships/image" Target="/ppt/media/image3.png" Id="R99118db3d24044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e3e1e0fa8a4d5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0877745f5e24bd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46b0190b8e94ed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dd5052e14d5429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d472dd15177415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b6b4389d19644c0"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8de089f2d1204d5b"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98675a77ec50475d"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5d039cb9b87f4147" /></Relationships>
</file>

<file path=ppt/slideLayouts/slideLayout1.xml><?xml version="1.0" encoding="utf-8"?>
<p:sldLayout xmlns:p="http://schemas.openxmlformats.org/presentationml/2006/main" showMasterSp="0" matchingName="Title Slide">
  <p:cSld name="Title Slide">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0EE4F36-F67B-4527-B1BE-152B3224B0F2}"/>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9" name="Google Shape;13;p2"/>
          <p:cNvPicPr>
            <a:picLocks xmlns:a="http://schemas.openxmlformats.org/drawingml/2006/main" noChangeAspect="1"/>
          </p:cNvPicPr>
          <p:nvPr/>
        </p:nvPicPr>
        <p:blipFill rotWithShape="1">
          <a:blip xmlns:r="http://schemas.openxmlformats.org/officeDocument/2006/relationships" xmlns:a="http://schemas.openxmlformats.org/drawingml/2006/main" r:embed="Raf75742b5f234afb">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14" name="Google Shape;14;p2">
            <a:extLst xmlns:a="http://schemas.openxmlformats.org/drawingml/2006/main">
              <a:ext uri="{FF2B5EF4-FFF2-40B4-BE49-F238E27FC236}">
                <a16:creationId xmlns:a16="http://schemas.microsoft.com/office/drawing/2014/main" id="{2EAF26AA-32E5-418A-A82D-8B30F80DF431}"/>
              </a:ext>
            </a:extLst>
          </p:cNvPr>
          <p:cNvSpPr>
            <a:spLocks xmlns:a="http://schemas.openxmlformats.org/drawingml/2006/main" noGrp="1"/>
          </p:cNvSpPr>
          <p:nvPr>
            <p:ph type="ctrTitle" idx="0"/>
          </p:nvPr>
        </p:nvSpPr>
        <p:spPr>
          <a:xfrm xmlns:a="http://schemas.openxmlformats.org/drawingml/2006/main">
            <a:off x="457200" y="1792517"/>
            <a:ext cx="8229600" cy="61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ctr">
              <a:lnSpc>
                <a:spcPct val="85000"/>
              </a:lnSpc>
              <a:spcBef>
                <a:spcPts val="0"/>
              </a:spcBef>
              <a:spcAft>
                <a:spcPts val="0"/>
              </a:spcAft>
              <a:buSzPts val="1400"/>
              <a:buNone/>
              <a:defRPr sz="3600" b="0"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1B920421-4BAC-4C9D-B776-263619897882}"/>
              </a:ext>
            </a:extLst>
          </p:cNvPr>
          <p:cNvSpPr>
            <a:spLocks xmlns:a="http://schemas.openxmlformats.org/drawingml/2006/main" noGrp="1"/>
          </p:cNvSpPr>
          <p:nvPr>
            <p:ph type="body" idx="1"/>
          </p:nvPr>
        </p:nvSpPr>
        <p:spPr>
          <a:xfrm xmlns:a="http://schemas.openxmlformats.org/drawingml/2006/main">
            <a:off x="1603375" y="3599022"/>
            <a:ext cx="60594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228600" algn="ctr">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1pPr>
            <a:lvl2pPr marL="914400" marR="0" indent="-228600" algn="l">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A88C6270-B3F8-4849-8835-0A2CD2A5D4AE}"/>
              </a:ext>
            </a:extLst>
          </p:cNvPr>
          <p:cNvSpPr>
            <a:spLocks xmlns:a="http://schemas.openxmlformats.org/drawingml/2006/main" noGrp="1"/>
          </p:cNvSpPr>
          <p:nvPr>
            <p:ph type="subTitle" idx="2"/>
          </p:nvPr>
        </p:nvSpPr>
        <p:spPr>
          <a:xfrm xmlns:a="http://schemas.openxmlformats.org/drawingml/2006/main">
            <a:off x="457200" y="2410990"/>
            <a:ext cx="8229600" cy="4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420"/>
              </a:spcBef>
              <a:spcAft>
                <a:spcPts val="0"/>
              </a:spcAft>
              <a:buClr>
                <a:schemeClr val="lt2"/>
              </a:buClr>
              <a:buSzPts val="2100"/>
              <a:buFont typeface="Noto Sans Symbols"/>
              <a:buNone/>
              <a:defRPr sz="2100" b="0" i="0" u="none" cap="small">
                <a:solidFill>
                  <a:srgbClr val="A4001D"/>
                </a:solidFill>
                <a:latin typeface="Arial"/>
                <a:ea typeface="Arial"/>
                <a:cs typeface="Arial"/>
              </a:defRPr>
            </a:lvl1pPr>
            <a:lvl2pPr marL="457200" marR="0" indent="0" algn="ctr">
              <a:spcBef>
                <a:spcPts val="360"/>
              </a:spcBef>
              <a:spcAft>
                <a:spcPts val="0"/>
              </a:spcAft>
              <a:buClr>
                <a:schemeClr val="lt2"/>
              </a:buClr>
              <a:buSzPts val="1800"/>
              <a:buFont typeface="Noto Sans Symbols"/>
              <a:buNone/>
              <a:defRPr sz="1800" b="0" i="0" u="none" cap="none">
                <a:solidFill>
                  <a:srgbClr val="888888"/>
                </a:solidFill>
                <a:latin typeface="Arial"/>
                <a:ea typeface="Arial"/>
                <a:cs typeface="Arial"/>
              </a:defRPr>
            </a:lvl2pPr>
            <a:lvl3pPr marL="914400" marR="0" indent="0" algn="ctr">
              <a:spcBef>
                <a:spcPts val="360"/>
              </a:spcBef>
              <a:spcAft>
                <a:spcPts val="0"/>
              </a:spcAft>
              <a:buClr>
                <a:schemeClr val="lt2"/>
              </a:buClr>
              <a:buSzPts val="1836"/>
              <a:buFont typeface="Source Sans Pro"/>
              <a:buNone/>
              <a:defRPr sz="1800" b="0" i="0" u="none" cap="none">
                <a:solidFill>
                  <a:srgbClr val="888888"/>
                </a:solidFill>
                <a:latin typeface="Arial"/>
                <a:ea typeface="Arial"/>
                <a:cs typeface="Arial"/>
              </a:defRPr>
            </a:lvl3pPr>
            <a:lvl4pPr marL="1371600" marR="0" indent="0" algn="ctr">
              <a:spcBef>
                <a:spcPts val="360"/>
              </a:spcBef>
              <a:spcAft>
                <a:spcPts val="0"/>
              </a:spcAft>
              <a:buClr>
                <a:schemeClr val="lt2"/>
              </a:buClr>
              <a:buSzPts val="1800"/>
              <a:buFont typeface="Arial"/>
              <a:buNone/>
              <a:defRPr sz="1800" b="0" i="0" u="none" cap="none">
                <a:solidFill>
                  <a:srgbClr val="888888"/>
                </a:solidFill>
                <a:latin typeface="Arial"/>
                <a:ea typeface="Arial"/>
                <a:cs typeface="Arial"/>
              </a:defRPr>
            </a:lvl4pPr>
            <a:lvl5pPr marL="1828800" marR="0" indent="0" algn="ctr">
              <a:spcBef>
                <a:spcPts val="360"/>
              </a:spcBef>
              <a:spcAft>
                <a:spcPts val="0"/>
              </a:spcAft>
              <a:buClr>
                <a:schemeClr val="lt2"/>
              </a:buClr>
              <a:buSzPts val="1800"/>
              <a:buFont typeface="Source Sans Pro"/>
              <a:buNone/>
              <a:defRPr sz="1800" b="0" i="0" u="none" cap="none">
                <a:solidFill>
                  <a:srgbClr val="888888"/>
                </a:solidFill>
                <a:latin typeface="Arial"/>
                <a:ea typeface="Arial"/>
                <a:cs typeface="Arial"/>
              </a:defRPr>
            </a:lvl5pPr>
            <a:lvl6pPr marL="22860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6pPr>
            <a:lvl7pPr marL="27432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7pPr>
            <a:lvl8pPr marL="32004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8pPr>
            <a:lvl9pPr marL="36576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9pPr>
          </a:lstStyle>
          <a:p xmlns:a="http://schemas.openxmlformats.org/drawingml/2006/main"/>
        </p:txBody>
      </p:sp>
    </p:spTree>
  </p:cSld>
</p:sldLayout>
</file>

<file path=ppt/slideLayouts/slideLayout2.xml><?xml version="1.0" encoding="utf-8"?>
<p:sldLayout xmlns:p="http://schemas.openxmlformats.org/presentationml/2006/main" matchingName="Title without content">
  <p:cSld name="Title and Content">
    <p:spTree>
      <p:nvGrpSpPr>
        <p:cNvPr id="1" name=""/>
        <p:cNvGrpSpPr/>
        <p:nvPr/>
      </p:nvGrpSpPr>
      <p:grpSpPr>
        <a:xfrm xmlns:a="http://schemas.openxmlformats.org/drawingml/2006/main"/>
      </p:grpSpPr>
      <p:sp>
        <p:nvSpPr>
          <p:cNvPr id="1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Tree>
  </p:cSld>
</p:sldLayout>
</file>

<file path=ppt/slideLayouts/slideLayout3.xml><?xml version="1.0" encoding="utf-8"?>
<p:sldLayout xmlns:p="http://schemas.openxmlformats.org/presentationml/2006/main" matchingName="Title and Content">
  <p:cSld name="Title and Content_1">
    <p:spTree>
      <p:nvGrpSpPr>
        <p:cNvPr id="1" name=""/>
        <p:cNvGrpSpPr/>
        <p:nvPr/>
      </p:nvGrpSpPr>
      <p:grpSpPr>
        <a:xfrm xmlns:a="http://schemas.openxmlformats.org/drawingml/2006/main"/>
      </p:grpSpPr>
      <p:sp>
        <p:nvSpPr>
          <p:cNvPr id="20" name="Google Shape;20;p4">
            <a:extLst xmlns:a="http://schemas.openxmlformats.org/drawingml/2006/main">
              <a:ext uri="{FF2B5EF4-FFF2-40B4-BE49-F238E27FC236}">
                <a16:creationId xmlns:a16="http://schemas.microsoft.com/office/drawing/2014/main" id="{89D039DA-11AE-4B77-822A-D753A2C9B43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1" name="Google Shape;21;p4">
            <a:extLst xmlns:a="http://schemas.openxmlformats.org/drawingml/2006/main">
              <a:ext uri="{FF2B5EF4-FFF2-40B4-BE49-F238E27FC236}">
                <a16:creationId xmlns:a16="http://schemas.microsoft.com/office/drawing/2014/main" id="{DB4A6F2E-7B78-4499-B25D-1363E37EA1CD}"/>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4.xml><?xml version="1.0" encoding="utf-8"?>
<p:sldLayout xmlns:p="http://schemas.openxmlformats.org/presentationml/2006/main" showMasterSp="0" matchingName="Section Header Replaceable Image">
  <p:cSld name="Section Header">
    <p:spTree>
      <p:nvGrpSpPr>
        <p:cNvPr id="1" name=""/>
        <p:cNvGrpSpPr/>
        <p:nvPr/>
      </p:nvGrpSpPr>
      <p:grpSpPr>
        <a:xfrm xmlns:a="http://schemas.openxmlformats.org/drawingml/2006/main"/>
      </p:grpSpPr>
      <p:sp>
        <p:nvSpPr>
          <p:cNvPr id="23" name="Google Shape;23;p5">
            <a:extLst xmlns:a="http://schemas.openxmlformats.org/drawingml/2006/main">
              <a:ext uri="{FF2B5EF4-FFF2-40B4-BE49-F238E27FC236}">
                <a16:creationId xmlns:a16="http://schemas.microsoft.com/office/drawing/2014/main" id="{21466614-A301-43B8-BC86-5B5789D707C3}"/>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0" name="Google Shape;24;p5"/>
          <p:cNvPicPr>
            <a:picLocks xmlns:a="http://schemas.openxmlformats.org/drawingml/2006/main" noChangeAspect="1"/>
          </p:cNvPicPr>
          <p:nvPr/>
        </p:nvPicPr>
        <p:blipFill rotWithShape="1">
          <a:blip xmlns:r="http://schemas.openxmlformats.org/officeDocument/2006/relationships" xmlns:a="http://schemas.openxmlformats.org/drawingml/2006/main" r:embed="Re0e273b4ecbb4a5d">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25" name="Google Shape;25;p5">
            <a:extLst xmlns:a="http://schemas.openxmlformats.org/drawingml/2006/main">
              <a:ext uri="{FF2B5EF4-FFF2-40B4-BE49-F238E27FC236}">
                <a16:creationId xmlns:a16="http://schemas.microsoft.com/office/drawing/2014/main" id="{2D796201-9D70-419F-AC6D-9E325FBE8A91}"/>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6" name="Google Shape;26;p5">
            <a:extLst xmlns:a="http://schemas.openxmlformats.org/drawingml/2006/main">
              <a:ext uri="{FF2B5EF4-FFF2-40B4-BE49-F238E27FC236}">
                <a16:creationId xmlns:a16="http://schemas.microsoft.com/office/drawing/2014/main" id="{DBE177CE-3ADE-4B9F-A862-DEE63419AE7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sp>
        <p:nvSpPr>
          <p:cNvPr id="27" name="Google Shape;27;p5">
            <a:extLst xmlns:a="http://schemas.openxmlformats.org/drawingml/2006/main">
              <a:ext uri="{FF2B5EF4-FFF2-40B4-BE49-F238E27FC236}">
                <a16:creationId xmlns:a16="http://schemas.microsoft.com/office/drawing/2014/main" id="{0A944063-2AC1-411A-BE33-B483F2511A83}"/>
              </a:ext>
            </a:extLst>
          </p:cNvPr>
          <p:cNvSpPr>
            <a:spLocks xmlns:a="http://schemas.openxmlformats.org/drawingml/2006/main" noGrp="1"/>
          </p:cNvSpPr>
          <p:nvPr>
            <p:ph type="pic" idx="2"/>
          </p:nvPr>
        </p:nvSpPr>
        <p:spPr>
          <a:xfrm xmlns:a="http://schemas.openxmlformats.org/drawingml/2006/main">
            <a:off x="4665662" y="1535112"/>
            <a:ext cx="1950900" cy="1950900"/>
          </a:xfrm>
          <a:prstGeom xmlns:a="http://schemas.openxmlformats.org/drawingml/2006/main" prst="rect">
            <a:avLst/>
          </a:prstGeom>
          <a:blipFill xmlns:a="http://schemas.openxmlformats.org/drawingml/2006/main" rotWithShape="1">
            <a:blip xmlns:r="http://schemas.openxmlformats.org/officeDocument/2006/relationships" r:embed="Rb01c6953ee60486b">
              <a:alphaModFix/>
            </a:blip>
            <a:stretch>
              <a:fillRect l="0" t="0" r="0" b="0"/>
            </a:stretch>
          </a:blipFill>
          <a:ln xmlns:a="http://schemas.openxmlformats.org/drawingml/2006/main" w="44450" cmpd="sng">
            <a:solidFill>
              <a:schemeClr val="lt1"/>
            </a:solidFill>
            <a:prstDash val="solid"/>
            <a:headEnd type="none" w="sm" len="sm"/>
            <a:tailEnd type="none" w="sm" len="sm"/>
          </a:ln>
          <a:effectLst xmlns:a="http://schemas.openxmlformats.org/drawingml/2006/main">
            <a:outerShdw blurRad="50800" dist="25400" dir="2700000" algn="tl" rotWithShape="0">
              <a:srgbClr val="000000">
                <a:alpha val="35690"/>
              </a:srgbClr>
            </a:outerShdw>
          </a:effectLst>
        </p:spPr>
        <p:txBody>
          <a:bodyPr xmlns:a="http://schemas.openxmlformats.org/drawingml/2006/main" spcFirstLastPara="1" wrap="square" lIns="91425" tIns="91425" rIns="91425" bIns="91425" anchor="t">
            <a:noAutofit/>
          </a:bodyPr>
          <a:lstStyle xmlns:a="http://schemas.openxmlformats.org/drawingml/2006/main">
            <a:lvl1pPr marL="342900" marR="0" indent="-342900" algn="l">
              <a:spcBef>
                <a:spcPts val="240"/>
              </a:spcBef>
              <a:spcAft>
                <a:spcPts val="0"/>
              </a:spcAft>
              <a:buClr>
                <a:schemeClr val="lt2"/>
              </a:buClr>
              <a:buSzPts val="1200"/>
              <a:buFont typeface="Noto Sans Symbols"/>
              <a:buNone/>
              <a:defRPr sz="1200" b="0" i="0" u="none" cap="none">
                <a:solidFill>
                  <a:schemeClr val="dk1"/>
                </a:solidFill>
                <a:latin typeface="Arial"/>
                <a:ea typeface="Arial"/>
                <a:cs typeface="Arial"/>
              </a:defRPr>
            </a:lvl1pPr>
            <a:lvl2pPr marL="288925" marR="0" indent="-288925"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569913" marR="0" indent="-227013"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914400" marR="0" indent="-2286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1258888" marR="0" indent="-230188"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5146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29718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4290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38862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5.xml><?xml version="1.0" encoding="utf-8"?>
<p:sldLayout xmlns:p="http://schemas.openxmlformats.org/presentationml/2006/main" showMasterSp="0" matchingName="Section Header Stanford">
  <p:cSld name="Section Header_1">
    <p:spTree>
      <p:nvGrpSpPr>
        <p:cNvPr id="1" name=""/>
        <p:cNvGrpSpPr/>
        <p:nvPr/>
      </p:nvGrpSpPr>
      <p:grpSpPr>
        <a:xfrm xmlns:a="http://schemas.openxmlformats.org/drawingml/2006/main"/>
      </p:grpSpPr>
      <p:sp>
        <p:nvSpPr>
          <p:cNvPr id="29" name="Google Shape;29;p6">
            <a:extLst xmlns:a="http://schemas.openxmlformats.org/drawingml/2006/main">
              <a:ext uri="{FF2B5EF4-FFF2-40B4-BE49-F238E27FC236}">
                <a16:creationId xmlns:a16="http://schemas.microsoft.com/office/drawing/2014/main" id="{FB75C3A3-CD70-4CB0-B0DE-8EFB1AA8D7D8}"/>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6" name="Google Shape;30;p6"/>
          <p:cNvPicPr>
            <a:picLocks xmlns:a="http://schemas.openxmlformats.org/drawingml/2006/main" noChangeAspect="1"/>
          </p:cNvPicPr>
          <p:nvPr/>
        </p:nvPicPr>
        <p:blipFill rotWithShape="1">
          <a:blip xmlns:r="http://schemas.openxmlformats.org/officeDocument/2006/relationships" xmlns:a="http://schemas.openxmlformats.org/drawingml/2006/main" r:embed="R30b19ae01ab54e91">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31" name="Google Shape;31;p6">
            <a:extLst xmlns:a="http://schemas.openxmlformats.org/drawingml/2006/main">
              <a:ext uri="{FF2B5EF4-FFF2-40B4-BE49-F238E27FC236}">
                <a16:creationId xmlns:a16="http://schemas.microsoft.com/office/drawing/2014/main" id="{AC4A277E-3954-4AE4-9F7F-E1F791D456DA}"/>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2" name="Google Shape;32;p6">
            <a:extLst xmlns:a="http://schemas.openxmlformats.org/drawingml/2006/main">
              <a:ext uri="{FF2B5EF4-FFF2-40B4-BE49-F238E27FC236}">
                <a16:creationId xmlns:a16="http://schemas.microsoft.com/office/drawing/2014/main" id="{08DF6BBA-ACE7-4314-BF96-78F9C8F11D9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pic>
        <p:nvPicPr>
          <p:cNvPr id="39" name="Google Shape;33;p6"/>
          <p:cNvPicPr>
            <a:picLocks xmlns:a="http://schemas.openxmlformats.org/drawingml/2006/main" noChangeAspect="1"/>
          </p:cNvPicPr>
          <p:nvPr/>
        </p:nvPicPr>
        <p:blipFill>
          <a:blip xmlns:r="http://schemas.openxmlformats.org/officeDocument/2006/relationships" xmlns:a="http://schemas.openxmlformats.org/drawingml/2006/main" r:embed="R99118db3d240443c">
            <a:alphaModFix/>
          </a:blip>
          <a:stretch xmlns:a="http://schemas.openxmlformats.org/drawingml/2006/main">
            <a:fillRect l="0" t="0" r="0" b="0"/>
          </a:stretch>
        </p:blipFill>
        <p:spPr>
          <a:xfrm xmlns:a="http://schemas.openxmlformats.org/drawingml/2006/main">
            <a:off x="4665651" y="1596299"/>
            <a:ext cx="1950900" cy="1950900"/>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Two Content">
  <p:cSld name="Two Content">
    <p:spTree>
      <p:nvGrpSpPr>
        <p:cNvPr id="1" name=""/>
        <p:cNvGrpSpPr/>
        <p:nvPr/>
      </p:nvGrpSpPr>
      <p:grpSpPr>
        <a:xfrm xmlns:a="http://schemas.openxmlformats.org/drawingml/2006/main"/>
      </p:grpSpPr>
      <p:sp>
        <p:nvSpPr>
          <p:cNvPr id="35" name="Google Shape;35;p7">
            <a:extLst xmlns:a="http://schemas.openxmlformats.org/drawingml/2006/main">
              <a:ext uri="{FF2B5EF4-FFF2-40B4-BE49-F238E27FC236}">
                <a16:creationId xmlns:a16="http://schemas.microsoft.com/office/drawing/2014/main" id="{F1A99D11-69BD-4C1F-8E75-C353A69C28E5}"/>
              </a:ext>
            </a:extLst>
          </p:cNvPr>
          <p:cNvSpPr>
            <a:spLocks xmlns:a="http://schemas.openxmlformats.org/drawingml/2006/main" noGrp="1"/>
          </p:cNvSpPr>
          <p:nvPr/>
        </p:nvSpPr>
        <p:spPr>
          <a:xfrm xmlns:a="http://schemas.openxmlformats.org/drawingml/2006/main">
            <a:off x="60325" y="7938"/>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0" rIns="45700" bIns="0" anchor="ctr">
            <a:noAutofit/>
          </a:bodyPr>
          <a:lstStyle xmlns:a="http://schemas.openxmlformats.org/drawingml/2006/main"/>
          <a:p xmlns:a="http://schemas.openxmlformats.org/drawingml/2006/main">
            <a:pPr marL="0" marR="0" lvl="0" indent="0" algn="ctr">
              <a:spcBef>
                <a:spcPts val="0"/>
              </a:spcBef>
              <a:spcAft>
                <a:spcPts val="0"/>
              </a:spcAft>
              <a:buNone/>
            </a:pPr>
            <a:fld id="{00000000-1234-1234-1234-123412341234}" type="slidenum">
              <a:rPr sz="1000" b="0" i="0" u="none" cap="none">
                <a:solidFill>
                  <a:srgbClr val="7F7F7F"/>
                </a:solidFill>
                <a:latin typeface="Arial"/>
                <a:ea typeface="Arial"/>
                <a:cs typeface="Arial"/>
              </a:rPr>
              <a:t>‹#›</a:t>
            </a:fld>
            <a:endParaRPr sz="1000" b="0" i="0" u="none" cap="none">
              <a:solidFill>
                <a:srgbClr val="7F7F7F"/>
              </a:solidFill>
              <a:latin typeface="Arial"/>
              <a:ea typeface="Arial"/>
              <a:cs typeface="Arial"/>
            </a:endParaRPr>
          </a:p>
        </p:txBody>
      </p:sp>
      <p:sp>
        <p:nvSpPr>
          <p:cNvPr id="36" name="Google Shape;36;p7">
            <a:extLst xmlns:a="http://schemas.openxmlformats.org/drawingml/2006/main">
              <a:ext uri="{FF2B5EF4-FFF2-40B4-BE49-F238E27FC236}">
                <a16:creationId xmlns:a16="http://schemas.microsoft.com/office/drawing/2014/main" id="{62508692-C0A5-4C0E-9A6C-FA110D7E27AD}"/>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7" name="Google Shape;37;p7">
            <a:extLst xmlns:a="http://schemas.openxmlformats.org/drawingml/2006/main">
              <a:ext uri="{FF2B5EF4-FFF2-40B4-BE49-F238E27FC236}">
                <a16:creationId xmlns:a16="http://schemas.microsoft.com/office/drawing/2014/main" id="{402F539F-4155-4A46-ADD4-CDEECB9F4EA6}"/>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38" name="Google Shape;38;p7">
            <a:extLst xmlns:a="http://schemas.openxmlformats.org/drawingml/2006/main">
              <a:ext uri="{FF2B5EF4-FFF2-40B4-BE49-F238E27FC236}">
                <a16:creationId xmlns:a16="http://schemas.microsoft.com/office/drawing/2014/main" id="{F3C212B9-C304-43F6-9216-CB4A56575CA3}"/>
              </a:ext>
            </a:extLst>
          </p:cNvPr>
          <p:cNvSpPr>
            <a:spLocks xmlns:a="http://schemas.openxmlformats.org/drawingml/2006/main" noGrp="1"/>
          </p:cNvSpPr>
          <p:nvPr>
            <p:ph type="body" idx="2"/>
          </p:nvPr>
        </p:nvSpPr>
        <p:spPr>
          <a:xfrm xmlns:a="http://schemas.openxmlformats.org/drawingml/2006/main">
            <a:off x="4876800" y="908685"/>
            <a:ext cx="37797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7.xml><?xml version="1.0" encoding="utf-8"?>
<p:sldLayout xmlns:p="http://schemas.openxmlformats.org/presentationml/2006/main" matchingName="Four Content">
  <p:cSld name="Four Content">
    <p:spTree>
      <p:nvGrpSpPr>
        <p:cNvPr id="1" name=""/>
        <p:cNvGrpSpPr/>
        <p:nvPr/>
      </p:nvGrpSpPr>
      <p:grpSpPr>
        <a:xfrm xmlns:a="http://schemas.openxmlformats.org/drawingml/2006/main"/>
      </p:grpSpPr>
      <p:sp>
        <p:nvSpPr>
          <p:cNvPr id="40" name="Google Shape;40;p8">
            <a:extLst xmlns:a="http://schemas.openxmlformats.org/drawingml/2006/main">
              <a:ext uri="{FF2B5EF4-FFF2-40B4-BE49-F238E27FC236}">
                <a16:creationId xmlns:a16="http://schemas.microsoft.com/office/drawing/2014/main" id="{D1525A59-BE9D-4754-AFD4-74DC97C5E540}"/>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1" name="Google Shape;41;p8">
            <a:extLst xmlns:a="http://schemas.openxmlformats.org/drawingml/2006/main">
              <a:ext uri="{FF2B5EF4-FFF2-40B4-BE49-F238E27FC236}">
                <a16:creationId xmlns:a16="http://schemas.microsoft.com/office/drawing/2014/main" id="{9A9BC7A7-D23E-4D43-9161-451A782824D5}"/>
              </a:ext>
            </a:extLst>
          </p:cNvPr>
          <p:cNvSpPr>
            <a:spLocks xmlns:a="http://schemas.openxmlformats.org/drawingml/2006/main" noGrp="1"/>
          </p:cNvSpPr>
          <p:nvPr>
            <p:ph type="body" idx="1"/>
          </p:nvPr>
        </p:nvSpPr>
        <p:spPr>
          <a:xfrm xmlns:a="http://schemas.openxmlformats.org/drawingml/2006/main">
            <a:off x="949327" y="908686"/>
            <a:ext cx="37878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2" name="Google Shape;42;p8">
            <a:extLst xmlns:a="http://schemas.openxmlformats.org/drawingml/2006/main">
              <a:ext uri="{FF2B5EF4-FFF2-40B4-BE49-F238E27FC236}">
                <a16:creationId xmlns:a16="http://schemas.microsoft.com/office/drawing/2014/main" id="{82ED2339-A50A-464E-9B0D-E22351263829}"/>
              </a:ext>
            </a:extLst>
          </p:cNvPr>
          <p:cNvSpPr>
            <a:spLocks xmlns:a="http://schemas.openxmlformats.org/drawingml/2006/main" noGrp="1"/>
          </p:cNvSpPr>
          <p:nvPr>
            <p:ph type="body" idx="2"/>
          </p:nvPr>
        </p:nvSpPr>
        <p:spPr>
          <a:xfrm xmlns:a="http://schemas.openxmlformats.org/drawingml/2006/main">
            <a:off x="955677" y="2840613"/>
            <a:ext cx="37815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3" name="Google Shape;43;p8">
            <a:extLst xmlns:a="http://schemas.openxmlformats.org/drawingml/2006/main">
              <a:ext uri="{FF2B5EF4-FFF2-40B4-BE49-F238E27FC236}">
                <a16:creationId xmlns:a16="http://schemas.microsoft.com/office/drawing/2014/main" id="{905AB1B5-5AF2-4236-BF49-B7125D0B3662}"/>
              </a:ext>
            </a:extLst>
          </p:cNvPr>
          <p:cNvSpPr>
            <a:spLocks xmlns:a="http://schemas.openxmlformats.org/drawingml/2006/main" noGrp="1"/>
          </p:cNvSpPr>
          <p:nvPr>
            <p:ph type="body" idx="3"/>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4" name="Google Shape;44;p8">
            <a:extLst xmlns:a="http://schemas.openxmlformats.org/drawingml/2006/main">
              <a:ext uri="{FF2B5EF4-FFF2-40B4-BE49-F238E27FC236}">
                <a16:creationId xmlns:a16="http://schemas.microsoft.com/office/drawing/2014/main" id="{B5230000-5869-40E7-B326-457E11E7E9D9}"/>
              </a:ext>
            </a:extLst>
          </p:cNvPr>
          <p:cNvSpPr>
            <a:spLocks xmlns:a="http://schemas.openxmlformats.org/drawingml/2006/main" noGrp="1"/>
          </p:cNvSpPr>
          <p:nvPr>
            <p:ph type="body" idx="4"/>
          </p:nvPr>
        </p:nvSpPr>
        <p:spPr>
          <a:xfrm xmlns:a="http://schemas.openxmlformats.org/drawingml/2006/main">
            <a:off x="4876800" y="2840613"/>
            <a:ext cx="37797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8.xml><?xml version="1.0" encoding="utf-8"?>
<p:sldLayout xmlns:p="http://schemas.openxmlformats.org/presentationml/2006/main" matchingName="1_Title and Content">
  <p:cSld name="1_Title and Content">
    <p:spTree>
      <p:nvGrpSpPr>
        <p:cNvPr id="1" name=""/>
        <p:cNvGrpSpPr/>
        <p:nvPr/>
      </p:nvGrpSpPr>
      <p:grpSpPr>
        <a:xfrm xmlns:a="http://schemas.openxmlformats.org/drawingml/2006/main"/>
      </p:grpSpPr>
      <p:sp>
        <p:nvSpPr>
          <p:cNvPr id="46" name="Google Shape;46;p9">
            <a:extLst xmlns:a="http://schemas.openxmlformats.org/drawingml/2006/main">
              <a:ext uri="{FF2B5EF4-FFF2-40B4-BE49-F238E27FC236}">
                <a16:creationId xmlns:a16="http://schemas.microsoft.com/office/drawing/2014/main" id="{9F8E5D6F-8CB5-4209-9D43-3531A3DD57F9}"/>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7" name="Google Shape;47;p9">
            <a:extLst xmlns:a="http://schemas.openxmlformats.org/drawingml/2006/main">
              <a:ext uri="{FF2B5EF4-FFF2-40B4-BE49-F238E27FC236}">
                <a16:creationId xmlns:a16="http://schemas.microsoft.com/office/drawing/2014/main" id="{BAD049E5-03F4-40DF-A2A7-91222EBF5921}"/>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9.xml><?xml version="1.0" encoding="utf-8"?>
<p:sldLayout xmlns:p="http://schemas.openxmlformats.org/presentationml/2006/main" matchingName="Two Content Horizontal">
  <p:cSld name="Two Content Horizontal">
    <p:spTree>
      <p:nvGrpSpPr>
        <p:cNvPr id="1" name=""/>
        <p:cNvGrpSpPr/>
        <p:nvPr/>
      </p:nvGrpSpPr>
      <p:grpSpPr>
        <a:xfrm xmlns:a="http://schemas.openxmlformats.org/drawingml/2006/main"/>
      </p:grpSpPr>
      <p:sp>
        <p:nvSpPr>
          <p:cNvPr id="49" name="Google Shape;49;p10">
            <a:extLst xmlns:a="http://schemas.openxmlformats.org/drawingml/2006/main">
              <a:ext uri="{FF2B5EF4-FFF2-40B4-BE49-F238E27FC236}">
                <a16:creationId xmlns:a16="http://schemas.microsoft.com/office/drawing/2014/main" id="{403547DD-41C1-492C-B6E1-B82EA97D64D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0" name="Google Shape;50;p10">
            <a:extLst xmlns:a="http://schemas.openxmlformats.org/drawingml/2006/main">
              <a:ext uri="{FF2B5EF4-FFF2-40B4-BE49-F238E27FC236}">
                <a16:creationId xmlns:a16="http://schemas.microsoft.com/office/drawing/2014/main" id="{235778D7-838F-4199-B940-0C7823A230F1}"/>
              </a:ext>
            </a:extLst>
          </p:cNvPr>
          <p:cNvSpPr>
            <a:spLocks xmlns:a="http://schemas.openxmlformats.org/drawingml/2006/main" noGrp="1"/>
          </p:cNvSpPr>
          <p:nvPr>
            <p:ph type="body" idx="1"/>
          </p:nvPr>
        </p:nvSpPr>
        <p:spPr>
          <a:xfrm xmlns:a="http://schemas.openxmlformats.org/drawingml/2006/main">
            <a:off x="948777" y="908685"/>
            <a:ext cx="77079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1" name="Google Shape;51;p10">
            <a:extLst xmlns:a="http://schemas.openxmlformats.org/drawingml/2006/main">
              <a:ext uri="{FF2B5EF4-FFF2-40B4-BE49-F238E27FC236}">
                <a16:creationId xmlns:a16="http://schemas.microsoft.com/office/drawing/2014/main" id="{EEE3E6A0-819A-4015-956F-6A14C35145B7}"/>
              </a:ext>
            </a:extLst>
          </p:cNvPr>
          <p:cNvSpPr>
            <a:spLocks xmlns:a="http://schemas.openxmlformats.org/drawingml/2006/main" noGrp="1"/>
          </p:cNvSpPr>
          <p:nvPr>
            <p:ph type="body" idx="2"/>
          </p:nvPr>
        </p:nvSpPr>
        <p:spPr>
          <a:xfrm xmlns:a="http://schemas.openxmlformats.org/drawingml/2006/main">
            <a:off x="949327" y="2841313"/>
            <a:ext cx="77073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0.xml><?xml version="1.0" encoding="utf-8"?>
<p:sldLayout xmlns:p="http://schemas.openxmlformats.org/presentationml/2006/main" matchingName="Three Content">
  <p:cSld name="Three Content">
    <p:spTree>
      <p:nvGrpSpPr>
        <p:cNvPr id="1" name=""/>
        <p:cNvGrpSpPr/>
        <p:nvPr/>
      </p:nvGrpSpPr>
      <p:grpSpPr>
        <a:xfrm xmlns:a="http://schemas.openxmlformats.org/drawingml/2006/main"/>
      </p:grpSpPr>
      <p:sp>
        <p:nvSpPr>
          <p:cNvPr id="53" name="Google Shape;53;p11">
            <a:extLst xmlns:a="http://schemas.openxmlformats.org/drawingml/2006/main">
              <a:ext uri="{FF2B5EF4-FFF2-40B4-BE49-F238E27FC236}">
                <a16:creationId xmlns:a16="http://schemas.microsoft.com/office/drawing/2014/main" id="{E0062D95-B163-4603-A63C-707394F345AF}"/>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4" name="Google Shape;54;p11">
            <a:extLst xmlns:a="http://schemas.openxmlformats.org/drawingml/2006/main">
              <a:ext uri="{FF2B5EF4-FFF2-40B4-BE49-F238E27FC236}">
                <a16:creationId xmlns:a16="http://schemas.microsoft.com/office/drawing/2014/main" id="{E90F37DD-3005-452E-8C01-2EDD7C9B2074}"/>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5" name="Google Shape;55;p11">
            <a:extLst xmlns:a="http://schemas.openxmlformats.org/drawingml/2006/main">
              <a:ext uri="{FF2B5EF4-FFF2-40B4-BE49-F238E27FC236}">
                <a16:creationId xmlns:a16="http://schemas.microsoft.com/office/drawing/2014/main" id="{137BAC4F-9B46-43A5-8275-7DF66E13B9F7}"/>
              </a:ext>
            </a:extLst>
          </p:cNvPr>
          <p:cNvSpPr>
            <a:spLocks xmlns:a="http://schemas.openxmlformats.org/drawingml/2006/main" noGrp="1"/>
          </p:cNvSpPr>
          <p:nvPr>
            <p:ph type="body" idx="2"/>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6" name="Google Shape;56;p11">
            <a:extLst xmlns:a="http://schemas.openxmlformats.org/drawingml/2006/main">
              <a:ext uri="{FF2B5EF4-FFF2-40B4-BE49-F238E27FC236}">
                <a16:creationId xmlns:a16="http://schemas.microsoft.com/office/drawing/2014/main" id="{EB628254-D8CC-4A79-A65F-5E9EFFA5502D}"/>
              </a:ext>
            </a:extLst>
          </p:cNvPr>
          <p:cNvSpPr>
            <a:spLocks xmlns:a="http://schemas.openxmlformats.org/drawingml/2006/main" noGrp="1"/>
          </p:cNvSpPr>
          <p:nvPr>
            <p:ph type="body" idx="3"/>
          </p:nvPr>
        </p:nvSpPr>
        <p:spPr>
          <a:xfrm xmlns:a="http://schemas.openxmlformats.org/drawingml/2006/main">
            <a:off x="4876800" y="2837497"/>
            <a:ext cx="3779700" cy="18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1.xml><?xml version="1.0" encoding="utf-8"?>
<p:sldLayout xmlns:p="http://schemas.openxmlformats.org/presentationml/2006/main" matchingName="Blank">
  <p:cSld name="Blank">
    <p:spTree>
      <p:nvGrpSpPr>
        <p:cNvPr id="1" name=""/>
        <p:cNvGrpSpPr/>
        <p:nvPr/>
      </p:nvGrpSpPr>
      <p:grpSpPr>
        <a:xfrm xmlns:a="http://schemas.openxmlformats.org/drawingml/2006/main"/>
      </p:grpSpPr>
      <p:sp>
        <p:nvSpPr>
          <p:cNvPr id="58" name="Google Shape;58;p12">
            <a:extLst xmlns:a="http://schemas.openxmlformats.org/drawingml/2006/main">
              <a:ext uri="{FF2B5EF4-FFF2-40B4-BE49-F238E27FC236}">
                <a16:creationId xmlns:a16="http://schemas.microsoft.com/office/drawing/2014/main" id="{2360149A-0FFC-4BAF-99F1-749B28BF55C8}"/>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12">
            <a:extLst xmlns:a="http://schemas.openxmlformats.org/drawingml/2006/main">
              <a:ext uri="{FF2B5EF4-FFF2-40B4-BE49-F238E27FC236}">
                <a16:creationId xmlns:a16="http://schemas.microsoft.com/office/drawing/2014/main" id="{36C3C08C-C729-4AD2-8750-89CC0CD291F0}"/>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Standard Layout">
  <p:cSld name="Standard Layout">
    <p:spTree>
      <p:nvGrpSpPr>
        <p:cNvPr id="1" name=""/>
        <p:cNvGrpSpPr/>
        <p:nvPr/>
      </p:nvGrpSpPr>
      <p:grpSpPr>
        <a:xfrm xmlns:a="http://schemas.openxmlformats.org/drawingml/2006/main"/>
      </p:grpSpPr>
      <p:sp>
        <p:nvSpPr>
          <p:cNvPr id="61" name="Google Shape;61;p13">
            <a:extLst xmlns:a="http://schemas.openxmlformats.org/drawingml/2006/main">
              <a:ext uri="{FF2B5EF4-FFF2-40B4-BE49-F238E27FC236}">
                <a16:creationId xmlns:a16="http://schemas.microsoft.com/office/drawing/2014/main" id="{3F505B9B-7C0C-488B-ADB1-3FAE0D74942D}"/>
              </a:ext>
            </a:extLst>
          </p:cNvPr>
          <p:cNvSpPr>
            <a:spLocks xmlns:a="http://schemas.openxmlformats.org/drawingml/2006/main" noGrp="1"/>
          </p:cNvSpPr>
          <p:nvPr>
            <p:ph type="title" idx="0"/>
          </p:nvPr>
        </p:nvSpPr>
        <p:spPr>
          <a:xfrm xmlns:a="http://schemas.openxmlformats.org/drawingml/2006/main">
            <a:off x="278250" y="206125"/>
            <a:ext cx="6427500" cy="51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2800"/>
              <a:buFont typeface="Open Sans"/>
              <a:buNone/>
              <a:defRPr sz="2800">
                <a:latin typeface="Open Sans"/>
                <a:ea typeface="Open Sans"/>
                <a:cs typeface="Open Sans"/>
              </a:defRPr>
            </a:lvl1pPr>
            <a:lvl2pPr algn="l">
              <a:lnSpc>
                <a:spcPct val="90000"/>
              </a:lnSpc>
              <a:spcBef>
                <a:spcPts val="0"/>
              </a:spcBef>
              <a:spcAft>
                <a:spcPts val="0"/>
              </a:spcAft>
              <a:buSzPts val="1400"/>
              <a:buNone/>
              <a:defRPr/>
            </a:lvl2pPr>
            <a:lvl3pPr algn="l">
              <a:lnSpc>
                <a:spcPct val="90000"/>
              </a:lnSpc>
              <a:spcBef>
                <a:spcPts val="0"/>
              </a:spcBef>
              <a:spcAft>
                <a:spcPts val="0"/>
              </a:spcAft>
              <a:buSzPts val="1400"/>
              <a:buNone/>
              <a:defRPr/>
            </a:lvl3pPr>
            <a:lvl4pPr algn="l">
              <a:lnSpc>
                <a:spcPct val="90000"/>
              </a:lnSpc>
              <a:spcBef>
                <a:spcPts val="0"/>
              </a:spcBef>
              <a:spcAft>
                <a:spcPts val="0"/>
              </a:spcAft>
              <a:buSzPts val="1400"/>
              <a:buNone/>
              <a:defRPr/>
            </a:lvl4pPr>
            <a:lvl5pPr algn="l">
              <a:lnSpc>
                <a:spcPct val="90000"/>
              </a:lnSpc>
              <a:spcBef>
                <a:spcPts val="0"/>
              </a:spcBef>
              <a:spcAft>
                <a:spcPts val="0"/>
              </a:spcAft>
              <a:buSzPts val="1400"/>
              <a:buNone/>
              <a:defRPr/>
            </a:lvl5pPr>
            <a:lvl6pPr algn="l">
              <a:lnSpc>
                <a:spcPct val="90000"/>
              </a:lnSpc>
              <a:spcBef>
                <a:spcPts val="0"/>
              </a:spcBef>
              <a:spcAft>
                <a:spcPts val="0"/>
              </a:spcAft>
              <a:buSzPts val="1400"/>
              <a:buNone/>
              <a:defRPr/>
            </a:lvl6pPr>
            <a:lvl7pPr algn="l">
              <a:lnSpc>
                <a:spcPct val="90000"/>
              </a:lnSpc>
              <a:spcBef>
                <a:spcPts val="0"/>
              </a:spcBef>
              <a:spcAft>
                <a:spcPts val="0"/>
              </a:spcAft>
              <a:buSzPts val="1400"/>
              <a:buNone/>
              <a:defRPr/>
            </a:lvl7pPr>
            <a:lvl8pPr algn="l">
              <a:lnSpc>
                <a:spcPct val="90000"/>
              </a:lnSpc>
              <a:spcBef>
                <a:spcPts val="0"/>
              </a:spcBef>
              <a:spcAft>
                <a:spcPts val="0"/>
              </a:spcAft>
              <a:buSzPts val="1400"/>
              <a:buNone/>
              <a:defRPr/>
            </a:lvl8pPr>
            <a:lvl9pPr algn="l">
              <a:lnSpc>
                <a:spcPct val="90000"/>
              </a:lnSpc>
              <a:spcBef>
                <a:spcPts val="0"/>
              </a:spcBef>
              <a:spcAft>
                <a:spcPts val="0"/>
              </a:spcAft>
              <a:buSzPts val="1400"/>
              <a:buNone/>
              <a:defRPr/>
            </a:lvl9pPr>
          </a:lstStyle>
          <a:p xmlns:a="http://schemas.openxmlformats.org/drawingml/2006/main"/>
        </p:txBody>
      </p:sp>
      <p:sp>
        <p:nvSpPr>
          <p:cNvPr id="62" name="Google Shape;62;p13">
            <a:extLst xmlns:a="http://schemas.openxmlformats.org/drawingml/2006/main">
              <a:ext uri="{FF2B5EF4-FFF2-40B4-BE49-F238E27FC236}">
                <a16:creationId xmlns:a16="http://schemas.microsoft.com/office/drawing/2014/main" id="{C1027DE9-2184-42EA-8E77-954F683EC9F7}"/>
              </a:ext>
            </a:extLst>
          </p:cNvPr>
          <p:cNvSpPr>
            <a:spLocks xmlns:a="http://schemas.openxmlformats.org/drawingml/2006/main" noGrp="1"/>
          </p:cNvSpPr>
          <p:nvPr>
            <p:ph type="body" idx="1"/>
          </p:nvPr>
        </p:nvSpPr>
        <p:spPr>
          <a:xfrm xmlns:a="http://schemas.openxmlformats.org/drawingml/2006/main">
            <a:off x="365760" y="1097280"/>
            <a:ext cx="8538000" cy="338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90000"/>
              </a:lnSpc>
              <a:spcBef>
                <a:spcPts val="400"/>
              </a:spcBef>
              <a:spcAft>
                <a:spcPts val="0"/>
              </a:spcAft>
              <a:buClr>
                <a:srgbClr val="262626"/>
              </a:buClr>
              <a:buSzPts val="2200"/>
              <a:buFont typeface="Open Sans"/>
              <a:buNone/>
              <a:defRPr i="0">
                <a:latin typeface="Open Sans"/>
                <a:ea typeface="Open Sans"/>
                <a:cs typeface="Open Sans"/>
              </a:defRPr>
            </a:lvl1pPr>
            <a:lvl2pPr marL="914400" indent="-342900" algn="l">
              <a:lnSpc>
                <a:spcPct val="100000"/>
              </a:lnSpc>
              <a:spcBef>
                <a:spcPts val="400"/>
              </a:spcBef>
              <a:spcAft>
                <a:spcPts val="0"/>
              </a:spcAft>
              <a:buClr>
                <a:srgbClr val="262626"/>
              </a:buClr>
              <a:buSzPts val="1800"/>
              <a:buFont typeface="Open Sans"/>
              <a:buChar char="▪"/>
              <a:defRPr i="0">
                <a:latin typeface="Open Sans"/>
                <a:ea typeface="Open Sans"/>
                <a:cs typeface="Open Sans"/>
              </a:defRPr>
            </a:lvl2pPr>
            <a:lvl3pPr marL="1371600" indent="-320040" algn="l">
              <a:lnSpc>
                <a:spcPct val="100000"/>
              </a:lnSpc>
              <a:spcBef>
                <a:spcPts val="400"/>
              </a:spcBef>
              <a:spcAft>
                <a:spcPts val="0"/>
              </a:spcAft>
              <a:buClr>
                <a:srgbClr val="262626"/>
              </a:buClr>
              <a:buSzPts val="1440"/>
              <a:buFont typeface="Open Sans"/>
              <a:buChar char="›"/>
              <a:defRPr sz="1800" i="0">
                <a:latin typeface="Open Sans"/>
                <a:ea typeface="Open Sans"/>
                <a:cs typeface="Open Sans"/>
              </a:defRPr>
            </a:lvl3pPr>
            <a:lvl4pPr marL="1828800" indent="-330200" algn="l">
              <a:lnSpc>
                <a:spcPct val="100000"/>
              </a:lnSpc>
              <a:spcBef>
                <a:spcPts val="400"/>
              </a:spcBef>
              <a:spcAft>
                <a:spcPts val="0"/>
              </a:spcAft>
              <a:buClr>
                <a:schemeClr val="dk1"/>
              </a:buClr>
              <a:buSzPts val="1600"/>
              <a:buFont typeface="Open Sans"/>
              <a:buChar char="▪"/>
              <a:defRPr sz="1600" i="0">
                <a:latin typeface="Open Sans"/>
                <a:ea typeface="Open Sans"/>
                <a:cs typeface="Open Sans"/>
              </a:defRPr>
            </a:lvl4pPr>
            <a:lvl5pPr marL="2286000" indent="-330200" algn="l">
              <a:lnSpc>
                <a:spcPct val="100000"/>
              </a:lnSpc>
              <a:spcBef>
                <a:spcPts val="320"/>
              </a:spcBef>
              <a:spcAft>
                <a:spcPts val="0"/>
              </a:spcAft>
              <a:buClr>
                <a:schemeClr val="dk1"/>
              </a:buClr>
              <a:buSzPts val="1600"/>
              <a:buFont typeface="Open Sans"/>
              <a:buChar char="•"/>
              <a:defRPr sz="1600" i="0">
                <a:latin typeface="Open Sans"/>
                <a:ea typeface="Open Sans"/>
                <a:cs typeface="Open Sans"/>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63" name="Google Shape;63;p13">
            <a:extLst xmlns:a="http://schemas.openxmlformats.org/drawingml/2006/main">
              <a:ext uri="{FF2B5EF4-FFF2-40B4-BE49-F238E27FC236}">
                <a16:creationId xmlns:a16="http://schemas.microsoft.com/office/drawing/2014/main" id="{E928DE46-4263-4260-9385-3A4EA9C1981C}"/>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4" name="Google Shape;64;p13">
            <a:extLst xmlns:a="http://schemas.openxmlformats.org/drawingml/2006/main">
              <a:ext uri="{FF2B5EF4-FFF2-40B4-BE49-F238E27FC236}">
                <a16:creationId xmlns:a16="http://schemas.microsoft.com/office/drawing/2014/main" id="{70363A74-799F-4A91-AE6D-096D3815B63B}"/>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66" name="Google Shape;66;p14">
            <a:extLst xmlns:a="http://schemas.openxmlformats.org/drawingml/2006/main">
              <a:ext uri="{FF2B5EF4-FFF2-40B4-BE49-F238E27FC236}">
                <a16:creationId xmlns:a16="http://schemas.microsoft.com/office/drawing/2014/main" id="{58342549-36B8-4E54-BA33-2E901D2797F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1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7" name="Google Shape;67;p14">
            <a:extLst xmlns:a="http://schemas.openxmlformats.org/drawingml/2006/main">
              <a:ext uri="{FF2B5EF4-FFF2-40B4-BE49-F238E27FC236}">
                <a16:creationId xmlns:a16="http://schemas.microsoft.com/office/drawing/2014/main" id="{6534C163-2AA2-4A9B-882E-F01CE47800D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360"/>
              </a:spcBef>
              <a:spcAft>
                <a:spcPts val="0"/>
              </a:spcAft>
              <a:buSzPts val="1400"/>
              <a:buNone/>
              <a:defRPr/>
            </a:lvl1pPr>
            <a:lvl2pPr marL="914400" indent="-342900">
              <a:spcBef>
                <a:spcPts val="360"/>
              </a:spcBef>
              <a:spcAft>
                <a:spcPts val="0"/>
              </a:spcAft>
              <a:buSzPts val="1800"/>
              <a:buChar char="▪"/>
              <a:defRPr/>
            </a:lvl2pPr>
            <a:lvl3pPr marL="1371600" indent="-345186">
              <a:spcBef>
                <a:spcPts val="360"/>
              </a:spcBef>
              <a:spcAft>
                <a:spcPts val="0"/>
              </a:spcAft>
              <a:buSzPts val="1836"/>
              <a:buChar char="›"/>
              <a:defRPr/>
            </a:lvl3pPr>
            <a:lvl4pPr marL="1828800" indent="-342900">
              <a:spcBef>
                <a:spcPts val="360"/>
              </a:spcBef>
              <a:spcAft>
                <a:spcPts val="0"/>
              </a:spcAft>
              <a:buSzPts val="1800"/>
              <a:buChar char="•"/>
              <a:defRPr/>
            </a:lvl4pPr>
            <a:lvl5pPr marL="2286000" indent="-342900">
              <a:spcBef>
                <a:spcPts val="360"/>
              </a:spcBef>
              <a:spcAft>
                <a:spcPts val="0"/>
              </a:spcAft>
              <a:buSzPts val="1800"/>
              <a:buChar char="–"/>
              <a:defRPr/>
            </a:lvl5pPr>
            <a:lvl6pPr marL="2743200" indent="-355600">
              <a:spcBef>
                <a:spcPts val="400"/>
              </a:spcBef>
              <a:spcAft>
                <a:spcPts val="0"/>
              </a:spcAft>
              <a:buSzPts val="2000"/>
              <a:buChar char="•"/>
              <a:defRPr/>
            </a:lvl6pPr>
            <a:lvl7pPr marL="3200400" indent="-355600">
              <a:spcBef>
                <a:spcPts val="400"/>
              </a:spcBef>
              <a:spcAft>
                <a:spcPts val="0"/>
              </a:spcAft>
              <a:buSzPts val="2000"/>
              <a:buChar char="•"/>
              <a:defRPr/>
            </a:lvl7pPr>
            <a:lvl8pPr marL="3657600" indent="-355600">
              <a:spcBef>
                <a:spcPts val="400"/>
              </a:spcBef>
              <a:spcAft>
                <a:spcPts val="0"/>
              </a:spcAft>
              <a:buSzPts val="2000"/>
              <a:buChar char="•"/>
              <a:defRPr/>
            </a:lvl8pPr>
            <a:lvl9pPr marL="4114800" indent="-355600">
              <a:spcBef>
                <a:spcPts val="400"/>
              </a:spcBef>
              <a:spcAft>
                <a:spcPts val="0"/>
              </a:spcAft>
              <a:buSzPts val="2000"/>
              <a:buChar char="•"/>
              <a:defRPr/>
            </a:lvl9pPr>
          </a:lstStyle>
          <a:p xmlns:a="http://schemas.openxmlformats.org/drawingml/2006/main"/>
        </p:txBody>
      </p:sp>
      <p:sp>
        <p:nvSpPr>
          <p:cNvPr id="68" name="Google Shape;68;p14">
            <a:extLst xmlns:a="http://schemas.openxmlformats.org/drawingml/2006/main">
              <a:ext uri="{FF2B5EF4-FFF2-40B4-BE49-F238E27FC236}">
                <a16:creationId xmlns:a16="http://schemas.microsoft.com/office/drawing/2014/main" id="{031350E3-689F-4252-B3B1-5130923B74F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70"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71"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p:txBody>
      </p:sp>
      <p:sp>
        <p:nvSpPr>
          <p:cNvPr id="72" name="Google Shape;72;p15">
            <a:extLst xmlns:a="http://schemas.openxmlformats.org/drawingml/2006/main">
              <a:ext uri="{FF2B5EF4-FFF2-40B4-BE49-F238E27FC236}">
                <a16:creationId xmlns:a16="http://schemas.microsoft.com/office/drawing/2014/main" id="{51255FBE-97F1-42D4-A28B-E868C92B169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62acf65ff9bb49cb" /><Relationship Type="http://schemas.openxmlformats.org/officeDocument/2006/relationships/theme" Target="/ppt/slideMasters/theme/theme2.xml" Id="R4124a42e9b074406" /><Relationship Type="http://schemas.openxmlformats.org/officeDocument/2006/relationships/slideLayout" Target="/ppt/slideLayouts/slideLayout1.xml" Id="R99717555eb174dab" /><Relationship Type="http://schemas.openxmlformats.org/officeDocument/2006/relationships/slideLayout" Target="/ppt/slideLayouts/slideLayout2.xml" Id="Rb820cc2c7f3f4ab8" /><Relationship Type="http://schemas.openxmlformats.org/officeDocument/2006/relationships/slideLayout" Target="/ppt/slideLayouts/slideLayout3.xml" Id="R6054ed4ed1424897" /><Relationship Type="http://schemas.openxmlformats.org/officeDocument/2006/relationships/slideLayout" Target="/ppt/slideLayouts/slideLayout4.xml" Id="R7cfcfe426313479f" /><Relationship Type="http://schemas.openxmlformats.org/officeDocument/2006/relationships/slideLayout" Target="/ppt/slideLayouts/slideLayout5.xml" Id="R8d1539c661ba4408" /><Relationship Type="http://schemas.openxmlformats.org/officeDocument/2006/relationships/slideLayout" Target="/ppt/slideLayouts/slideLayout6.xml" Id="Rf1e6b990a84f49e3" /><Relationship Type="http://schemas.openxmlformats.org/officeDocument/2006/relationships/slideLayout" Target="/ppt/slideLayouts/slideLayout7.xml" Id="R579f4fdbcf47480b" /><Relationship Type="http://schemas.openxmlformats.org/officeDocument/2006/relationships/slideLayout" Target="/ppt/slideLayouts/slideLayout8.xml" Id="R1c90392983dc4642" /><Relationship Type="http://schemas.openxmlformats.org/officeDocument/2006/relationships/slideLayout" Target="/ppt/slideLayouts/slideLayout9.xml" Id="Rf9bcdd0b018544b5" /><Relationship Type="http://schemas.openxmlformats.org/officeDocument/2006/relationships/slideLayout" Target="/ppt/slideLayouts/slideLayout10.xml" Id="R25cac67add3544f1" /><Relationship Type="http://schemas.openxmlformats.org/officeDocument/2006/relationships/slideLayout" Target="/ppt/slideLayouts/slideLayout11.xml" Id="Rc50459495f4b442b" /><Relationship Type="http://schemas.openxmlformats.org/officeDocument/2006/relationships/slideLayout" Target="/ppt/slideLayouts/slideLayout12.xml" Id="Rea0769de17f44136" /><Relationship Type="http://schemas.openxmlformats.org/officeDocument/2006/relationships/slideLayout" Target="/ppt/slideLayouts/slideLayout13.xml" Id="Ra2c1ebc6d4604c43" /><Relationship Type="http://schemas.openxmlformats.org/officeDocument/2006/relationships/slideLayout" Target="/ppt/slideLayouts/slideLayout14.xml" Id="R9d82083632b646a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709AE253-A993-4D90-89A2-1F63E04A7E05}"/>
              </a:ext>
            </a:extLst>
          </p:cNvPr>
          <p:cNvSpPr>
            <a:spLocks xmlns:a="http://schemas.openxmlformats.org/drawingml/2006/main" noGrp="1"/>
          </p:cNvSpPr>
          <p:nvPr>
            <p:ph type="title" idx="0"/>
          </p:nvPr>
        </p:nvSpPr>
        <p:spPr>
          <a:xfrm xmlns:a="http://schemas.openxmlformats.org/drawingml/2006/main">
            <a:off x="949325" y="358775"/>
            <a:ext cx="7707300" cy="48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CC0A6B0-09DE-4565-B89E-8C0DE6410F06}"/>
              </a:ext>
            </a:extLst>
          </p:cNvPr>
          <p:cNvSpPr>
            <a:spLocks xmlns:a="http://schemas.openxmlformats.org/drawingml/2006/main" noGrp="1"/>
          </p:cNvSpPr>
          <p:nvPr>
            <p:ph type="body" idx="1"/>
          </p:nvPr>
        </p:nvSpPr>
        <p:spPr>
          <a:xfrm xmlns:a="http://schemas.openxmlformats.org/drawingml/2006/main">
            <a:off x="949325" y="903288"/>
            <a:ext cx="7707300" cy="376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6C414856-2C35-4D85-889B-B4EF6503D4A1}"/>
              </a:ext>
            </a:extLst>
          </p:cNvPr>
          <p:cNvSpPr>
            <a:spLocks xmlns:a="http://schemas.openxmlformats.org/drawingml/2006/main" noGrp="1"/>
          </p:cNvSpPr>
          <p:nvPr>
            <p:ph type="sldNum" idx="12"/>
          </p:nvPr>
        </p:nvSpPr>
        <p:spPr>
          <a:xfrm xmlns:a="http://schemas.openxmlformats.org/drawingml/2006/main">
            <a:off x="109538" y="4811713"/>
            <a:ext cx="846000" cy="2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l">
              <a:spcBef>
                <a:spcPts val="0"/>
              </a:spcBef>
              <a:spcAft>
                <a:spcPts val="0"/>
              </a:spcAft>
              <a:buNone/>
              <a:defRPr sz="1000" b="0" i="0" u="none" cap="none">
                <a:solidFill>
                  <a:srgbClr val="888888"/>
                </a:solidFill>
                <a:latin typeface="Arial"/>
                <a:ea typeface="Arial"/>
                <a:cs typeface="Arial"/>
              </a:defRPr>
            </a:lvl1pPr>
            <a:lvl2pPr marL="0" marR="0" indent="0" algn="l">
              <a:spcBef>
                <a:spcPts val="0"/>
              </a:spcBef>
              <a:spcAft>
                <a:spcPts val="0"/>
              </a:spcAft>
              <a:buNone/>
              <a:defRPr sz="1000" b="0" i="0" u="none" cap="none">
                <a:solidFill>
                  <a:srgbClr val="888888"/>
                </a:solidFill>
                <a:latin typeface="Arial"/>
                <a:ea typeface="Arial"/>
                <a:cs typeface="Arial"/>
              </a:defRPr>
            </a:lvl2pPr>
            <a:lvl3pPr marL="0" marR="0" indent="0" algn="l">
              <a:spcBef>
                <a:spcPts val="0"/>
              </a:spcBef>
              <a:spcAft>
                <a:spcPts val="0"/>
              </a:spcAft>
              <a:buNone/>
              <a:defRPr sz="1000" b="0" i="0" u="none" cap="none">
                <a:solidFill>
                  <a:srgbClr val="888888"/>
                </a:solidFill>
                <a:latin typeface="Arial"/>
                <a:ea typeface="Arial"/>
                <a:cs typeface="Arial"/>
              </a:defRPr>
            </a:lvl3pPr>
            <a:lvl4pPr marL="0" marR="0" indent="0" algn="l">
              <a:spcBef>
                <a:spcPts val="0"/>
              </a:spcBef>
              <a:spcAft>
                <a:spcPts val="0"/>
              </a:spcAft>
              <a:buNone/>
              <a:defRPr sz="1000" b="0" i="0" u="none" cap="none">
                <a:solidFill>
                  <a:srgbClr val="888888"/>
                </a:solidFill>
                <a:latin typeface="Arial"/>
                <a:ea typeface="Arial"/>
                <a:cs typeface="Arial"/>
              </a:defRPr>
            </a:lvl4pPr>
            <a:lvl5pPr marL="0" marR="0" indent="0" algn="l">
              <a:spcBef>
                <a:spcPts val="0"/>
              </a:spcBef>
              <a:spcAft>
                <a:spcPts val="0"/>
              </a:spcAft>
              <a:buNone/>
              <a:defRPr sz="1000" b="0" i="0" u="none" cap="none">
                <a:solidFill>
                  <a:srgbClr val="888888"/>
                </a:solidFill>
                <a:latin typeface="Arial"/>
                <a:ea typeface="Arial"/>
                <a:cs typeface="Arial"/>
              </a:defRPr>
            </a:lvl5pPr>
            <a:lvl6pPr marL="0" marR="0" indent="0" algn="l">
              <a:spcBef>
                <a:spcPts val="0"/>
              </a:spcBef>
              <a:spcAft>
                <a:spcPts val="0"/>
              </a:spcAft>
              <a:buNone/>
              <a:defRPr sz="1000" b="0" i="0" u="none" cap="none">
                <a:solidFill>
                  <a:srgbClr val="888888"/>
                </a:solidFill>
                <a:latin typeface="Arial"/>
                <a:ea typeface="Arial"/>
                <a:cs typeface="Arial"/>
              </a:defRPr>
            </a:lvl6pPr>
            <a:lvl7pPr marL="0" marR="0" indent="0" algn="l">
              <a:spcBef>
                <a:spcPts val="0"/>
              </a:spcBef>
              <a:spcAft>
                <a:spcPts val="0"/>
              </a:spcAft>
              <a:buNone/>
              <a:defRPr sz="1000" b="0" i="0" u="none" cap="none">
                <a:solidFill>
                  <a:srgbClr val="888888"/>
                </a:solidFill>
                <a:latin typeface="Arial"/>
                <a:ea typeface="Arial"/>
                <a:cs typeface="Arial"/>
              </a:defRPr>
            </a:lvl7pPr>
            <a:lvl8pPr marL="0" marR="0" indent="0" algn="l">
              <a:spcBef>
                <a:spcPts val="0"/>
              </a:spcBef>
              <a:spcAft>
                <a:spcPts val="0"/>
              </a:spcAft>
              <a:buNone/>
              <a:defRPr sz="1000" b="0" i="0" u="none" cap="none">
                <a:solidFill>
                  <a:srgbClr val="888888"/>
                </a:solidFill>
                <a:latin typeface="Arial"/>
                <a:ea typeface="Arial"/>
                <a:cs typeface="Arial"/>
              </a:defRPr>
            </a:lvl8pPr>
            <a:lvl9pPr marL="0" marR="0" indent="0" algn="l">
              <a:spcBef>
                <a:spcPts val="0"/>
              </a:spcBef>
              <a:spcAft>
                <a:spcPts val="0"/>
              </a:spcAft>
              <a:buNone/>
              <a:defRPr sz="1000" b="0" i="0" u="none" cap="none">
                <a:solidFill>
                  <a:srgbClr val="888888"/>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
        <p:nvSpPr>
          <p:cNvPr id="9" name="Google Shape;9;p1">
            <a:extLst xmlns:a="http://schemas.openxmlformats.org/drawingml/2006/main">
              <a:ext uri="{FF2B5EF4-FFF2-40B4-BE49-F238E27FC236}">
                <a16:creationId xmlns:a16="http://schemas.microsoft.com/office/drawing/2014/main" id="{ECCDB8A1-A8E6-4E01-8074-3E12C10EDE14}"/>
              </a:ext>
            </a:extLst>
          </p:cNvPr>
          <p:cNvSpPr>
            <a:spLocks xmlns:a="http://schemas.openxmlformats.org/drawingml/2006/main" noGrp="1"/>
          </p:cNvSpPr>
          <p:nvPr/>
        </p:nvSpPr>
        <p:spPr>
          <a:xfrm xmlns:a="http://schemas.openxmlformats.org/drawingml/2006/main">
            <a:off x="0" y="0"/>
            <a:ext cx="457200" cy="51498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5" name="Google Shape;10;p1"/>
          <p:cNvPicPr>
            <a:picLocks xmlns:a="http://schemas.openxmlformats.org/drawingml/2006/main" noChangeAspect="1"/>
          </p:cNvPicPr>
          <p:nvPr/>
        </p:nvPicPr>
        <p:blipFill rotWithShape="1">
          <a:blip xmlns:r="http://schemas.openxmlformats.org/officeDocument/2006/relationships" xmlns:a="http://schemas.openxmlformats.org/drawingml/2006/main" r:embed="R62acf65ff9bb49cb">
            <a:alphaModFix/>
          </a:blip>
          <a:srcRect xmlns:a="http://schemas.openxmlformats.org/drawingml/2006/main" l="0" t="0" r="0" b="0"/>
          <a:stretch xmlns:a="http://schemas.openxmlformats.org/drawingml/2006/main"/>
        </p:blipFill>
        <p:spPr>
          <a:xfrm xmlns:a="http://schemas.openxmlformats.org/drawingml/2006/main">
            <a:off x="7121525" y="4856163"/>
            <a:ext cx="1541281" cy="190009"/>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9717555eb174dab"/>
    <p:sldLayoutId xmlns:r="http://schemas.openxmlformats.org/officeDocument/2006/relationships" id="2147483650" r:id="Rb820cc2c7f3f4ab8"/>
    <p:sldLayoutId xmlns:r="http://schemas.openxmlformats.org/officeDocument/2006/relationships" id="2147483651" r:id="R6054ed4ed1424897"/>
    <p:sldLayoutId xmlns:r="http://schemas.openxmlformats.org/officeDocument/2006/relationships" id="2147483652" r:id="R7cfcfe426313479f"/>
    <p:sldLayoutId xmlns:r="http://schemas.openxmlformats.org/officeDocument/2006/relationships" id="2147483653" r:id="R8d1539c661ba4408"/>
    <p:sldLayoutId xmlns:r="http://schemas.openxmlformats.org/officeDocument/2006/relationships" id="2147483654" r:id="Rf1e6b990a84f49e3"/>
    <p:sldLayoutId xmlns:r="http://schemas.openxmlformats.org/officeDocument/2006/relationships" id="2147483655" r:id="R579f4fdbcf47480b"/>
    <p:sldLayoutId xmlns:r="http://schemas.openxmlformats.org/officeDocument/2006/relationships" id="2147483656" r:id="R1c90392983dc4642"/>
    <p:sldLayoutId xmlns:r="http://schemas.openxmlformats.org/officeDocument/2006/relationships" id="2147483657" r:id="Rf9bcdd0b018544b5"/>
    <p:sldLayoutId xmlns:r="http://schemas.openxmlformats.org/officeDocument/2006/relationships" id="2147483658" r:id="R25cac67add3544f1"/>
    <p:sldLayoutId xmlns:r="http://schemas.openxmlformats.org/officeDocument/2006/relationships" id="2147483659" r:id="Rc50459495f4b442b"/>
    <p:sldLayoutId xmlns:r="http://schemas.openxmlformats.org/officeDocument/2006/relationships" id="2147483660" r:id="Rea0769de17f44136"/>
    <p:sldLayoutId xmlns:r="http://schemas.openxmlformats.org/officeDocument/2006/relationships" id="2147483661" r:id="Ra2c1ebc6d4604c43"/>
    <p:sldLayoutId xmlns:r="http://schemas.openxmlformats.org/officeDocument/2006/relationships" id="2147483662" r:id="R9d82083632b646a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4.xml" Id="Rdd9015a9c3d84104" /><Relationship Type="http://schemas.openxmlformats.org/officeDocument/2006/relationships/notesSlide" Target="/ppt/notesSlides/notesSlide1.xml" Id="R4ae36827685b4a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981642734c64ffc" /><Relationship Type="http://schemas.openxmlformats.org/officeDocument/2006/relationships/image" Target="/ppt/media/image4.png" Id="Re65fa469ba694bc3" /><Relationship Type="http://schemas.openxmlformats.org/officeDocument/2006/relationships/notesSlide" Target="/ppt/notesSlides/notesSlide2.xml" Id="R028eb295c9d04b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0bfb5f4f1fb492a" /><Relationship Type="http://schemas.openxmlformats.org/officeDocument/2006/relationships/notesSlide" Target="/ppt/notesSlides/notesSlide3.xml" Id="R05ff9dceeada46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e853f525849456e" /><Relationship Type="http://schemas.openxmlformats.org/officeDocument/2006/relationships/notesSlide" Target="/ppt/notesSlides/notesSlide4.xml" Id="Rd7f1b40a020a48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e277dd948a04766" /><Relationship Type="http://schemas.openxmlformats.org/officeDocument/2006/relationships/notesSlide" Target="/ppt/notesSlides/notesSlide5.xml" Id="Ra9ebcd7127c34e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975d27396b04c91" /><Relationship Type="http://schemas.openxmlformats.org/officeDocument/2006/relationships/chart" Target="/ppt/slides/charts/chart1.xml" Id="R982978058551496e" /><Relationship Type="http://schemas.openxmlformats.org/officeDocument/2006/relationships/notesSlide" Target="/ppt/notesSlides/notesSlide6.xml" Id="R798467f3b2ae4b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fc726b4bcf54680" /><Relationship Type="http://schemas.openxmlformats.org/officeDocument/2006/relationships/image" Target="/ppt/media/image5.png" Id="Rfd42fec28e834c85" /><Relationship Type="http://schemas.openxmlformats.org/officeDocument/2006/relationships/notesSlide" Target="/ppt/notesSlides/notesSlide7.xml" Id="R1f6ebce0cd8f44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a8560035a4d42bf" /><Relationship Type="http://schemas.openxmlformats.org/officeDocument/2006/relationships/image" Target="/ppt/media/image6.png" Id="Rd733af8331e34b53" /><Relationship Type="http://schemas.openxmlformats.org/officeDocument/2006/relationships/notesSlide" Target="/ppt/notesSlides/notesSlide8.xml" Id="Re0fc65078e7242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42258b2fe5f946b3" /><Relationship Type="http://schemas.openxmlformats.org/officeDocument/2006/relationships/chart" Target="/ppt/slides/charts/chart2.xml" Id="Rc36479c34c004290" /><Relationship Type="http://schemas.openxmlformats.org/officeDocument/2006/relationships/notesSlide" Target="/ppt/notesSlides/notesSlide9.xml" Id="Rc920775fb7684a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6d6a6413025488c" /><Relationship Type="http://schemas.openxmlformats.org/officeDocument/2006/relationships/chart" Target="/ppt/slides/charts/chart3.xml" Id="R16de3b3c0b994086" /><Relationship Type="http://schemas.openxmlformats.org/officeDocument/2006/relationships/notesSlide" Target="/ppt/notesSlides/notesSlide10.xml" Id="R155550ccaece40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b4ef1ac3802495d" /><Relationship Type="http://schemas.openxmlformats.org/officeDocument/2006/relationships/image" Target="/ppt/media/image7.png" Id="Re96ec380507f434b" /><Relationship Type="http://schemas.openxmlformats.org/officeDocument/2006/relationships/notesSlide" Target="/ppt/notesSlides/notesSlide11.xml" Id="R39ae4ad778ed48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18351bcd2244d93" /><Relationship Type="http://schemas.openxmlformats.org/officeDocument/2006/relationships/notesSlide" Target="/ppt/notesSlides/notesSlide12.xml" Id="R4d8e7dbd6edc4e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3a89e41a45d4c3d" /><Relationship Type="http://schemas.openxmlformats.org/officeDocument/2006/relationships/chart" Target="/ppt/slides/charts/chart4.xml" Id="Ra95e972dabf54204" /><Relationship Type="http://schemas.openxmlformats.org/officeDocument/2006/relationships/notesSlide" Target="/ppt/notesSlides/notesSlide13.xml" Id="Rf04b23513b994f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ce474c7e84a4030" /><Relationship Type="http://schemas.openxmlformats.org/officeDocument/2006/relationships/image" Target="/ppt/media/image8.png" Id="R505a723687774c1f" /><Relationship Type="http://schemas.openxmlformats.org/officeDocument/2006/relationships/image" Target="/ppt/media/image9.png" Id="Rd2d63762aec44892" /><Relationship Type="http://schemas.openxmlformats.org/officeDocument/2006/relationships/image" Target="/ppt/media/image10.png" Id="R8a354a98ae284f4e" /><Relationship Type="http://schemas.openxmlformats.org/officeDocument/2006/relationships/notesSlide" Target="/ppt/notesSlides/notesSlide14.xml" Id="Re32379ffa2d54a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4.xml" Id="R7ed174235b12457e" /><Relationship Type="http://schemas.openxmlformats.org/officeDocument/2006/relationships/notesSlide" Target="/ppt/notesSlides/notesSlide15.xml" Id="R17dbd2b6d92a4d1e" /></Relationships>
</file>

<file path=ppt/slides/charts/chart1.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7A7D8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D98300"/>
              </a:solidFill>
            </c:spPr>
          </c:dPt>
          <c:dPt>
            <c:idx val="3"/>
            <c:invertIfNegative val="0"/>
            <c:spPr>
              <a:solidFill xmlns:a="http://schemas.openxmlformats.org/drawingml/2006/main">
                <a:srgbClr val="175E54"/>
              </a:solidFill>
            </c:spPr>
          </c:dPt>
          <c:dPt>
            <c:idx val="4"/>
            <c:invertIfNegative val="0"/>
            <c:spPr>
              <a:solidFill xmlns:a="http://schemas.openxmlformats.org/drawingml/2006/main">
                <a:srgbClr val="175E54"/>
              </a:solidFill>
            </c:spPr>
          </c:dPt>
          <c:dPt>
            <c:idx val="5"/>
            <c:invertIfNegative val="0"/>
            <c:spPr>
              <a:solidFill xmlns:a="http://schemas.openxmlformats.org/drawingml/2006/main">
                <a:srgbClr val="175E54"/>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00505C"/>
              </a:solidFill>
            </c:spPr>
          </c:dPt>
          <c:dPt>
            <c:idx val="8"/>
            <c:invertIfNegative val="0"/>
            <c:spPr>
              <a:solidFill xmlns:a="http://schemas.openxmlformats.org/drawingml/2006/main">
                <a:srgbClr val="00505C"/>
              </a:solidFill>
            </c:spPr>
          </c:dPt>
          <c:dPt>
            <c:idx val="9"/>
            <c:invertIfNegative val="0"/>
            <c:spPr>
              <a:solidFill xmlns:a="http://schemas.openxmlformats.org/drawingml/2006/main">
                <a:srgbClr val="8C1515"/>
              </a:solidFill>
            </c:spPr>
          </c:dPt>
          <c:cat>
            <c:strLit>
              <c:ptCount val="10"/>
              <c:pt idx="0">
                <c:v>ANIMAL</c:v>
              </c:pt>
              <c:pt idx="1">
                <c:v>NO CODEBOOK</c:v>
              </c:pt>
              <c:pt idx="2">
                <c:v>NO DATA</c:v>
              </c:pt>
              <c:pt idx="3">
                <c:v>DIET + BODY</c:v>
              </c:pt>
              <c:pt idx="4">
                <c:v>RESTRICTED</c:v>
              </c:pt>
              <c:pt idx="5">
                <c:v>OMICS + GEN</c:v>
              </c:pt>
              <c:pt idx="6">
                <c:v>ACTIVITY + MET</c:v>
              </c:pt>
              <c:pt idx="7">
                <c:v>CPET-RICH</c:v>
              </c:pt>
              <c:pt idx="8">
                <c:v>MET + EX + GEN</c:v>
              </c:pt>
              <c:pt idx="9">
                <c:v>MOTRPAC-LIKE</c:v>
              </c:pt>
            </c:strLit>
          </c:cat>
          <c:val>
            <c:numLit>
              <c:formatCode>0%</c:formatCode>
              <c:ptCount val="10"/>
              <c:pt idx="0">
                <c:v>0</c:v>
              </c:pt>
              <c:pt idx="1">
                <c:v>0.54</c:v>
              </c:pt>
              <c:pt idx="2">
                <c:v>0.54</c:v>
              </c:pt>
              <c:pt idx="3">
                <c:v>0.57</c:v>
              </c:pt>
              <c:pt idx="4">
                <c:v>0.65</c:v>
              </c:pt>
              <c:pt idx="5">
                <c:v>0.65</c:v>
              </c:pt>
              <c:pt idx="6">
                <c:v>0.69</c:v>
              </c:pt>
              <c:pt idx="7">
                <c:v>0.69</c:v>
              </c:pt>
              <c:pt idx="8">
                <c:v>0.79</c:v>
              </c:pt>
              <c:pt idx="9">
                <c:v>0.95</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2E6F9E"/>
              </a:solidFill>
            </c:spPr>
          </c:dPt>
          <c:dPt>
            <c:idx val="3"/>
            <c:invertIfNegative val="0"/>
            <c:spPr>
              <a:solidFill xmlns:a="http://schemas.openxmlformats.org/drawingml/2006/main">
                <a:srgbClr val="2E6F9E"/>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7A7D80"/>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175E54"/>
              </a:solidFill>
            </c:spPr>
          </c:dPt>
          <c:dPt>
            <c:idx val="9"/>
            <c:invertIfNegative val="0"/>
            <c:spPr>
              <a:solidFill xmlns:a="http://schemas.openxmlformats.org/drawingml/2006/main">
                <a:srgbClr val="8C1515"/>
              </a:solidFill>
            </c:spPr>
          </c:dPt>
          <c:cat>
            <c:strLit>
              <c:ptCount val="10"/>
              <c:pt idx="0">
                <c:v>NO DATA</c:v>
              </c:pt>
              <c:pt idx="1">
                <c:v>NO CODEBOOK</c:v>
              </c:pt>
              <c:pt idx="2">
                <c:v>RESTRICTED</c:v>
              </c:pt>
              <c:pt idx="3">
                <c:v>OMICS + GEN</c:v>
              </c:pt>
              <c:pt idx="4">
                <c:v>DIET + BODY</c:v>
              </c:pt>
              <c:pt idx="5">
                <c:v>ANIMAL*</c:v>
              </c:pt>
              <c:pt idx="6">
                <c:v>ACTIVITY + MET</c:v>
              </c:pt>
              <c:pt idx="7">
                <c:v>CPET-RICH</c:v>
              </c:pt>
              <c:pt idx="8">
                <c:v>MET + EX + GEN</c:v>
              </c:pt>
              <c:pt idx="9">
                <c:v>MOTRPAC-LIKE</c:v>
              </c:pt>
            </c:strLit>
          </c:cat>
          <c:val>
            <c:numLit>
              <c:formatCode>0%</c:formatCode>
              <c:ptCount val="10"/>
              <c:pt idx="0">
                <c:v>0.484</c:v>
              </c:pt>
              <c:pt idx="1">
                <c:v>0.546</c:v>
              </c:pt>
              <c:pt idx="2">
                <c:v>0.606</c:v>
              </c:pt>
              <c:pt idx="3">
                <c:v>0.629</c:v>
              </c:pt>
              <c:pt idx="4">
                <c:v>0.66</c:v>
              </c:pt>
              <c:pt idx="5">
                <c:v>0.688</c:v>
              </c:pt>
              <c:pt idx="6">
                <c:v>0.772</c:v>
              </c:pt>
              <c:pt idx="7">
                <c:v>0.818</c:v>
              </c:pt>
              <c:pt idx="8">
                <c:v>0.885</c:v>
              </c:pt>
              <c:pt idx="9">
                <c:v>0.9</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4D4F53"/>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4D4F53"/>
              </a:solidFill>
            </c:spPr>
          </c:dPt>
          <c:dPt>
            <c:idx val="3"/>
            <c:invertIfNegative val="0"/>
            <c:spPr>
              <a:solidFill xmlns:a="http://schemas.openxmlformats.org/drawingml/2006/main">
                <a:srgbClr val="D98300"/>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2E6F9E"/>
              </a:solidFill>
            </c:spPr>
          </c:dPt>
          <c:dPt>
            <c:idx val="6"/>
            <c:invertIfNegative val="0"/>
            <c:spPr>
              <a:solidFill xmlns:a="http://schemas.openxmlformats.org/drawingml/2006/main">
                <a:srgbClr val="2E6F9E"/>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8C1515"/>
              </a:solidFill>
            </c:spPr>
          </c:dPt>
          <c:dPt>
            <c:idx val="9"/>
            <c:invertIfNegative val="0"/>
            <c:spPr>
              <a:solidFill xmlns:a="http://schemas.openxmlformats.org/drawingml/2006/main">
                <a:srgbClr val="8C1515"/>
              </a:solidFill>
            </c:spPr>
          </c:dPt>
          <c:cat>
            <c:strLit>
              <c:ptCount val="10"/>
              <c:pt idx="0">
                <c:v>NO DATA</c:v>
              </c:pt>
              <c:pt idx="1">
                <c:v>NO CODEBOOK</c:v>
              </c:pt>
              <c:pt idx="2">
                <c:v>ANIMAL</c:v>
              </c:pt>
              <c:pt idx="3">
                <c:v>RESTRICTED</c:v>
              </c:pt>
              <c:pt idx="4">
                <c:v>OMICS + GEN</c:v>
              </c:pt>
              <c:pt idx="5">
                <c:v>ACTIVITY + MET</c:v>
              </c:pt>
              <c:pt idx="6">
                <c:v>DIET + BODY</c:v>
              </c:pt>
              <c:pt idx="7">
                <c:v>CPET-RICH</c:v>
              </c:pt>
              <c:pt idx="8">
                <c:v>MET + EX + GEN</c:v>
              </c:pt>
              <c:pt idx="9">
                <c:v>MOTRPAC-LIKE</c:v>
              </c:pt>
            </c:strLit>
          </c:cat>
          <c:val>
            <c:numLit>
              <c:formatCode>0%</c:formatCode>
              <c:ptCount val="10"/>
              <c:pt idx="0">
                <c:v>0.364</c:v>
              </c:pt>
              <c:pt idx="1">
                <c:v>0.545</c:v>
              </c:pt>
              <c:pt idx="2">
                <c:v>0.636</c:v>
              </c:pt>
              <c:pt idx="3">
                <c:v>0.636</c:v>
              </c:pt>
              <c:pt idx="4">
                <c:v>0.727</c:v>
              </c:pt>
              <c:pt idx="5">
                <c:v>0.818</c:v>
              </c:pt>
              <c:pt idx="6">
                <c:v>0.818</c:v>
              </c:pt>
              <c:pt idx="7">
                <c:v>0.909</c:v>
              </c:pt>
              <c:pt idx="8">
                <c:v>1</c:v>
              </c:pt>
              <c:pt idx="9">
                <c:v>1</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00505C"/>
              </a:solidFill>
            </c:spPr>
          </c:dPt>
          <c:dPt>
            <c:idx val="2"/>
            <c:invertIfNegative val="0"/>
            <c:spPr>
              <a:solidFill xmlns:a="http://schemas.openxmlformats.org/drawingml/2006/main">
                <a:srgbClr val="175E54"/>
              </a:solidFill>
            </c:spPr>
          </c:dPt>
          <c:dPt>
            <c:idx val="3"/>
            <c:invertIfNegative val="0"/>
            <c:spPr>
              <a:solidFill xmlns:a="http://schemas.openxmlformats.org/drawingml/2006/main">
                <a:srgbClr val="8C1515"/>
              </a:solidFill>
            </c:spPr>
          </c:dPt>
          <c:cat>
            <c:strLit>
              <c:ptCount val="4"/>
              <c:pt idx="0">
                <c:v>QUALITY SCORE AGREEMENT</c:v>
              </c:pt>
              <c:pt idx="1">
                <c:v>REVIEW-STATUS ACCURACY</c:v>
              </c:pt>
              <c:pt idx="2">
                <c:v>REVIEW CAPTURE</c:v>
              </c:pt>
              <c:pt idx="3">
                <c:v>CANDIDATE PRECISION</c:v>
              </c:pt>
            </c:strLit>
          </c:cat>
          <c:val>
            <c:numLit>
              <c:formatCode>0%</c:formatCode>
              <c:ptCount val="4"/>
              <c:pt idx="0">
                <c:v>0.8</c:v>
              </c:pt>
              <c:pt idx="1">
                <c:v>1</c:v>
              </c:pt>
              <c:pt idx="2">
                <c:v>1</c:v>
              </c:pt>
              <c:pt idx="3">
                <c:v>1</c:v>
              </c:pt>
            </c:numLit>
          </c:val>
        </c:ser>
        <c:dLbls>
          <c:txPr>
            <a:bodyPr xmlns:a="http://schemas.openxmlformats.org/drawingml/2006/main" anchorCtr="1"/>
            <a:lstStyle xmlns:a="http://schemas.openxmlformats.org/drawingml/2006/main"/>
            <a:p xmlns:a="http://schemas.openxmlformats.org/drawingml/2006/main">
              <a:pPr>
                <a:defRPr sz="825" b="1">
                  <a:solidFill>
                    <a:srgbClr val="FFFFFF"/>
                  </a:solidFill>
                </a:defRPr>
              </a:pPr>
            </a:p>
          </c:txPr>
          <c:dLblPos val="inEnd"/>
          <c:showLegendKey val="0"/>
          <c:showVal val="1"/>
          <c:showCatName val="0"/>
          <c:showSerName val="0"/>
          <c:showPercent val="0"/>
          <c:showBubbleSize val="0"/>
          <c:showLeaderLines val="0"/>
        </c:dLbls>
        <c:gapWidth val="46"/>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675">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MetaboTyping Agentic Workbench</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Gene-, metabolite-, study-, and variable-led evidence reuse</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Scale amplifies the comparability problem</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65fa469ba694bc3"/>
          <a:stretch xmlns:a="http://schemas.openxmlformats.org/drawingml/2006/main"/>
        </p:blipFill>
        <p:spPr>
          <a:xfrm xmlns:a="http://schemas.openxmlformats.org/drawingml/2006/main">
            <a:off x="932655" y="1028700"/>
            <a:ext cx="4983165" cy="3429000"/>
          </a:xfrm>
          <a:prstGeom xmlns:a="http://schemas.openxmlformats.org/drawingml/2006/main" prst="rect">
            <a:avLst/>
          </a:prstGeom>
        </p:spPr>
      </p:pic>
      <p:sp>
        <p:nvSpPr>
          <p:cNvPr id="3" name="corpus-metric-1">
            <a:extLst xmlns:a="http://schemas.openxmlformats.org/drawingml/2006/main">
              <a:ext uri="{FF2B5EF4-FFF2-40B4-BE49-F238E27FC236}">
                <a16:creationId xmlns:a16="http://schemas.microsoft.com/office/drawing/2014/main" id="{47EA82CA-FC65-44E5-8643-D76B32930E67}"/>
              </a:ext>
            </a:extLst>
          </p:cNvPr>
          <p:cNvSpPr>
            <a:spLocks xmlns:a="http://schemas.openxmlformats.org/drawingml/2006/main" noGrp="1"/>
          </p:cNvSpPr>
          <p:nvPr/>
        </p:nvSpPr>
        <p:spPr>
          <a:xfrm xmlns:a="http://schemas.openxmlformats.org/drawingml/2006/main">
            <a:off x="6381750" y="13144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8C1515"/>
                </a:solidFill>
                <a:latin typeface="Arial"/>
                <a:ea typeface="Arial"/>
                <a:cs typeface="Arial"/>
              </a:defRPr>
            </a:pPr>
            <a:r>
              <a:rPr sz="3600" b="1">
                <a:solidFill>
                  <a:srgbClr val="8C1515"/>
                </a:solidFill>
                <a:latin typeface="Arial"/>
                <a:ea typeface="Arial"/>
                <a:cs typeface="Arial"/>
              </a:rPr>
              <a:t>4,499</a:t>
            </a:r>
          </a:p>
        </p:txBody>
      </p:sp>
      <p:sp>
        <p:nvSpPr>
          <p:cNvPr id="4" name="corpus-label-1">
            <a:extLst xmlns:a="http://schemas.openxmlformats.org/drawingml/2006/main">
              <a:ext uri="{FF2B5EF4-FFF2-40B4-BE49-F238E27FC236}">
                <a16:creationId xmlns:a16="http://schemas.microsoft.com/office/drawing/2014/main" id="{97033025-7B78-4A52-9ED7-C1497C2C8F3C}"/>
              </a:ext>
            </a:extLst>
          </p:cNvPr>
          <p:cNvSpPr>
            <a:spLocks xmlns:a="http://schemas.openxmlformats.org/drawingml/2006/main" noGrp="1"/>
          </p:cNvSpPr>
          <p:nvPr/>
        </p:nvSpPr>
        <p:spPr>
          <a:xfrm xmlns:a="http://schemas.openxmlformats.org/drawingml/2006/main">
            <a:off x="6381750" y="1857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study summaries</a:t>
            </a:r>
          </a:p>
        </p:txBody>
      </p:sp>
      <p:sp>
        <p:nvSpPr>
          <p:cNvPr id="5" name="corpus-metric-2">
            <a:extLst xmlns:a="http://schemas.openxmlformats.org/drawingml/2006/main">
              <a:ext uri="{FF2B5EF4-FFF2-40B4-BE49-F238E27FC236}">
                <a16:creationId xmlns:a16="http://schemas.microsoft.com/office/drawing/2014/main" id="{D7228A40-3798-42C4-AE83-D4EFB992BF22}"/>
              </a:ext>
            </a:extLst>
          </p:cNvPr>
          <p:cNvSpPr>
            <a:spLocks xmlns:a="http://schemas.openxmlformats.org/drawingml/2006/main" noGrp="1"/>
          </p:cNvSpPr>
          <p:nvPr/>
        </p:nvSpPr>
        <p:spPr>
          <a:xfrm xmlns:a="http://schemas.openxmlformats.org/drawingml/2006/main">
            <a:off x="6381750" y="23431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00505C"/>
                </a:solidFill>
                <a:latin typeface="Arial"/>
                <a:ea typeface="Arial"/>
                <a:cs typeface="Arial"/>
              </a:defRPr>
            </a:pPr>
            <a:r>
              <a:rPr sz="3600" b="1">
                <a:solidFill>
                  <a:srgbClr val="00505C"/>
                </a:solidFill>
                <a:latin typeface="Arial"/>
                <a:ea typeface="Arial"/>
                <a:cs typeface="Arial"/>
              </a:rPr>
              <a:t>7,367</a:t>
            </a:r>
          </a:p>
        </p:txBody>
      </p:sp>
      <p:sp>
        <p:nvSpPr>
          <p:cNvPr id="6" name="corpus-label-2">
            <a:extLst xmlns:a="http://schemas.openxmlformats.org/drawingml/2006/main">
              <a:ext uri="{FF2B5EF4-FFF2-40B4-BE49-F238E27FC236}">
                <a16:creationId xmlns:a16="http://schemas.microsoft.com/office/drawing/2014/main" id="{57FC2633-2071-4589-8B7A-1FA6F3ADE681}"/>
              </a:ext>
            </a:extLst>
          </p:cNvPr>
          <p:cNvSpPr>
            <a:spLocks xmlns:a="http://schemas.openxmlformats.org/drawingml/2006/main" noGrp="1"/>
          </p:cNvSpPr>
          <p:nvPr/>
        </p:nvSpPr>
        <p:spPr>
          <a:xfrm xmlns:a="http://schemas.openxmlformats.org/drawingml/2006/main">
            <a:off x="6381750" y="28860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analysis records</a:t>
            </a:r>
          </a:p>
        </p:txBody>
      </p:sp>
      <p:sp>
        <p:nvSpPr>
          <p:cNvPr id="7" name="corpus-takeaway">
            <a:extLst xmlns:a="http://schemas.openxmlformats.org/drawingml/2006/main">
              <a:ext uri="{FF2B5EF4-FFF2-40B4-BE49-F238E27FC236}">
                <a16:creationId xmlns:a16="http://schemas.microsoft.com/office/drawing/2014/main" id="{2FA3076E-1FEF-427B-8F33-0FF875EF4581}"/>
              </a:ext>
            </a:extLst>
          </p:cNvPr>
          <p:cNvSpPr>
            <a:spLocks xmlns:a="http://schemas.openxmlformats.org/drawingml/2006/main" noGrp="1"/>
          </p:cNvSpPr>
          <p:nvPr/>
        </p:nvSpPr>
        <p:spPr>
          <a:xfrm xmlns:a="http://schemas.openxmlformats.org/drawingml/2006/main">
            <a:off x="6248400" y="34766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More records create more opportunities for hidden incompatibility.</a:t>
            </a:r>
          </a:p>
        </p:txBody>
      </p:sp>
    </p:spTree>
    <p:extLst>
      <p:ext uri="{BB962C8B-B14F-4D97-AF65-F5344CB8AC3E}">
        <p14:creationId xmlns:p14="http://schemas.microsoft.com/office/powerpoint/2010/main" val="87743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Six reviewable stages move evidence to a report</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Every stage can pause, abstain, or return to human review</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STAGE 1</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Find studies</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rank candidates</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STAGE 2</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Extract</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metadata cards</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STAGE 3</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Harmonize</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RefMet + variables</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STAGE 4</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Analyze</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study contrasts</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5</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Summarize</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evidence + limits</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HUMAN GATES</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identity • protocol • estimand</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TRACEABLE ARTIFACTS</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typed tables + provenance</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6 · REPORT</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review packet + cited figures</a:t>
            </a:r>
          </a:p>
        </p:txBody>
      </p:sp>
    </p:spTree>
    <p:extLst>
      <p:ext uri="{BB962C8B-B14F-4D97-AF65-F5344CB8AC3E}">
        <p14:creationId xmlns:p14="http://schemas.microsoft.com/office/powerpoint/2010/main" val="8774387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ChatGPT answers; skills standardize; agents execute</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Same model; different contract: answer or orchestrate.</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CONVERSATION</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ChatGPT</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responds to prompts</a:t>
            </a:r>
          </a:p>
        </p:txBody>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REUSABLE METHOD</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Skill</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instructions + checks</a:t>
            </a:r>
          </a:p>
        </p:txBody>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GOAL-DIRECTED</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Agent</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plans, tools, loops</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USER ORCHESTRATES</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ask → inspect → ask again</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NOT A WORKER</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called by a model or agent</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AGENT ORCHESTRATES</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selects skills + tools</a:t>
            </a:r>
          </a:p>
        </p:txBody>
      </p:sp>
    </p:spTree>
    <p:extLst>
      <p:ext uri="{BB962C8B-B14F-4D97-AF65-F5344CB8AC3E}">
        <p14:creationId xmlns:p14="http://schemas.microsoft.com/office/powerpoint/2010/main" val="8774387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Every evidence path stays traceable</a:t>
            </a:r>
          </a:p>
        </p:txBody>
      </p:sp>
      <p:sp>
        <p:nvSpPr>
          <p:cNvPr id="4" name="architecture-label-entry">
            <a:extLst xmlns:a="http://schemas.openxmlformats.org/drawingml/2006/main">
              <a:ext uri="{FF2B5EF4-FFF2-40B4-BE49-F238E27FC236}">
                <a16:creationId xmlns:a16="http://schemas.microsoft.com/office/drawing/2014/main" id="{9C69249F-7669-4DBB-A2CD-512CC501716F}"/>
              </a:ext>
            </a:extLst>
          </p:cNvPr>
          <p:cNvSpPr>
            <a:spLocks xmlns:a="http://schemas.openxmlformats.org/drawingml/2006/main" noGrp="1"/>
          </p:cNvSpPr>
          <p:nvPr/>
        </p:nvSpPr>
        <p:spPr>
          <a:xfrm xmlns:a="http://schemas.openxmlformats.org/drawingml/2006/main">
            <a:off x="742950" y="10572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EVIDENCE ENTRY</a:t>
            </a:r>
          </a:p>
        </p:txBody>
      </p:sp>
      <p:sp>
        <p:nvSpPr>
          <p:cNvPr id="5" name="architecture-label-retrieval">
            <a:extLst xmlns:a="http://schemas.openxmlformats.org/drawingml/2006/main">
              <a:ext uri="{FF2B5EF4-FFF2-40B4-BE49-F238E27FC236}">
                <a16:creationId xmlns:a16="http://schemas.microsoft.com/office/drawing/2014/main" id="{4F107EED-7782-4C0E-8434-4011B1E967B6}"/>
              </a:ext>
            </a:extLst>
          </p:cNvPr>
          <p:cNvSpPr>
            <a:spLocks xmlns:a="http://schemas.openxmlformats.org/drawingml/2006/main" noGrp="1"/>
          </p:cNvSpPr>
          <p:nvPr/>
        </p:nvSpPr>
        <p:spPr>
          <a:xfrm xmlns:a="http://schemas.openxmlformats.org/drawingml/2006/main">
            <a:off x="2476500" y="10572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ALLOWLISTED RETRIEVAL</a:t>
            </a:r>
          </a:p>
        </p:txBody>
      </p:sp>
      <p:sp>
        <p:nvSpPr>
          <p:cNvPr id="6" name="architecture-label-appraisal">
            <a:extLst xmlns:a="http://schemas.openxmlformats.org/drawingml/2006/main">
              <a:ext uri="{FF2B5EF4-FFF2-40B4-BE49-F238E27FC236}">
                <a16:creationId xmlns:a16="http://schemas.microsoft.com/office/drawing/2014/main" id="{4EAB09A2-42EA-436B-A415-6D06DEF3F607}"/>
              </a:ext>
            </a:extLst>
          </p:cNvPr>
          <p:cNvSpPr>
            <a:spLocks xmlns:a="http://schemas.openxmlformats.org/drawingml/2006/main" noGrp="1"/>
          </p:cNvSpPr>
          <p:nvPr/>
        </p:nvSpPr>
        <p:spPr>
          <a:xfrm xmlns:a="http://schemas.openxmlformats.org/drawingml/2006/main">
            <a:off x="476250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OFFLINE APPRAISAL</a:t>
            </a:r>
          </a:p>
        </p:txBody>
      </p:sp>
      <p:sp>
        <p:nvSpPr>
          <p:cNvPr id="7" name="architecture-label-review">
            <a:extLst xmlns:a="http://schemas.openxmlformats.org/drawingml/2006/main">
              <a:ext uri="{FF2B5EF4-FFF2-40B4-BE49-F238E27FC236}">
                <a16:creationId xmlns:a16="http://schemas.microsoft.com/office/drawing/2014/main" id="{68212A1E-4ED5-461D-B21E-14D1365BD794}"/>
              </a:ext>
            </a:extLst>
          </p:cNvPr>
          <p:cNvSpPr>
            <a:spLocks xmlns:a="http://schemas.openxmlformats.org/drawingml/2006/main" noGrp="1"/>
          </p:cNvSpPr>
          <p:nvPr/>
        </p:nvSpPr>
        <p:spPr>
          <a:xfrm xmlns:a="http://schemas.openxmlformats.org/drawingml/2006/main">
            <a:off x="676275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HUMAN GATES</a:t>
            </a:r>
          </a:p>
        </p:txBody>
      </p:sp>
      <p:sp>
        <p:nvSpPr>
          <p:cNvPr id="8" name="entry-gene-card">
            <a:extLst xmlns:a="http://schemas.openxmlformats.org/drawingml/2006/main">
              <a:ext uri="{FF2B5EF4-FFF2-40B4-BE49-F238E27FC236}">
                <a16:creationId xmlns:a16="http://schemas.microsoft.com/office/drawing/2014/main" id="{CECD7277-6B28-45AB-AA5E-2E92F3C4FE3A}"/>
              </a:ext>
            </a:extLst>
          </p:cNvPr>
          <p:cNvSpPr>
            <a:spLocks xmlns:a="http://schemas.openxmlformats.org/drawingml/2006/main" noGrp="1"/>
          </p:cNvSpPr>
          <p:nvPr/>
        </p:nvSpPr>
        <p:spPr>
          <a:xfrm xmlns:a="http://schemas.openxmlformats.org/drawingml/2006/main">
            <a:off x="742950" y="1381125"/>
            <a:ext cx="1428750" cy="952500"/>
          </a:xfrm>
          <a:prstGeom xmlns:a="http://schemas.openxmlformats.org/drawingml/2006/main" prst="roundRect">
            <a:avLst>
              <a:gd name="adj" fmla="val 12000"/>
            </a:avLst>
          </a:prstGeom>
          <a:solidFill xmlns:a="http://schemas.openxmlformats.org/drawingml/2006/main">
            <a:srgbClr val="F2EAF1"/>
          </a:solidFill>
          <a:ln xmlns:a="http://schemas.openxmlformats.org/drawingml/2006/main" w="11906">
            <a:solidFill>
              <a:srgbClr val="B998B3"/>
            </a:solidFill>
            <a:prstDash val="solid"/>
          </a:ln>
        </p:spPr>
      </p:sp>
      <p:sp>
        <p:nvSpPr>
          <p:cNvPr id="9" name="entry-gene-eyebrow">
            <a:extLst xmlns:a="http://schemas.openxmlformats.org/drawingml/2006/main">
              <a:ext uri="{FF2B5EF4-FFF2-40B4-BE49-F238E27FC236}">
                <a16:creationId xmlns:a16="http://schemas.microsoft.com/office/drawing/2014/main" id="{45AC8B8C-EB06-4A15-94EC-47510644E96C}"/>
              </a:ext>
            </a:extLst>
          </p:cNvPr>
          <p:cNvSpPr>
            <a:spLocks xmlns:a="http://schemas.openxmlformats.org/drawingml/2006/main" noGrp="1"/>
          </p:cNvSpPr>
          <p:nvPr/>
        </p:nvSpPr>
        <p:spPr>
          <a:xfrm xmlns:a="http://schemas.openxmlformats.org/drawingml/2006/main">
            <a:off x="857250" y="1476375"/>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START WITH</a:t>
            </a:r>
          </a:p>
        </p:txBody>
      </p:sp>
      <p:sp>
        <p:nvSpPr>
          <p:cNvPr id="10" name="entry-gene-title">
            <a:extLst xmlns:a="http://schemas.openxmlformats.org/drawingml/2006/main">
              <a:ext uri="{FF2B5EF4-FFF2-40B4-BE49-F238E27FC236}">
                <a16:creationId xmlns:a16="http://schemas.microsoft.com/office/drawing/2014/main" id="{2433AE50-2A16-4E1B-99E8-D6401A0C17A4}"/>
              </a:ext>
            </a:extLst>
          </p:cNvPr>
          <p:cNvSpPr>
            <a:spLocks xmlns:a="http://schemas.openxmlformats.org/drawingml/2006/main" noGrp="1"/>
          </p:cNvSpPr>
          <p:nvPr/>
        </p:nvSpPr>
        <p:spPr>
          <a:xfrm xmlns:a="http://schemas.openxmlformats.org/drawingml/2006/main">
            <a:off x="857250" y="17049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 / protein</a:t>
            </a:r>
          </a:p>
        </p:txBody>
      </p:sp>
      <p:sp>
        <p:nvSpPr>
          <p:cNvPr id="11" name="entry-gene-detail">
            <a:extLst xmlns:a="http://schemas.openxmlformats.org/drawingml/2006/main">
              <a:ext uri="{FF2B5EF4-FFF2-40B4-BE49-F238E27FC236}">
                <a16:creationId xmlns:a16="http://schemas.microsoft.com/office/drawing/2014/main" id="{A74134C8-3859-4CDA-8AF0-7BAF509340C5}"/>
              </a:ext>
            </a:extLst>
          </p:cNvPr>
          <p:cNvSpPr>
            <a:spLocks xmlns:a="http://schemas.openxmlformats.org/drawingml/2006/main" noGrp="1"/>
          </p:cNvSpPr>
          <p:nvPr/>
        </p:nvSpPr>
        <p:spPr>
          <a:xfrm xmlns:a="http://schemas.openxmlformats.org/drawingml/2006/main">
            <a:off x="857250" y="20193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6686"/>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 alias • accession</a:t>
            </a:r>
          </a:p>
        </p:txBody>
      </p:sp>
      <p:sp>
        <p:nvSpPr>
          <p:cNvPr id="12" name="entry-metabolite-card">
            <a:extLst xmlns:a="http://schemas.openxmlformats.org/drawingml/2006/main">
              <a:ext uri="{FF2B5EF4-FFF2-40B4-BE49-F238E27FC236}">
                <a16:creationId xmlns:a16="http://schemas.microsoft.com/office/drawing/2014/main" id="{D5ABC203-30FD-4C36-AE89-CDC613100875}"/>
              </a:ext>
            </a:extLst>
          </p:cNvPr>
          <p:cNvSpPr>
            <a:spLocks xmlns:a="http://schemas.openxmlformats.org/drawingml/2006/main" noGrp="1"/>
          </p:cNvSpPr>
          <p:nvPr/>
        </p:nvSpPr>
        <p:spPr>
          <a:xfrm xmlns:a="http://schemas.openxmlformats.org/drawingml/2006/main">
            <a:off x="742950" y="2686050"/>
            <a:ext cx="1428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13" name="entry-metabolite-eyebrow">
            <a:extLst xmlns:a="http://schemas.openxmlformats.org/drawingml/2006/main">
              <a:ext uri="{FF2B5EF4-FFF2-40B4-BE49-F238E27FC236}">
                <a16:creationId xmlns:a16="http://schemas.microsoft.com/office/drawing/2014/main" id="{DAC953F2-9657-4B90-A645-4D8727786BDA}"/>
              </a:ext>
            </a:extLst>
          </p:cNvPr>
          <p:cNvSpPr>
            <a:spLocks xmlns:a="http://schemas.openxmlformats.org/drawingml/2006/main" noGrp="1"/>
          </p:cNvSpPr>
          <p:nvPr/>
        </p:nvSpPr>
        <p:spPr>
          <a:xfrm xmlns:a="http://schemas.openxmlformats.org/drawingml/2006/main">
            <a:off x="857250" y="27813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START WITH</a:t>
            </a:r>
          </a:p>
        </p:txBody>
      </p:sp>
      <p:sp>
        <p:nvSpPr>
          <p:cNvPr id="14" name="entry-metabolite-title">
            <a:extLst xmlns:a="http://schemas.openxmlformats.org/drawingml/2006/main">
              <a:ext uri="{FF2B5EF4-FFF2-40B4-BE49-F238E27FC236}">
                <a16:creationId xmlns:a16="http://schemas.microsoft.com/office/drawing/2014/main" id="{B6DE457F-CD04-498E-9CF1-F9482BCAB822}"/>
              </a:ext>
            </a:extLst>
          </p:cNvPr>
          <p:cNvSpPr>
            <a:spLocks xmlns:a="http://schemas.openxmlformats.org/drawingml/2006/main" noGrp="1"/>
          </p:cNvSpPr>
          <p:nvPr/>
        </p:nvSpPr>
        <p:spPr>
          <a:xfrm xmlns:a="http://schemas.openxmlformats.org/drawingml/2006/main">
            <a:off x="857250" y="30099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85509"/>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Metabolite / study</a:t>
            </a:r>
          </a:p>
        </p:txBody>
      </p:sp>
      <p:sp>
        <p:nvSpPr>
          <p:cNvPr id="15" name="entry-metabolite-detail">
            <a:extLst xmlns:a="http://schemas.openxmlformats.org/drawingml/2006/main">
              <a:ext uri="{FF2B5EF4-FFF2-40B4-BE49-F238E27FC236}">
                <a16:creationId xmlns:a16="http://schemas.microsoft.com/office/drawing/2014/main" id="{496714FA-227D-4B57-9156-4B0CB0535FD5}"/>
              </a:ext>
            </a:extLst>
          </p:cNvPr>
          <p:cNvSpPr>
            <a:spLocks xmlns:a="http://schemas.openxmlformats.org/drawingml/2006/main" noGrp="1"/>
          </p:cNvSpPr>
          <p:nvPr/>
        </p:nvSpPr>
        <p:spPr>
          <a:xfrm xmlns:a="http://schemas.openxmlformats.org/drawingml/2006/main">
            <a:off x="857250" y="33242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name • ID • m/z • paper</a:t>
            </a:r>
          </a:p>
        </p:txBody>
      </p:sp>
      <p:sp>
        <p:nvSpPr>
          <p:cNvPr id="16" name="entry-gene-arrow">
            <a:extLst xmlns:a="http://schemas.openxmlformats.org/drawingml/2006/main">
              <a:ext uri="{FF2B5EF4-FFF2-40B4-BE49-F238E27FC236}">
                <a16:creationId xmlns:a16="http://schemas.microsoft.com/office/drawing/2014/main" id="{4B6A7945-5FD5-42B5-AC86-CEB0A7437CC4}"/>
              </a:ext>
            </a:extLst>
          </p:cNvPr>
          <p:cNvSpPr>
            <a:spLocks xmlns:a="http://schemas.openxmlformats.org/drawingml/2006/main" noGrp="1"/>
          </p:cNvSpPr>
          <p:nvPr/>
        </p:nvSpPr>
        <p:spPr>
          <a:xfrm xmlns:a="http://schemas.openxmlformats.org/drawingml/2006/main">
            <a:off x="2228850" y="1695450"/>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7" name="entry-metabolite-arrow">
            <a:extLst xmlns:a="http://schemas.openxmlformats.org/drawingml/2006/main">
              <a:ext uri="{FF2B5EF4-FFF2-40B4-BE49-F238E27FC236}">
                <a16:creationId xmlns:a16="http://schemas.microsoft.com/office/drawing/2014/main" id="{21CF68A8-A127-4F2E-AED8-848085788379}"/>
              </a:ext>
            </a:extLst>
          </p:cNvPr>
          <p:cNvSpPr>
            <a:spLocks xmlns:a="http://schemas.openxmlformats.org/drawingml/2006/main" noGrp="1"/>
          </p:cNvSpPr>
          <p:nvPr/>
        </p:nvSpPr>
        <p:spPr>
          <a:xfrm xmlns:a="http://schemas.openxmlformats.org/drawingml/2006/main">
            <a:off x="2228850" y="3000375"/>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8" name="retrieval-gene-card">
            <a:extLst xmlns:a="http://schemas.openxmlformats.org/drawingml/2006/main">
              <a:ext uri="{FF2B5EF4-FFF2-40B4-BE49-F238E27FC236}">
                <a16:creationId xmlns:a16="http://schemas.microsoft.com/office/drawing/2014/main" id="{4DA92E6F-BF1A-43BE-BE93-9B6A376E7F7B}"/>
              </a:ext>
            </a:extLst>
          </p:cNvPr>
          <p:cNvSpPr>
            <a:spLocks xmlns:a="http://schemas.openxmlformats.org/drawingml/2006/main" noGrp="1"/>
          </p:cNvSpPr>
          <p:nvPr/>
        </p:nvSpPr>
        <p:spPr>
          <a:xfrm xmlns:a="http://schemas.openxmlformats.org/drawingml/2006/main">
            <a:off x="2476500" y="1381125"/>
            <a:ext cx="1809750" cy="952500"/>
          </a:xfrm>
          <a:prstGeom xmlns:a="http://schemas.openxmlformats.org/drawingml/2006/main" prst="roundRect">
            <a:avLst>
              <a:gd name="adj" fmla="val 12000"/>
            </a:avLst>
          </a:prstGeom>
          <a:solidFill xmlns:a="http://schemas.openxmlformats.org/drawingml/2006/main">
            <a:srgbClr val="F8ECEB"/>
          </a:solidFill>
          <a:ln xmlns:a="http://schemas.openxmlformats.org/drawingml/2006/main" w="11906">
            <a:solidFill>
              <a:srgbClr val="D4A19C"/>
            </a:solidFill>
            <a:prstDash val="solid"/>
          </a:ln>
        </p:spPr>
      </p:sp>
      <p:sp>
        <p:nvSpPr>
          <p:cNvPr id="19" name="retrieval-gene-eyebrow">
            <a:extLst xmlns:a="http://schemas.openxmlformats.org/drawingml/2006/main">
              <a:ext uri="{FF2B5EF4-FFF2-40B4-BE49-F238E27FC236}">
                <a16:creationId xmlns:a16="http://schemas.microsoft.com/office/drawing/2014/main" id="{1421B9ED-2244-4CD9-B1D0-F708DD226909}"/>
              </a:ext>
            </a:extLst>
          </p:cNvPr>
          <p:cNvSpPr>
            <a:spLocks xmlns:a="http://schemas.openxmlformats.org/drawingml/2006/main" noGrp="1"/>
          </p:cNvSpPr>
          <p:nvPr/>
        </p:nvSpPr>
        <p:spPr>
          <a:xfrm xmlns:a="http://schemas.openxmlformats.org/drawingml/2006/main">
            <a:off x="2590800" y="14763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ONLINE</a:t>
            </a:r>
          </a:p>
        </p:txBody>
      </p:sp>
      <p:sp>
        <p:nvSpPr>
          <p:cNvPr id="20" name="retrieval-gene-title">
            <a:extLst xmlns:a="http://schemas.openxmlformats.org/drawingml/2006/main">
              <a:ext uri="{FF2B5EF4-FFF2-40B4-BE49-F238E27FC236}">
                <a16:creationId xmlns:a16="http://schemas.microsoft.com/office/drawing/2014/main" id="{927D6CA6-68D6-469A-8AE3-58A9EB85A7A6}"/>
              </a:ext>
            </a:extLst>
          </p:cNvPr>
          <p:cNvSpPr>
            <a:spLocks xmlns:a="http://schemas.openxmlformats.org/drawingml/2006/main" noGrp="1"/>
          </p:cNvSpPr>
          <p:nvPr/>
        </p:nvSpPr>
        <p:spPr>
          <a:xfrm xmlns:a="http://schemas.openxmlformats.org/drawingml/2006/main">
            <a:off x="2590800" y="170497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4832"/>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MetGENE + MW MGP</a:t>
            </a:r>
          </a:p>
        </p:txBody>
      </p:sp>
      <p:sp>
        <p:nvSpPr>
          <p:cNvPr id="21" name="retrieval-gene-detail">
            <a:extLst xmlns:a="http://schemas.openxmlformats.org/drawingml/2006/main">
              <a:ext uri="{FF2B5EF4-FFF2-40B4-BE49-F238E27FC236}">
                <a16:creationId xmlns:a16="http://schemas.microsoft.com/office/drawing/2014/main" id="{B19A66E9-08DA-4D7A-A8D1-1B1F4491C398}"/>
              </a:ext>
            </a:extLst>
          </p:cNvPr>
          <p:cNvSpPr>
            <a:spLocks xmlns:a="http://schemas.openxmlformats.org/drawingml/2006/main" noGrp="1"/>
          </p:cNvSpPr>
          <p:nvPr/>
        </p:nvSpPr>
        <p:spPr>
          <a:xfrm xmlns:a="http://schemas.openxmlformats.org/drawingml/2006/main">
            <a:off x="2590800" y="2019300"/>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5423"/>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annotation contexts; licence-aware</a:t>
            </a:r>
          </a:p>
        </p:txBody>
      </p:sp>
      <p:sp>
        <p:nvSpPr>
          <p:cNvPr id="22" name="retrieval-evidence-card">
            <a:extLst xmlns:a="http://schemas.openxmlformats.org/drawingml/2006/main">
              <a:ext uri="{FF2B5EF4-FFF2-40B4-BE49-F238E27FC236}">
                <a16:creationId xmlns:a16="http://schemas.microsoft.com/office/drawing/2014/main" id="{A892A25D-7E27-4D41-97C4-E5D781D933B3}"/>
              </a:ext>
            </a:extLst>
          </p:cNvPr>
          <p:cNvSpPr>
            <a:spLocks xmlns:a="http://schemas.openxmlformats.org/drawingml/2006/main" noGrp="1"/>
          </p:cNvSpPr>
          <p:nvPr/>
        </p:nvSpPr>
        <p:spPr>
          <a:xfrm xmlns:a="http://schemas.openxmlformats.org/drawingml/2006/main">
            <a:off x="2476500" y="2686050"/>
            <a:ext cx="1809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23" name="retrieval-evidence-eyebrow">
            <a:extLst xmlns:a="http://schemas.openxmlformats.org/drawingml/2006/main">
              <a:ext uri="{FF2B5EF4-FFF2-40B4-BE49-F238E27FC236}">
                <a16:creationId xmlns:a16="http://schemas.microsoft.com/office/drawing/2014/main" id="{E66FF280-E743-42C7-9022-876E93401CC1}"/>
              </a:ext>
            </a:extLst>
          </p:cNvPr>
          <p:cNvSpPr>
            <a:spLocks xmlns:a="http://schemas.openxmlformats.org/drawingml/2006/main" noGrp="1"/>
          </p:cNvSpPr>
          <p:nvPr/>
        </p:nvSpPr>
        <p:spPr>
          <a:xfrm xmlns:a="http://schemas.openxmlformats.org/drawingml/2006/main">
            <a:off x="2590800" y="2781300"/>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ONLINE</a:t>
            </a:r>
          </a:p>
        </p:txBody>
      </p:sp>
      <p:sp>
        <p:nvSpPr>
          <p:cNvPr id="24" name="retrieval-evidence-title">
            <a:extLst xmlns:a="http://schemas.openxmlformats.org/drawingml/2006/main">
              <a:ext uri="{FF2B5EF4-FFF2-40B4-BE49-F238E27FC236}">
                <a16:creationId xmlns:a16="http://schemas.microsoft.com/office/drawing/2014/main" id="{B1E444E8-96C8-47E4-A578-6DF29B609DBA}"/>
              </a:ext>
            </a:extLst>
          </p:cNvPr>
          <p:cNvSpPr>
            <a:spLocks xmlns:a="http://schemas.openxmlformats.org/drawingml/2006/main" noGrp="1"/>
          </p:cNvSpPr>
          <p:nvPr/>
        </p:nvSpPr>
        <p:spPr>
          <a:xfrm xmlns:a="http://schemas.openxmlformats.org/drawingml/2006/main">
            <a:off x="2590800" y="3009900"/>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 literature</a:t>
            </a:r>
          </a:p>
        </p:txBody>
      </p:sp>
      <p:sp>
        <p:nvSpPr>
          <p:cNvPr id="25" name="retrieval-evidence-detail">
            <a:extLst xmlns:a="http://schemas.openxmlformats.org/drawingml/2006/main">
              <a:ext uri="{FF2B5EF4-FFF2-40B4-BE49-F238E27FC236}">
                <a16:creationId xmlns:a16="http://schemas.microsoft.com/office/drawing/2014/main" id="{698BC3BB-DFA4-4047-9172-673E291B82C6}"/>
              </a:ext>
            </a:extLst>
          </p:cNvPr>
          <p:cNvSpPr>
            <a:spLocks xmlns:a="http://schemas.openxmlformats.org/drawingml/2006/main" noGrp="1"/>
          </p:cNvSpPr>
          <p:nvPr/>
        </p:nvSpPr>
        <p:spPr>
          <a:xfrm xmlns:a="http://schemas.openxmlformats.org/drawingml/2006/main">
            <a:off x="2590800" y="3324225"/>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study, effect, and paper indices</a:t>
            </a:r>
          </a:p>
        </p:txBody>
      </p:sp>
      <p:sp>
        <p:nvSpPr>
          <p:cNvPr id="26" name="gene-to-ledger">
            <a:extLst xmlns:a="http://schemas.openxmlformats.org/drawingml/2006/main">
              <a:ext uri="{FF2B5EF4-FFF2-40B4-BE49-F238E27FC236}">
                <a16:creationId xmlns:a16="http://schemas.microsoft.com/office/drawing/2014/main" id="{4FDB2FE5-9A89-4A13-AA46-07FD8AF44578}"/>
              </a:ext>
            </a:extLst>
          </p:cNvPr>
          <p:cNvSpPr>
            <a:spLocks xmlns:a="http://schemas.openxmlformats.org/drawingml/2006/main" noGrp="1"/>
          </p:cNvSpPr>
          <p:nvPr/>
        </p:nvSpPr>
        <p:spPr>
          <a:xfrm xmlns:a="http://schemas.openxmlformats.org/drawingml/2006/main">
            <a:off x="4362450" y="1695450"/>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7" name="evidence-to-ledger">
            <a:extLst xmlns:a="http://schemas.openxmlformats.org/drawingml/2006/main">
              <a:ext uri="{FF2B5EF4-FFF2-40B4-BE49-F238E27FC236}">
                <a16:creationId xmlns:a16="http://schemas.microsoft.com/office/drawing/2014/main" id="{042FE8D4-7EC9-4B9E-A242-97E5A1C5E900}"/>
              </a:ext>
            </a:extLst>
          </p:cNvPr>
          <p:cNvSpPr>
            <a:spLocks xmlns:a="http://schemas.openxmlformats.org/drawingml/2006/main" noGrp="1"/>
          </p:cNvSpPr>
          <p:nvPr/>
        </p:nvSpPr>
        <p:spPr>
          <a:xfrm xmlns:a="http://schemas.openxmlformats.org/drawingml/2006/main">
            <a:off x="4362450" y="3000375"/>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8" name="typed-ledgers-card">
            <a:extLst xmlns:a="http://schemas.openxmlformats.org/drawingml/2006/main">
              <a:ext uri="{FF2B5EF4-FFF2-40B4-BE49-F238E27FC236}">
                <a16:creationId xmlns:a16="http://schemas.microsoft.com/office/drawing/2014/main" id="{29B9EA7F-A246-4531-A0CE-8305B29C4B13}"/>
              </a:ext>
            </a:extLst>
          </p:cNvPr>
          <p:cNvSpPr>
            <a:spLocks xmlns:a="http://schemas.openxmlformats.org/drawingml/2006/main" noGrp="1"/>
          </p:cNvSpPr>
          <p:nvPr/>
        </p:nvSpPr>
        <p:spPr>
          <a:xfrm xmlns:a="http://schemas.openxmlformats.org/drawingml/2006/main">
            <a:off x="4762500" y="1571625"/>
            <a:ext cx="1619250" cy="1866900"/>
          </a:xfrm>
          <a:prstGeom xmlns:a="http://schemas.openxmlformats.org/drawingml/2006/main" prst="roundRect">
            <a:avLst>
              <a:gd name="adj" fmla="val 7059"/>
            </a:avLst>
          </a:prstGeom>
          <a:solidFill xmlns:a="http://schemas.openxmlformats.org/drawingml/2006/main">
            <a:srgbClr val="E9F2EF"/>
          </a:solidFill>
          <a:ln xmlns:a="http://schemas.openxmlformats.org/drawingml/2006/main" w="11906">
            <a:solidFill>
              <a:srgbClr val="8CB5AA"/>
            </a:solidFill>
            <a:prstDash val="solid"/>
          </a:ln>
        </p:spPr>
      </p:sp>
      <p:sp>
        <p:nvSpPr>
          <p:cNvPr id="29" name="typed-ledgers-eyebrow">
            <a:extLst xmlns:a="http://schemas.openxmlformats.org/drawingml/2006/main">
              <a:ext uri="{FF2B5EF4-FFF2-40B4-BE49-F238E27FC236}">
                <a16:creationId xmlns:a16="http://schemas.microsoft.com/office/drawing/2014/main" id="{38EC6363-A2E6-4E3D-B2F6-AC2BA1EA0455}"/>
              </a:ext>
            </a:extLst>
          </p:cNvPr>
          <p:cNvSpPr>
            <a:spLocks xmlns:a="http://schemas.openxmlformats.org/drawingml/2006/main" noGrp="1"/>
          </p:cNvSpPr>
          <p:nvPr/>
        </p:nvSpPr>
        <p:spPr>
          <a:xfrm xmlns:a="http://schemas.openxmlformats.org/drawingml/2006/main">
            <a:off x="491490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DETERMINISTIC</a:t>
            </a:r>
          </a:p>
        </p:txBody>
      </p:sp>
      <p:sp>
        <p:nvSpPr>
          <p:cNvPr id="30" name="typed-ledgers-title">
            <a:extLst xmlns:a="http://schemas.openxmlformats.org/drawingml/2006/main">
              <a:ext uri="{FF2B5EF4-FFF2-40B4-BE49-F238E27FC236}">
                <a16:creationId xmlns:a16="http://schemas.microsoft.com/office/drawing/2014/main" id="{F01C6302-6E02-44D0-8B8A-2DAD0E9D8883}"/>
              </a:ext>
            </a:extLst>
          </p:cNvPr>
          <p:cNvSpPr>
            <a:spLocks xmlns:a="http://schemas.openxmlformats.org/drawingml/2006/main" noGrp="1"/>
          </p:cNvSpPr>
          <p:nvPr/>
        </p:nvSpPr>
        <p:spPr>
          <a:xfrm xmlns:a="http://schemas.openxmlformats.org/drawingml/2006/main">
            <a:off x="491490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Typed ledgers</a:t>
            </a:r>
          </a:p>
        </p:txBody>
      </p:sp>
      <p:sp>
        <p:nvSpPr>
          <p:cNvPr id="31" name="typed-ledgers-detail">
            <a:extLst xmlns:a="http://schemas.openxmlformats.org/drawingml/2006/main">
              <a:ext uri="{FF2B5EF4-FFF2-40B4-BE49-F238E27FC236}">
                <a16:creationId xmlns:a16="http://schemas.microsoft.com/office/drawing/2014/main" id="{2733C2C2-E324-4E66-9CF3-F4B9610821DF}"/>
              </a:ext>
            </a:extLst>
          </p:cNvPr>
          <p:cNvSpPr>
            <a:spLocks xmlns:a="http://schemas.openxmlformats.org/drawingml/2006/main" noGrp="1"/>
          </p:cNvSpPr>
          <p:nvPr/>
        </p:nvSpPr>
        <p:spPr>
          <a:xfrm xmlns:a="http://schemas.openxmlformats.org/drawingml/2006/main">
            <a:off x="497205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inference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coverage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evidence cards</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review queue</a:t>
            </a:r>
          </a:p>
        </p:txBody>
      </p:sp>
      <p:sp>
        <p:nvSpPr>
          <p:cNvPr id="32" name="ledger-to-review">
            <a:extLst xmlns:a="http://schemas.openxmlformats.org/drawingml/2006/main">
              <a:ext uri="{FF2B5EF4-FFF2-40B4-BE49-F238E27FC236}">
                <a16:creationId xmlns:a16="http://schemas.microsoft.com/office/drawing/2014/main" id="{97D7E574-DC23-4338-A9B2-7A456E35DF85}"/>
              </a:ext>
            </a:extLst>
          </p:cNvPr>
          <p:cNvSpPr>
            <a:spLocks xmlns:a="http://schemas.openxmlformats.org/drawingml/2006/main" noGrp="1"/>
          </p:cNvSpPr>
          <p:nvPr/>
        </p:nvSpPr>
        <p:spPr>
          <a:xfrm xmlns:a="http://schemas.openxmlformats.org/drawingml/2006/main">
            <a:off x="6457950" y="2343150"/>
            <a:ext cx="228600" cy="32385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33" name="human-gates-card">
            <a:extLst xmlns:a="http://schemas.openxmlformats.org/drawingml/2006/main">
              <a:ext uri="{FF2B5EF4-FFF2-40B4-BE49-F238E27FC236}">
                <a16:creationId xmlns:a16="http://schemas.microsoft.com/office/drawing/2014/main" id="{21E9FBF3-EA69-4268-A849-3DAFD0F9F90E}"/>
              </a:ext>
            </a:extLst>
          </p:cNvPr>
          <p:cNvSpPr>
            <a:spLocks xmlns:a="http://schemas.openxmlformats.org/drawingml/2006/main" noGrp="1"/>
          </p:cNvSpPr>
          <p:nvPr/>
        </p:nvSpPr>
        <p:spPr>
          <a:xfrm xmlns:a="http://schemas.openxmlformats.org/drawingml/2006/main">
            <a:off x="6762750" y="1571625"/>
            <a:ext cx="1619250" cy="1866900"/>
          </a:xfrm>
          <a:prstGeom xmlns:a="http://schemas.openxmlformats.org/drawingml/2006/main" prst="roundRect">
            <a:avLst>
              <a:gd name="adj" fmla="val 7059"/>
            </a:avLst>
          </a:prstGeom>
          <a:solidFill xmlns:a="http://schemas.openxmlformats.org/drawingml/2006/main">
            <a:srgbClr val="FBF2E3"/>
          </a:solidFill>
          <a:ln xmlns:a="http://schemas.openxmlformats.org/drawingml/2006/main" w="11906">
            <a:solidFill>
              <a:srgbClr val="D8B36A"/>
            </a:solidFill>
            <a:prstDash val="solid"/>
          </a:ln>
        </p:spPr>
      </p:sp>
      <p:sp>
        <p:nvSpPr>
          <p:cNvPr id="34" name="human-gates-eyebrow">
            <a:extLst xmlns:a="http://schemas.openxmlformats.org/drawingml/2006/main">
              <a:ext uri="{FF2B5EF4-FFF2-40B4-BE49-F238E27FC236}">
                <a16:creationId xmlns:a16="http://schemas.microsoft.com/office/drawing/2014/main" id="{7DAD9276-AAE4-483F-8715-0F2F1ABDD197}"/>
              </a:ext>
            </a:extLst>
          </p:cNvPr>
          <p:cNvSpPr>
            <a:spLocks xmlns:a="http://schemas.openxmlformats.org/drawingml/2006/main" noGrp="1"/>
          </p:cNvSpPr>
          <p:nvPr/>
        </p:nvSpPr>
        <p:spPr>
          <a:xfrm xmlns:a="http://schemas.openxmlformats.org/drawingml/2006/main">
            <a:off x="691515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REVIEW REQUIRED</a:t>
            </a:r>
          </a:p>
        </p:txBody>
      </p:sp>
      <p:sp>
        <p:nvSpPr>
          <p:cNvPr id="35" name="human-gates-title">
            <a:extLst xmlns:a="http://schemas.openxmlformats.org/drawingml/2006/main">
              <a:ext uri="{FF2B5EF4-FFF2-40B4-BE49-F238E27FC236}">
                <a16:creationId xmlns:a16="http://schemas.microsoft.com/office/drawing/2014/main" id="{8AE67DE5-494C-4A26-9976-06E58A4A9DF6}"/>
              </a:ext>
            </a:extLst>
          </p:cNvPr>
          <p:cNvSpPr>
            <a:spLocks xmlns:a="http://schemas.openxmlformats.org/drawingml/2006/main" noGrp="1"/>
          </p:cNvSpPr>
          <p:nvPr/>
        </p:nvSpPr>
        <p:spPr>
          <a:xfrm xmlns:a="http://schemas.openxmlformats.org/drawingml/2006/main">
            <a:off x="691515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Decision gates</a:t>
            </a:r>
          </a:p>
        </p:txBody>
      </p:sp>
      <p:sp>
        <p:nvSpPr>
          <p:cNvPr id="36" name="human-gates-detail">
            <a:extLst xmlns:a="http://schemas.openxmlformats.org/drawingml/2006/main">
              <a:ext uri="{FF2B5EF4-FFF2-40B4-BE49-F238E27FC236}">
                <a16:creationId xmlns:a16="http://schemas.microsoft.com/office/drawing/2014/main" id="{891CCDBF-3B05-4808-AF2C-30413010690D}"/>
              </a:ext>
            </a:extLst>
          </p:cNvPr>
          <p:cNvSpPr>
            <a:spLocks xmlns:a="http://schemas.openxmlformats.org/drawingml/2006/main" noGrp="1"/>
          </p:cNvSpPr>
          <p:nvPr/>
        </p:nvSpPr>
        <p:spPr>
          <a:xfrm xmlns:a="http://schemas.openxmlformats.org/drawingml/2006/main">
            <a:off x="697230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licence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identity</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protocol</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estimand</a:t>
            </a:r>
          </a:p>
        </p:txBody>
      </p:sp>
      <p:sp>
        <p:nvSpPr>
          <p:cNvPr id="37" name="architecture-output-band">
            <a:extLst xmlns:a="http://schemas.openxmlformats.org/drawingml/2006/main">
              <a:ext uri="{FF2B5EF4-FFF2-40B4-BE49-F238E27FC236}">
                <a16:creationId xmlns:a16="http://schemas.microsoft.com/office/drawing/2014/main" id="{47D90A7B-0895-4CE0-8F73-C34AB96FB59C}"/>
              </a:ext>
            </a:extLst>
          </p:cNvPr>
          <p:cNvSpPr>
            <a:spLocks xmlns:a="http://schemas.openxmlformats.org/drawingml/2006/main" noGrp="1"/>
          </p:cNvSpPr>
          <p:nvPr/>
        </p:nvSpPr>
        <p:spPr>
          <a:xfrm xmlns:a="http://schemas.openxmlformats.org/drawingml/2006/main">
            <a:off x="4762500" y="3638550"/>
            <a:ext cx="3619500" cy="523875"/>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906">
            <a:solidFill>
              <a:srgbClr val="A9AAA8"/>
            </a:solidFill>
            <a:prstDash val="solid"/>
          </a:ln>
        </p:spPr>
      </p:sp>
      <p:sp>
        <p:nvSpPr>
          <p:cNvPr id="38" name="architecture-output-text">
            <a:extLst xmlns:a="http://schemas.openxmlformats.org/drawingml/2006/main">
              <a:ext uri="{FF2B5EF4-FFF2-40B4-BE49-F238E27FC236}">
                <a16:creationId xmlns:a16="http://schemas.microsoft.com/office/drawing/2014/main" id="{9B3E7128-F8D9-4332-AF70-2797F122F003}"/>
              </a:ext>
            </a:extLst>
          </p:cNvPr>
          <p:cNvSpPr>
            <a:spLocks xmlns:a="http://schemas.openxmlformats.org/drawingml/2006/main" noGrp="1"/>
          </p:cNvSpPr>
          <p:nvPr/>
        </p:nvSpPr>
        <p:spPr>
          <a:xfrm xmlns:a="http://schemas.openxmlformats.org/drawingml/2006/main">
            <a:off x="4914900" y="37338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Review packet + traceable artifacts</a:t>
            </a:r>
          </a:p>
        </p:txBody>
      </p:sp>
      <p:sp>
        <p:nvSpPr>
          <p:cNvPr id="39" name="architecture-output-limit">
            <a:extLst xmlns:a="http://schemas.openxmlformats.org/drawingml/2006/main">
              <a:ext uri="{FF2B5EF4-FFF2-40B4-BE49-F238E27FC236}">
                <a16:creationId xmlns:a16="http://schemas.microsoft.com/office/drawing/2014/main" id="{ABC49792-5A2A-4A88-8E34-6A197D7E966C}"/>
              </a:ext>
            </a:extLst>
          </p:cNvPr>
          <p:cNvSpPr>
            <a:spLocks xmlns:a="http://schemas.openxmlformats.org/drawingml/2006/main" noGrp="1"/>
          </p:cNvSpPr>
          <p:nvPr/>
        </p:nvSpPr>
        <p:spPr>
          <a:xfrm xmlns:a="http://schemas.openxmlformats.org/drawingml/2006/main">
            <a:off x="4914900" y="3943350"/>
            <a:ext cx="3314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a:solidFill>
                  <a:srgbClr val="4D4F53"/>
                </a:solidFill>
                <a:latin typeface="Arial"/>
                <a:ea typeface="Arial"/>
                <a:cs typeface="Arial"/>
              </a:defRPr>
            </a:pPr>
            <a:r>
              <a:rPr sz="750">
                <a:solidFill>
                  <a:srgbClr val="4D4F53"/>
                </a:solidFill>
                <a:latin typeface="Arial"/>
                <a:ea typeface="Arial"/>
                <a:cs typeface="Arial"/>
              </a:rPr>
              <a:t>No autonomous acceptance, pooling, or identity claim</a:t>
            </a:r>
          </a:p>
        </p:txBody>
      </p:sp>
    </p:spTree>
    <p:extLst>
      <p:ext uri="{BB962C8B-B14F-4D97-AF65-F5344CB8AC3E}">
        <p14:creationId xmlns:p14="http://schemas.microsoft.com/office/powerpoint/2010/main" val="87743875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Discovery preserves both candidates and mirages</a:t>
            </a:r>
          </a:p>
        </p:txBody>
      </p:sp>
      <p:graphicFrame>
        <p:nvGraphicFramePr>
          <p:cNvPr id="8" name="Chart"/>
          <p:cNvGraphicFramePr/>
          <p:nvPr/>
        </p:nvGraphicFramePr>
        <p:xfrm>
          <a:off xmlns:a="http://schemas.openxmlformats.org/drawingml/2006/main" x="952500" y="1104900"/>
          <a:ext xmlns:a="http://schemas.openxmlformats.org/drawingml/2006/main" cx="6667500" cy="3143250"/>
        </p:xfrm>
        <a:graphic xmlns:a="http://schemas.openxmlformats.org/drawingml/2006/main">
          <a:graphicData uri="http://schemas.openxmlformats.org/drawingml/2006/chart">
            <c:chart xmlns:r="http://schemas.openxmlformats.org/officeDocument/2006/relationships" xmlns:c="http://schemas.openxmlformats.org/drawingml/2006/chart" r:id="R982978058551496e"/>
          </a:graphicData>
        </a:graphic>
      </p:graphicFrame>
      <p:sp>
        <p:nvSpPr>
          <p:cNvPr id="3" name="candidate-legend">
            <a:extLst xmlns:a="http://schemas.openxmlformats.org/drawingml/2006/main">
              <a:ext uri="{FF2B5EF4-FFF2-40B4-BE49-F238E27FC236}">
                <a16:creationId xmlns:a16="http://schemas.microsoft.com/office/drawing/2014/main" id="{36477AC9-06D1-437F-BE13-FFB9D30D6B37}"/>
              </a:ext>
            </a:extLst>
          </p:cNvPr>
          <p:cNvSpPr>
            <a:spLocks xmlns:a="http://schemas.openxmlformats.org/drawingml/2006/main" noGrp="1"/>
          </p:cNvSpPr>
          <p:nvPr/>
        </p:nvSpPr>
        <p:spPr>
          <a:xfrm xmlns:a="http://schemas.openxmlformats.org/drawingml/2006/main">
            <a:off x="1476375" y="43243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direct match   •   enrichment   •   mirage   •   excluded</a:t>
            </a:r>
          </a:p>
        </p:txBody>
      </p:sp>
      <p:sp>
        <p:nvSpPr>
          <p:cNvPr id="4" name="candidate-callout">
            <a:extLst xmlns:a="http://schemas.openxmlformats.org/drawingml/2006/main">
              <a:ext uri="{FF2B5EF4-FFF2-40B4-BE49-F238E27FC236}">
                <a16:creationId xmlns:a16="http://schemas.microsoft.com/office/drawing/2014/main" id="{93DF021C-7562-4293-89FB-105AC9B4CBD6}"/>
              </a:ext>
            </a:extLst>
          </p:cNvPr>
          <p:cNvSpPr>
            <a:spLocks xmlns:a="http://schemas.openxmlformats.org/drawingml/2006/main" noGrp="1"/>
          </p:cNvSpPr>
          <p:nvPr/>
        </p:nvSpPr>
        <p:spPr>
          <a:xfrm xmlns:a="http://schemas.openxmlformats.org/drawingml/2006/main">
            <a:off x="7696200" y="1619250"/>
            <a:ext cx="8763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A plausible title is not enough: accession, metadata, codebook, assay, and timing remain visible gates.</a:t>
            </a:r>
          </a:p>
        </p:txBody>
      </p:sp>
    </p:spTree>
    <p:extLst>
      <p:ext uri="{BB962C8B-B14F-4D97-AF65-F5344CB8AC3E}">
        <p14:creationId xmlns:p14="http://schemas.microsoft.com/office/powerpoint/2010/main" val="87743875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Metadata becomes a reviewable evidence card</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d42fec28e834c85"/>
          <a:srcRect xmlns:a="http://schemas.openxmlformats.org/drawingml/2006/main" l="0" t="14251" r="0" b="14251"/>
          <a:stretch xmlns:a="http://schemas.openxmlformats.org/drawingml/2006/main">
            <a:fillRect l="0" t="0" r="0" b="0"/>
          </a:stretch>
        </p:blipFill>
        <p:spPr>
          <a:xfrm xmlns:a="http://schemas.openxmlformats.org/drawingml/2006/main">
            <a:off x="685800" y="1028700"/>
            <a:ext cx="7886700" cy="3524250"/>
          </a:xfrm>
          <a:prstGeom xmlns:a="http://schemas.openxmlformats.org/drawingml/2006/main" prst="roundRect">
            <a:avLst>
              <a:gd name="adj" fmla="val 2703"/>
            </a:avLst>
          </a:prstGeom>
        </p:spPr>
      </p:pic>
    </p:spTree>
    <p:extLst>
      <p:ext uri="{BB962C8B-B14F-4D97-AF65-F5344CB8AC3E}">
        <p14:creationId xmlns:p14="http://schemas.microsoft.com/office/powerpoint/2010/main" val="87743875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Private study data stay local; RefMet sees names only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733af8331e34b53"/>
          <a:stretch xmlns:a="http://schemas.openxmlformats.org/drawingml/2006/main"/>
        </p:blipFill>
        <p:spPr>
          <a:xfrm xmlns:a="http://schemas.openxmlformats.org/drawingml/2006/main">
            <a:off x="1496483" y="1028700"/>
            <a:ext cx="6265333" cy="3524250"/>
          </a:xfrm>
          <a:prstGeom xmlns:a="http://schemas.openxmlformats.org/drawingml/2006/main" prst="roundRect">
            <a:avLst>
              <a:gd name="adj" fmla="val 3243"/>
            </a:avLst>
          </a:prstGeom>
        </p:spPr>
      </p:pic>
    </p:spTree>
    <p:extLst>
      <p:ext uri="{BB962C8B-B14F-4D97-AF65-F5344CB8AC3E}">
        <p14:creationId xmlns:p14="http://schemas.microsoft.com/office/powerpoint/2010/main" val="8774387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Readiness scoring separates strong from fragile</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c36479c34c004290"/>
          </a:graphicData>
        </a:graphic>
      </p:graphicFrame>
      <p:sp>
        <p:nvSpPr>
          <p:cNvPr id="3" name="readiness-callout">
            <a:extLst xmlns:a="http://schemas.openxmlformats.org/drawingml/2006/main">
              <a:ext uri="{FF2B5EF4-FFF2-40B4-BE49-F238E27FC236}">
                <a16:creationId xmlns:a16="http://schemas.microsoft.com/office/drawing/2014/main" id="{5B1A9B59-2108-402B-9BB6-3D464F08E5AA}"/>
              </a:ext>
            </a:extLst>
          </p:cNvPr>
          <p:cNvSpPr>
            <a:spLocks xmlns:a="http://schemas.openxmlformats.org/drawingml/2006/main" noGrp="1"/>
          </p:cNvSpPr>
          <p:nvPr/>
        </p:nvSpPr>
        <p:spPr>
          <a:xfrm xmlns:a="http://schemas.openxmlformats.org/drawingml/2006/main">
            <a:off x="7667625" y="1619250"/>
            <a:ext cx="85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*Readiness does not replace eligibility. The animal fixture remains excluded from the human scope.</a:t>
            </a:r>
          </a:p>
        </p:txBody>
      </p:sp>
      <p:sp>
        <p:nvSpPr>
          <p:cNvPr id="4" name="readiness-limit">
            <a:extLst xmlns:a="http://schemas.openxmlformats.org/drawingml/2006/main">
              <a:ext uri="{FF2B5EF4-FFF2-40B4-BE49-F238E27FC236}">
                <a16:creationId xmlns:a16="http://schemas.microsoft.com/office/drawing/2014/main" id="{BDD15205-11F8-48FF-8AEB-CB5473304EB6}"/>
              </a:ext>
            </a:extLst>
          </p:cNvPr>
          <p:cNvSpPr>
            <a:spLocks xmlns:a="http://schemas.openxmlformats.org/drawingml/2006/main" noGrp="1"/>
          </p:cNvSpPr>
          <p:nvPr/>
        </p:nvSpPr>
        <p:spPr>
          <a:xfrm xmlns:a="http://schemas.openxmlformats.org/drawingml/2006/main">
            <a:off x="1143000" y="4343400"/>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Transparent metadata-backed triage score — not a risk-of-bias or assay-validity judgment</a:t>
            </a:r>
          </a:p>
        </p:txBody>
      </p:sp>
    </p:spTree>
    <p:extLst>
      <p:ext uri="{BB962C8B-B14F-4D97-AF65-F5344CB8AC3E}">
        <p14:creationId xmlns:p14="http://schemas.microsoft.com/office/powerpoint/2010/main" val="8774387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MoTrPAC alignment is a planning signal</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16de3b3c0b994086"/>
          </a:graphicData>
        </a:graphic>
      </p:graphicFrame>
      <p:sp>
        <p:nvSpPr>
          <p:cNvPr id="3" name="motrpac-callout">
            <a:extLst xmlns:a="http://schemas.openxmlformats.org/drawingml/2006/main">
              <a:ext uri="{FF2B5EF4-FFF2-40B4-BE49-F238E27FC236}">
                <a16:creationId xmlns:a16="http://schemas.microsoft.com/office/drawing/2014/main" id="{9F588E42-0DC4-41E6-B08C-198C04EEAA45}"/>
              </a:ext>
            </a:extLst>
          </p:cNvPr>
          <p:cNvSpPr>
            <a:spLocks xmlns:a="http://schemas.openxmlformats.org/drawingml/2006/main" noGrp="1"/>
          </p:cNvSpPr>
          <p:nvPr/>
        </p:nvSpPr>
        <p:spPr>
          <a:xfrm xmlns:a="http://schemas.openxmlformats.org/drawingml/2006/main">
            <a:off x="7620000" y="1466850"/>
            <a:ext cx="95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Metadata readiness answers: can we plan the comparison?</a:t>
            </a:r>
          </a:p>
          <a:p xmlns:a="http://schemas.openxmlformats.org/drawingml/2006/main">
            <a:r>
              <a:t/>
            </a:r>
          </a:p>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It does not answer: are the protocols equivalent?</a:t>
            </a:r>
          </a:p>
        </p:txBody>
      </p:sp>
      <p:sp>
        <p:nvSpPr>
          <p:cNvPr id="4" name="motrpac-limit">
            <a:extLst xmlns:a="http://schemas.openxmlformats.org/drawingml/2006/main">
              <a:ext uri="{FF2B5EF4-FFF2-40B4-BE49-F238E27FC236}">
                <a16:creationId xmlns:a16="http://schemas.microsoft.com/office/drawing/2014/main" id="{701BE266-39B9-4B62-93EC-6FB8BB635000}"/>
              </a:ext>
            </a:extLst>
          </p:cNvPr>
          <p:cNvSpPr>
            <a:spLocks xmlns:a="http://schemas.openxmlformats.org/drawingml/2006/main" noGrp="1"/>
          </p:cNvSpPr>
          <p:nvPr/>
        </p:nvSpPr>
        <p:spPr>
          <a:xfrm xmlns:a="http://schemas.openxmlformats.org/drawingml/2006/main">
            <a:off x="1047750" y="43434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Prerequisites include timing, matrix, platform, exercise/CPET, genetics, body composition, diet, and codebooks</a:t>
            </a:r>
          </a:p>
        </p:txBody>
      </p:sp>
    </p:spTree>
    <p:extLst>
      <p:ext uri="{BB962C8B-B14F-4D97-AF65-F5344CB8AC3E}">
        <p14:creationId xmlns:p14="http://schemas.microsoft.com/office/powerpoint/2010/main" val="8774387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Study-specific contrasts remain explicit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96ec380507f434b"/>
          <a:stretch xmlns:a="http://schemas.openxmlformats.org/drawingml/2006/main"/>
        </p:blipFill>
        <p:spPr>
          <a:xfrm xmlns:a="http://schemas.openxmlformats.org/drawingml/2006/main">
            <a:off x="1940719" y="1000125"/>
            <a:ext cx="5357813" cy="3571875"/>
          </a:xfrm>
          <a:prstGeom xmlns:a="http://schemas.openxmlformats.org/drawingml/2006/main" prst="rect">
            <a:avLst/>
          </a:prstGeom>
        </p:spPr>
      </p:pic>
    </p:spTree>
    <p:extLst>
      <p:ext uri="{BB962C8B-B14F-4D97-AF65-F5344CB8AC3E}">
        <p14:creationId xmlns:p14="http://schemas.microsoft.com/office/powerpoint/2010/main" val="877438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Gene-centric evidence stays an annotation chain</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Four labeled hops  •  six evidence states  •  zero automatic measurement claims</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QUERY</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or accession</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HOP 1</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Reaction</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KEGG annotation</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HOP 2</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Compound</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reaction participant</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HOP 3</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RefMet</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standard-name map</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HOP 4</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study</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candidate accession</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LICENCE GATE</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rows withheld by default</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CLAIM BOUNDARY</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measurement not established</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NEXT EVIDENCE</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direct study re-fetch required</a:t>
            </a:r>
          </a:p>
        </p:txBody>
      </p:sp>
    </p:spTree>
    <p:extLst>
      <p:ext uri="{BB962C8B-B14F-4D97-AF65-F5344CB8AC3E}">
        <p14:creationId xmlns:p14="http://schemas.microsoft.com/office/powerpoint/2010/main" val="877438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9"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The safety boundary is executable</a:t>
            </a:r>
          </a:p>
        </p:txBody>
      </p:sp>
      <p:sp>
        <p:nvSpPr>
          <p:cNvPr id="2" name="tests-count">
            <a:extLst xmlns:a="http://schemas.openxmlformats.org/drawingml/2006/main">
              <a:ext uri="{FF2B5EF4-FFF2-40B4-BE49-F238E27FC236}">
                <a16:creationId xmlns:a16="http://schemas.microsoft.com/office/drawing/2014/main" id="{8FE6D9A8-12EB-4E47-8C33-B357D67659F8}"/>
              </a:ext>
            </a:extLst>
          </p:cNvPr>
          <p:cNvSpPr>
            <a:spLocks xmlns:a="http://schemas.openxmlformats.org/drawingml/2006/main" noGrp="1"/>
          </p:cNvSpPr>
          <p:nvPr/>
        </p:nvSpPr>
        <p:spPr>
          <a:xfrm xmlns:a="http://schemas.openxmlformats.org/drawingml/2006/main">
            <a:off x="857250" y="1381125"/>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4800" b="1">
                <a:solidFill>
                  <a:srgbClr val="8C1515"/>
                </a:solidFill>
                <a:latin typeface="Arial"/>
                <a:ea typeface="Arial"/>
                <a:cs typeface="Arial"/>
              </a:defRPr>
            </a:pPr>
            <a:r>
              <a:rPr sz="4800" b="1">
                <a:solidFill>
                  <a:srgbClr val="8C1515"/>
                </a:solidFill>
                <a:latin typeface="Arial"/>
                <a:ea typeface="Arial"/>
                <a:cs typeface="Arial"/>
              </a:rPr>
              <a:t>210 / 210</a:t>
            </a:r>
          </a:p>
        </p:txBody>
      </p:sp>
      <p:sp>
        <p:nvSpPr>
          <p:cNvPr id="3" name="tests-label">
            <a:extLst xmlns:a="http://schemas.openxmlformats.org/drawingml/2006/main">
              <a:ext uri="{FF2B5EF4-FFF2-40B4-BE49-F238E27FC236}">
                <a16:creationId xmlns:a16="http://schemas.microsoft.com/office/drawing/2014/main" id="{51D48E0F-12AB-419E-AA5C-8CB14ED73E96}"/>
              </a:ext>
            </a:extLst>
          </p:cNvPr>
          <p:cNvSpPr>
            <a:spLocks xmlns:a="http://schemas.openxmlformats.org/drawingml/2006/main" noGrp="1"/>
          </p:cNvSpPr>
          <p:nvPr/>
        </p:nvSpPr>
        <p:spPr>
          <a:xfrm xmlns:a="http://schemas.openxmlformats.org/drawingml/2006/main">
            <a:off x="1000125" y="22098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350">
                <a:solidFill>
                  <a:srgbClr val="4D4F53"/>
                </a:solidFill>
                <a:latin typeface="Arial"/>
                <a:ea typeface="Arial"/>
                <a:cs typeface="Arial"/>
              </a:defRPr>
            </a:pPr>
            <a:r>
              <a:rPr sz="1350">
                <a:solidFill>
                  <a:srgbClr val="4D4F53"/>
                </a:solidFill>
                <a:latin typeface="Arial"/>
                <a:ea typeface="Arial"/>
                <a:cs typeface="Arial"/>
              </a:rPr>
              <a:t>offline synthetic tests passed</a:t>
            </a:r>
          </a:p>
        </p:txBody>
      </p:sp>
      <p:sp>
        <p:nvSpPr>
          <p:cNvPr id="4" name="tests-zero">
            <a:extLst xmlns:a="http://schemas.openxmlformats.org/drawingml/2006/main">
              <a:ext uri="{FF2B5EF4-FFF2-40B4-BE49-F238E27FC236}">
                <a16:creationId xmlns:a16="http://schemas.microsoft.com/office/drawing/2014/main" id="{A5000689-B768-4CB9-8C2F-AF753C0C1191}"/>
              </a:ext>
            </a:extLst>
          </p:cNvPr>
          <p:cNvSpPr>
            <a:spLocks xmlns:a="http://schemas.openxmlformats.org/drawingml/2006/main" noGrp="1"/>
          </p:cNvSpPr>
          <p:nvPr/>
        </p:nvSpPr>
        <p:spPr>
          <a:xfrm xmlns:a="http://schemas.openxmlformats.org/drawingml/2006/main">
            <a:off x="1000125" y="26289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0 failed  •  0 errors  •  0 skipped</a:t>
            </a:r>
          </a:p>
        </p:txBody>
      </p:sp>
      <p:graphicFrame>
        <p:nvGraphicFramePr>
          <p:cNvPr id="19" name="Chart"/>
          <p:cNvGraphicFramePr/>
          <p:nvPr/>
        </p:nvGraphicFramePr>
        <p:xfrm>
          <a:off xmlns:a="http://schemas.openxmlformats.org/drawingml/2006/main" x="4000500" y="1257300"/>
          <a:ext xmlns:a="http://schemas.openxmlformats.org/drawingml/2006/main" cx="4095750" cy="2571750"/>
        </p:xfrm>
        <a:graphic xmlns:a="http://schemas.openxmlformats.org/drawingml/2006/main">
          <a:graphicData uri="http://schemas.openxmlformats.org/drawingml/2006/chart">
            <c:chart xmlns:r="http://schemas.openxmlformats.org/officeDocument/2006/relationships" xmlns:c="http://schemas.openxmlformats.org/drawingml/2006/chart" r:id="Ra95e972dabf54204"/>
          </a:graphicData>
        </a:graphic>
      </p:graphicFrame>
      <p:sp>
        <p:nvSpPr>
          <p:cNvPr id="6" name="unsafe-callout">
            <a:extLst xmlns:a="http://schemas.openxmlformats.org/drawingml/2006/main">
              <a:ext uri="{FF2B5EF4-FFF2-40B4-BE49-F238E27FC236}">
                <a16:creationId xmlns:a16="http://schemas.microsoft.com/office/drawing/2014/main" id="{A247E38B-C497-4BB2-9EBC-16EFA759FADB}"/>
              </a:ext>
            </a:extLst>
          </p:cNvPr>
          <p:cNvSpPr>
            <a:spLocks xmlns:a="http://schemas.openxmlformats.org/drawingml/2006/main" noGrp="1"/>
          </p:cNvSpPr>
          <p:nvPr/>
        </p:nvSpPr>
        <p:spPr>
          <a:xfrm xmlns:a="http://schemas.openxmlformats.org/drawingml/2006/main">
            <a:off x="857250" y="3286125"/>
            <a:ext cx="1333500" cy="704850"/>
          </a:xfrm>
          <a:prstGeom xmlns:a="http://schemas.openxmlformats.org/drawingml/2006/main" prst="roundRect">
            <a:avLst>
              <a:gd name="adj" fmla="val 16216"/>
            </a:avLst>
          </a:prstGeom>
          <a:solidFill xmlns:a="http://schemas.openxmlformats.org/drawingml/2006/main">
            <a:srgbClr val="E4EFEA"/>
          </a:solidFill>
          <a:ln xmlns:a="http://schemas.openxmlformats.org/drawingml/2006/main" w="9525">
            <a:solidFill>
              <a:srgbClr val="175E54"/>
            </a:solidFill>
            <a:prstDash val="solid"/>
          </a:ln>
        </p:spPr>
      </p:sp>
      <p:sp>
        <p:nvSpPr>
          <p:cNvPr id="7" name="unsafe-value">
            <a:extLst xmlns:a="http://schemas.openxmlformats.org/drawingml/2006/main">
              <a:ext uri="{FF2B5EF4-FFF2-40B4-BE49-F238E27FC236}">
                <a16:creationId xmlns:a16="http://schemas.microsoft.com/office/drawing/2014/main" id="{FD100BF2-C3DB-4A43-9BEC-F03CE4059F9E}"/>
              </a:ext>
            </a:extLst>
          </p:cNvPr>
          <p:cNvSpPr>
            <a:spLocks xmlns:a="http://schemas.openxmlformats.org/drawingml/2006/main" noGrp="1"/>
          </p:cNvSpPr>
          <p:nvPr/>
        </p:nvSpPr>
        <p:spPr>
          <a:xfrm xmlns:a="http://schemas.openxmlformats.org/drawingml/2006/main">
            <a:off x="962025" y="34290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1050" b="1">
                <a:solidFill>
                  <a:srgbClr val="175E54"/>
                </a:solidFill>
                <a:latin typeface="Arial"/>
                <a:ea typeface="Arial"/>
                <a:cs typeface="Arial"/>
              </a:defRPr>
            </a:pPr>
            <a:r>
              <a:rPr sz="1050" b="1">
                <a:solidFill>
                  <a:srgbClr val="175E54"/>
                </a:solidFill>
                <a:latin typeface="Arial"/>
                <a:ea typeface="Arial"/>
                <a:cs typeface="Arial"/>
              </a:rPr>
              <a:t>0 / 12 unsafe
auto-accepts</a:t>
            </a:r>
          </a:p>
        </p:txBody>
      </p:sp>
      <p:sp>
        <p:nvSpPr>
          <p:cNvPr id="8" name="synthetic-limit">
            <a:extLst xmlns:a="http://schemas.openxmlformats.org/drawingml/2006/main">
              <a:ext uri="{FF2B5EF4-FFF2-40B4-BE49-F238E27FC236}">
                <a16:creationId xmlns:a16="http://schemas.microsoft.com/office/drawing/2014/main" id="{07ED7C74-9820-411C-A92D-838735C6C852}"/>
              </a:ext>
            </a:extLst>
          </p:cNvPr>
          <p:cNvSpPr>
            <a:spLocks xmlns:a="http://schemas.openxmlformats.org/drawingml/2006/main" noGrp="1"/>
          </p:cNvSpPr>
          <p:nvPr/>
        </p:nvSpPr>
        <p:spPr>
          <a:xfrm xmlns:a="http://schemas.openxmlformats.org/drawingml/2006/main">
            <a:off x="1524000" y="426720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25 paired skills  •  23 canonical agent roles  •  synthetic regression evidence only</a:t>
            </a:r>
          </a:p>
        </p:txBody>
      </p:sp>
      <p:sp>
        <p:nvSpPr>
          <p:cNvPr id="11" name="gene-gates-callout">
            <a:extLst xmlns:a="http://schemas.openxmlformats.org/drawingml/2006/main">
              <a:ext uri="{FF2B5EF4-FFF2-40B4-BE49-F238E27FC236}">
                <a16:creationId xmlns:a16="http://schemas.microsoft.com/office/drawing/2014/main" id="{AE3806DB-799C-4091-B9BF-0C08CE9C298F}"/>
              </a:ext>
            </a:extLst>
          </p:cNvPr>
          <p:cNvSpPr>
            <a:spLocks xmlns:a="http://schemas.openxmlformats.org/drawingml/2006/main" noGrp="1"/>
          </p:cNvSpPr>
          <p:nvPr/>
        </p:nvSpPr>
        <p:spPr>
          <a:xfrm xmlns:a="http://schemas.openxmlformats.org/drawingml/2006/main">
            <a:off x="2333625" y="3286125"/>
            <a:ext cx="1333500" cy="704850"/>
          </a:xfrm>
          <a:prstGeom xmlns:a="http://schemas.openxmlformats.org/drawingml/2006/main" prst="roundRect">
            <a:avLst>
              <a:gd name="adj" fmla="val 16216"/>
            </a:avLst>
          </a:prstGeom>
          <a:solidFill xmlns:a="http://schemas.openxmlformats.org/drawingml/2006/main">
            <a:srgbClr val="F2EAF1"/>
          </a:solidFill>
          <a:ln xmlns:a="http://schemas.openxmlformats.org/drawingml/2006/main" w="11906">
            <a:solidFill>
              <a:srgbClr val="B998B3"/>
            </a:solidFill>
            <a:prstDash val="solid"/>
          </a:ln>
        </p:spPr>
      </p:sp>
      <p:sp>
        <p:nvSpPr>
          <p:cNvPr id="12" name="gene-gates-value">
            <a:extLst xmlns:a="http://schemas.openxmlformats.org/drawingml/2006/main">
              <a:ext uri="{FF2B5EF4-FFF2-40B4-BE49-F238E27FC236}">
                <a16:creationId xmlns:a16="http://schemas.microsoft.com/office/drawing/2014/main" id="{5154FF4D-F545-4AC1-9E1D-FE621E3E024C}"/>
              </a:ext>
            </a:extLst>
          </p:cNvPr>
          <p:cNvSpPr>
            <a:spLocks xmlns:a="http://schemas.openxmlformats.org/drawingml/2006/main" noGrp="1"/>
          </p:cNvSpPr>
          <p:nvPr/>
        </p:nvSpPr>
        <p:spPr>
          <a:xfrm xmlns:a="http://schemas.openxmlformats.org/drawingml/2006/main">
            <a:off x="2476500" y="33718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53284F"/>
                </a:solidFill>
                <a:latin typeface="Arial"/>
                <a:ea typeface="Arial"/>
                <a:cs typeface="Arial"/>
              </a:defRPr>
            </a:pPr>
            <a:r>
              <a:rPr sz="1350" b="1">
                <a:solidFill>
                  <a:srgbClr val="53284F"/>
                </a:solidFill>
                <a:latin typeface="Arial"/>
                <a:ea typeface="Arial"/>
                <a:cs typeface="Arial"/>
              </a:rPr>
              <a:t>54 / 54</a:t>
            </a:r>
          </a:p>
        </p:txBody>
      </p:sp>
      <p:sp>
        <p:nvSpPr>
          <p:cNvPr id="13" name="gene-gates-label">
            <a:extLst xmlns:a="http://schemas.openxmlformats.org/drawingml/2006/main">
              <a:ext uri="{FF2B5EF4-FFF2-40B4-BE49-F238E27FC236}">
                <a16:creationId xmlns:a16="http://schemas.microsoft.com/office/drawing/2014/main" id="{3DD60819-7B37-4C2B-989F-9FB9AC438698}"/>
              </a:ext>
            </a:extLst>
          </p:cNvPr>
          <p:cNvSpPr>
            <a:spLocks xmlns:a="http://schemas.openxmlformats.org/drawingml/2006/main" noGrp="1"/>
          </p:cNvSpPr>
          <p:nvPr/>
        </p:nvSpPr>
        <p:spPr>
          <a:xfrm xmlns:a="http://schemas.openxmlformats.org/drawingml/2006/main">
            <a:off x="2457450" y="3657600"/>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b="1">
                <a:solidFill>
                  <a:srgbClr val="53284F"/>
                </a:solidFill>
                <a:latin typeface="Arial"/>
                <a:ea typeface="Arial"/>
                <a:cs typeface="Arial"/>
              </a:defRPr>
            </a:pPr>
            <a:r>
              <a:rPr sz="825" b="1">
                <a:solidFill>
                  <a:srgbClr val="53284F"/>
                </a:solidFill>
                <a:latin typeface="Arial"/>
                <a:ea typeface="Arial"/>
                <a:cs typeface="Arial"/>
              </a:rPr>
              <a:t>gene-centric gates</a:t>
            </a:r>
          </a:p>
        </p:txBody>
      </p:sp>
    </p:spTree>
    <p:extLst>
      <p:ext uri="{BB962C8B-B14F-4D97-AF65-F5344CB8AC3E}">
        <p14:creationId xmlns:p14="http://schemas.microsoft.com/office/powerpoint/2010/main" val="8774387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The agent system ends in a reviewable report</a:t>
            </a:r>
          </a:p>
        </p:txBody>
      </p:sp>
      <p:sp>
        <p:nvSpPr>
          <p:cNvPr id="2" name="validation-arrow-315">
            <a:extLst xmlns:a="http://schemas.openxmlformats.org/drawingml/2006/main">
              <a:ext uri="{FF2B5EF4-FFF2-40B4-BE49-F238E27FC236}">
                <a16:creationId xmlns:a16="http://schemas.microsoft.com/office/drawing/2014/main" id="{E48D6F7F-7DF0-4782-BC43-E83A39D135DA}"/>
              </a:ext>
            </a:extLst>
          </p:cNvPr>
          <p:cNvSpPr>
            <a:spLocks xmlns:a="http://schemas.openxmlformats.org/drawingml/2006/main" noGrp="1"/>
          </p:cNvSpPr>
          <p:nvPr/>
        </p:nvSpPr>
        <p:spPr>
          <a:xfrm xmlns:a="http://schemas.openxmlformats.org/drawingml/2006/main">
            <a:off x="3000375"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3" name="validation-arrow-600">
            <a:extLst xmlns:a="http://schemas.openxmlformats.org/drawingml/2006/main">
              <a:ext uri="{FF2B5EF4-FFF2-40B4-BE49-F238E27FC236}">
                <a16:creationId xmlns:a16="http://schemas.microsoft.com/office/drawing/2014/main" id="{0C604868-FCE9-4B4D-9F07-96EC6752E56F}"/>
              </a:ext>
            </a:extLst>
          </p:cNvPr>
          <p:cNvSpPr>
            <a:spLocks xmlns:a="http://schemas.openxmlformats.org/drawingml/2006/main" noGrp="1"/>
          </p:cNvSpPr>
          <p:nvPr/>
        </p:nvSpPr>
        <p:spPr>
          <a:xfrm xmlns:a="http://schemas.openxmlformats.org/drawingml/2006/main">
            <a:off x="5715000"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4" name="step-number-0">
            <a:extLst xmlns:a="http://schemas.openxmlformats.org/drawingml/2006/main">
              <a:ext uri="{FF2B5EF4-FFF2-40B4-BE49-F238E27FC236}">
                <a16:creationId xmlns:a16="http://schemas.microsoft.com/office/drawing/2014/main" id="{AFF03F28-DF2B-4923-8AD7-7B6171CDC5C2}"/>
              </a:ext>
            </a:extLst>
          </p:cNvPr>
          <p:cNvSpPr>
            <a:spLocks xmlns:a="http://schemas.openxmlformats.org/drawingml/2006/main" noGrp="1"/>
          </p:cNvSpPr>
          <p:nvPr/>
        </p:nvSpPr>
        <p:spPr>
          <a:xfrm xmlns:a="http://schemas.openxmlformats.org/drawingml/2006/main">
            <a:off x="158115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00505C"/>
                </a:solidFill>
                <a:latin typeface="Arial"/>
                <a:ea typeface="Arial"/>
                <a:cs typeface="Arial"/>
              </a:defRPr>
            </a:pPr>
            <a:r>
              <a:rPr sz="2550" b="1">
                <a:solidFill>
                  <a:srgbClr val="00505C"/>
                </a:solidFill>
                <a:latin typeface="Arial"/>
                <a:ea typeface="Arial"/>
                <a:cs typeface="Arial"/>
              </a:rPr>
              <a:t>01</a:t>
            </a:r>
          </a:p>
        </p:txBody>
      </p:sp>
      <p:sp>
        <p:nvSpPr>
          <p:cNvPr id="6" name="step-title-0">
            <a:extLst xmlns:a="http://schemas.openxmlformats.org/drawingml/2006/main">
              <a:ext uri="{FF2B5EF4-FFF2-40B4-BE49-F238E27FC236}">
                <a16:creationId xmlns:a16="http://schemas.microsoft.com/office/drawing/2014/main" id="{638DD3B3-8CF2-4F03-AA15-F85CED87FCC4}"/>
              </a:ext>
            </a:extLst>
          </p:cNvPr>
          <p:cNvSpPr>
            <a:spLocks xmlns:a="http://schemas.openxmlformats.org/drawingml/2006/main" noGrp="1"/>
          </p:cNvSpPr>
          <p:nvPr/>
        </p:nvSpPr>
        <p:spPr>
          <a:xfrm xmlns:a="http://schemas.openxmlformats.org/drawingml/2006/main">
            <a:off x="87630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Metadata card</a:t>
            </a:r>
          </a:p>
        </p:txBody>
      </p:sp>
      <p:sp>
        <p:nvSpPr>
          <p:cNvPr id="7" name="step-detail-0">
            <a:extLst xmlns:a="http://schemas.openxmlformats.org/drawingml/2006/main">
              <a:ext uri="{FF2B5EF4-FFF2-40B4-BE49-F238E27FC236}">
                <a16:creationId xmlns:a16="http://schemas.microsoft.com/office/drawing/2014/main" id="{46B95428-229A-455D-B756-F588A6C0EC56}"/>
              </a:ext>
            </a:extLst>
          </p:cNvPr>
          <p:cNvSpPr>
            <a:spLocks xmlns:a="http://schemas.openxmlformats.org/drawingml/2006/main" noGrp="1"/>
          </p:cNvSpPr>
          <p:nvPr/>
        </p:nvSpPr>
        <p:spPr>
          <a:xfrm xmlns:a="http://schemas.openxmlformats.org/drawingml/2006/main">
            <a:off x="87630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typed fields + provenance</a:t>
            </a:r>
          </a:p>
        </p:txBody>
      </p:sp>
      <p:sp>
        <p:nvSpPr>
          <p:cNvPr id="8" name="step-number-1">
            <a:extLst xmlns:a="http://schemas.openxmlformats.org/drawingml/2006/main">
              <a:ext uri="{FF2B5EF4-FFF2-40B4-BE49-F238E27FC236}">
                <a16:creationId xmlns:a16="http://schemas.microsoft.com/office/drawing/2014/main" id="{C2ED1585-489C-4E87-907E-B1FA0D5F7180}"/>
              </a:ext>
            </a:extLst>
          </p:cNvPr>
          <p:cNvSpPr>
            <a:spLocks xmlns:a="http://schemas.openxmlformats.org/drawingml/2006/main" noGrp="1"/>
          </p:cNvSpPr>
          <p:nvPr/>
        </p:nvSpPr>
        <p:spPr>
          <a:xfrm xmlns:a="http://schemas.openxmlformats.org/drawingml/2006/main">
            <a:off x="4295775"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53284F"/>
                </a:solidFill>
                <a:latin typeface="Arial"/>
                <a:ea typeface="Arial"/>
                <a:cs typeface="Arial"/>
              </a:defRPr>
            </a:pPr>
            <a:r>
              <a:rPr sz="2550" b="1">
                <a:solidFill>
                  <a:srgbClr val="53284F"/>
                </a:solidFill>
                <a:latin typeface="Arial"/>
                <a:ea typeface="Arial"/>
                <a:cs typeface="Arial"/>
              </a:rPr>
              <a:t>02</a:t>
            </a:r>
          </a:p>
        </p:txBody>
      </p:sp>
      <p:sp>
        <p:nvSpPr>
          <p:cNvPr id="10" name="step-title-1">
            <a:extLst xmlns:a="http://schemas.openxmlformats.org/drawingml/2006/main">
              <a:ext uri="{FF2B5EF4-FFF2-40B4-BE49-F238E27FC236}">
                <a16:creationId xmlns:a16="http://schemas.microsoft.com/office/drawing/2014/main" id="{36771F18-C367-4691-A88E-1F28C07C902F}"/>
              </a:ext>
            </a:extLst>
          </p:cNvPr>
          <p:cNvSpPr>
            <a:spLocks xmlns:a="http://schemas.openxmlformats.org/drawingml/2006/main" noGrp="1"/>
          </p:cNvSpPr>
          <p:nvPr/>
        </p:nvSpPr>
        <p:spPr>
          <a:xfrm xmlns:a="http://schemas.openxmlformats.org/drawingml/2006/main">
            <a:off x="3590925"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Summary figure</a:t>
            </a:r>
          </a:p>
        </p:txBody>
      </p:sp>
      <p:sp>
        <p:nvSpPr>
          <p:cNvPr id="11" name="step-detail-1">
            <a:extLst xmlns:a="http://schemas.openxmlformats.org/drawingml/2006/main">
              <a:ext uri="{FF2B5EF4-FFF2-40B4-BE49-F238E27FC236}">
                <a16:creationId xmlns:a16="http://schemas.microsoft.com/office/drawing/2014/main" id="{BF0D03AD-73E9-4E75-809E-0FEF4E1AAA10}"/>
              </a:ext>
            </a:extLst>
          </p:cNvPr>
          <p:cNvSpPr>
            <a:spLocks xmlns:a="http://schemas.openxmlformats.org/drawingml/2006/main" noGrp="1"/>
          </p:cNvSpPr>
          <p:nvPr/>
        </p:nvSpPr>
        <p:spPr>
          <a:xfrm xmlns:a="http://schemas.openxmlformats.org/drawingml/2006/main">
            <a:off x="3590925"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coverage + contrasts</a:t>
            </a:r>
          </a:p>
        </p:txBody>
      </p:sp>
      <p:sp>
        <p:nvSpPr>
          <p:cNvPr id="12" name="step-number-2">
            <a:extLst xmlns:a="http://schemas.openxmlformats.org/drawingml/2006/main">
              <a:ext uri="{FF2B5EF4-FFF2-40B4-BE49-F238E27FC236}">
                <a16:creationId xmlns:a16="http://schemas.microsoft.com/office/drawing/2014/main" id="{D231E5B9-E3E5-4171-A43D-73842F1DECFB}"/>
              </a:ext>
            </a:extLst>
          </p:cNvPr>
          <p:cNvSpPr>
            <a:spLocks xmlns:a="http://schemas.openxmlformats.org/drawingml/2006/main" noGrp="1"/>
          </p:cNvSpPr>
          <p:nvPr/>
        </p:nvSpPr>
        <p:spPr>
          <a:xfrm xmlns:a="http://schemas.openxmlformats.org/drawingml/2006/main">
            <a:off x="701040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8C1515"/>
                </a:solidFill>
                <a:latin typeface="Arial"/>
                <a:ea typeface="Arial"/>
                <a:cs typeface="Arial"/>
              </a:defRPr>
            </a:pPr>
            <a:r>
              <a:rPr sz="2550" b="1">
                <a:solidFill>
                  <a:srgbClr val="8C1515"/>
                </a:solidFill>
                <a:latin typeface="Arial"/>
                <a:ea typeface="Arial"/>
                <a:cs typeface="Arial"/>
              </a:rPr>
              <a:t>03</a:t>
            </a:r>
          </a:p>
        </p:txBody>
      </p:sp>
      <p:sp>
        <p:nvSpPr>
          <p:cNvPr id="14" name="step-title-2">
            <a:extLst xmlns:a="http://schemas.openxmlformats.org/drawingml/2006/main">
              <a:ext uri="{FF2B5EF4-FFF2-40B4-BE49-F238E27FC236}">
                <a16:creationId xmlns:a16="http://schemas.microsoft.com/office/drawing/2014/main" id="{03F03B8D-86AD-4F8E-907C-F5E8592DDDF7}"/>
              </a:ext>
            </a:extLst>
          </p:cNvPr>
          <p:cNvSpPr>
            <a:spLocks xmlns:a="http://schemas.openxmlformats.org/drawingml/2006/main" noGrp="1"/>
          </p:cNvSpPr>
          <p:nvPr/>
        </p:nvSpPr>
        <p:spPr>
          <a:xfrm xmlns:a="http://schemas.openxmlformats.org/drawingml/2006/main">
            <a:off x="630555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Review report</a:t>
            </a:r>
          </a:p>
        </p:txBody>
      </p:sp>
      <p:sp>
        <p:nvSpPr>
          <p:cNvPr id="15" name="step-detail-2">
            <a:extLst xmlns:a="http://schemas.openxmlformats.org/drawingml/2006/main">
              <a:ext uri="{FF2B5EF4-FFF2-40B4-BE49-F238E27FC236}">
                <a16:creationId xmlns:a16="http://schemas.microsoft.com/office/drawing/2014/main" id="{88557458-002D-4C99-9105-0A10CA194F22}"/>
              </a:ext>
            </a:extLst>
          </p:cNvPr>
          <p:cNvSpPr>
            <a:spLocks xmlns:a="http://schemas.openxmlformats.org/drawingml/2006/main" noGrp="1"/>
          </p:cNvSpPr>
          <p:nvPr/>
        </p:nvSpPr>
        <p:spPr>
          <a:xfrm xmlns:a="http://schemas.openxmlformats.org/drawingml/2006/main">
            <a:off x="630555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methods + limits + sources</a:t>
            </a:r>
          </a:p>
        </p:txBody>
      </p:sp>
      <p:sp>
        <p:nvSpPr>
          <p:cNvPr id="16" name="validation-principle">
            <a:extLst xmlns:a="http://schemas.openxmlformats.org/drawingml/2006/main">
              <a:ext uri="{FF2B5EF4-FFF2-40B4-BE49-F238E27FC236}">
                <a16:creationId xmlns:a16="http://schemas.microsoft.com/office/drawing/2014/main" id="{AAA89E79-A670-4EE2-BA99-FEB011A0B292}"/>
              </a:ext>
            </a:extLst>
          </p:cNvPr>
          <p:cNvSpPr>
            <a:spLocks xmlns:a="http://schemas.openxmlformats.org/drawingml/2006/main" noGrp="1"/>
          </p:cNvSpPr>
          <p:nvPr/>
        </p:nvSpPr>
        <p:spPr>
          <a:xfrm xmlns:a="http://schemas.openxmlformats.org/drawingml/2006/main">
            <a:off x="1714500" y="40005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8C1515"/>
                </a:solidFill>
                <a:latin typeface="Arial"/>
                <a:ea typeface="Arial"/>
                <a:cs typeface="Arial"/>
              </a:defRPr>
            </a:pPr>
            <a:r>
              <a:rPr sz="1650" b="1">
                <a:solidFill>
                  <a:srgbClr val="8C1515"/>
                </a:solidFill>
                <a:latin typeface="Arial"/>
                <a:ea typeface="Arial"/>
                <a:cs typeface="Arial"/>
              </a:rPr>
              <a:t>Human review remains the final gate.</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05a723687774c1f"/>
          <a:srcRect xmlns:a="http://schemas.openxmlformats.org/drawingml/2006/main" l="893" t="0" r="893" b="0"/>
          <a:stretch xmlns:a="http://schemas.openxmlformats.org/drawingml/2006/main">
            <a:fillRect l="0" t="0" r="0" b="0"/>
          </a:stretch>
        </p:blipFill>
        <p:spPr>
          <a:xfrm xmlns:a="http://schemas.openxmlformats.org/drawingml/2006/main">
            <a:off x="857250" y="1952625"/>
            <a:ext cx="2095500" cy="1333500"/>
          </a:xfrm>
          <a:prstGeom xmlns:a="http://schemas.openxmlformats.org/drawingml/2006/main" prst="roundRect">
            <a:avLst>
              <a:gd name="adj" fmla="val 8571"/>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2d63762aec44892"/>
          <a:srcRect xmlns:a="http://schemas.openxmlformats.org/drawingml/2006/main" l="0" t="3760" r="0" b="3760"/>
          <a:stretch xmlns:a="http://schemas.openxmlformats.org/drawingml/2006/main">
            <a:fillRect l="0" t="0" r="0" b="0"/>
          </a:stretch>
        </p:blipFill>
        <p:spPr>
          <a:xfrm xmlns:a="http://schemas.openxmlformats.org/drawingml/2006/main">
            <a:off x="3571875" y="1952625"/>
            <a:ext cx="2095500" cy="1333500"/>
          </a:xfrm>
          <a:prstGeom xmlns:a="http://schemas.openxmlformats.org/drawingml/2006/main" prst="roundRect">
            <a:avLst>
              <a:gd name="adj" fmla="val 8571"/>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a354a98ae284f4e"/>
          <a:srcRect xmlns:a="http://schemas.openxmlformats.org/drawingml/2006/main" l="0" t="25413" r="0" b="25413"/>
          <a:stretch xmlns:a="http://schemas.openxmlformats.org/drawingml/2006/main">
            <a:fillRect l="0" t="0" r="0" b="0"/>
          </a:stretch>
        </p:blipFill>
        <p:spPr>
          <a:xfrm xmlns:a="http://schemas.openxmlformats.org/drawingml/2006/main">
            <a:off x="6286500" y="1952625"/>
            <a:ext cx="2095500" cy="1333500"/>
          </a:xfrm>
          <a:prstGeom xmlns:a="http://schemas.openxmlformats.org/drawingml/2006/main" prst="roundRect">
            <a:avLst>
              <a:gd name="adj" fmla="val 8571"/>
            </a:avLst>
          </a:prstGeom>
        </p:spPr>
      </p:pic>
    </p:spTree>
    <p:extLst>
      <p:ext uri="{BB962C8B-B14F-4D97-AF65-F5344CB8AC3E}">
        <p14:creationId xmlns:p14="http://schemas.microsoft.com/office/powerpoint/2010/main" val="8774387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The decision is what to validate next</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Define the first blinded benchmark together.</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theme/theme1.xml><?xml version="1.0" encoding="utf-8"?>
<a:theme xmlns:a="http://schemas.openxmlformats.org/drawingml/2006/main" xmlns:r="http://schemas.openxmlformats.org/officeDocument/2006/relationships"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2026-08-27T15:07:34.2750000Z</dcterms:created>
  <dcterms:modified xsi:type="dcterms:W3CDTF">2026-08-27T15:07:34.2750000Z</dcterms:modified>
</coreProperties>
</file>