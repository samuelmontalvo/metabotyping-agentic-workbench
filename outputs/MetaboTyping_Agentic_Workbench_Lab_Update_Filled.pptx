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611fd54bd94098" /><Relationship Type="http://schemas.openxmlformats.org/officeDocument/2006/relationships/extended-properties" Target="/docProps/app.xml" Id="Rdeb978fd072c4483" /><Relationship Type="http://schemas.openxmlformats.org/officeDocument/2006/relationships/officeDocument" Target="/ppt/presentation.xml" Id="Rfc813caa622949e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9f5b1cbb6884480"/>
  </p:sldMasterIdLst>
  <p:notesMasterIdLst>
    <p:notesMasterId xmlns:r="http://schemas.openxmlformats.org/officeDocument/2006/relationships" r:id="Rde17e8aa17e44cff"/>
  </p:notesMasterIdLst>
  <p:sldIdLst>
    <p:sldId xmlns:r="http://schemas.openxmlformats.org/officeDocument/2006/relationships" id="256" r:id="R08057de9982841e4"/>
    <p:sldId xmlns:r="http://schemas.openxmlformats.org/officeDocument/2006/relationships" id="257" r:id="R6d990608e164491b"/>
    <p:sldId xmlns:r="http://schemas.openxmlformats.org/officeDocument/2006/relationships" id="258" r:id="R221829a5875f44d5"/>
    <p:sldId xmlns:r="http://schemas.openxmlformats.org/officeDocument/2006/relationships" id="259" r:id="Ra28654e7e7d94cc0"/>
    <p:sldId xmlns:r="http://schemas.openxmlformats.org/officeDocument/2006/relationships" id="260" r:id="R013ad9aa094d4cc9"/>
    <p:sldId xmlns:r="http://schemas.openxmlformats.org/officeDocument/2006/relationships" id="261" r:id="Rd23b5635d2f34e4d"/>
    <p:sldId xmlns:r="http://schemas.openxmlformats.org/officeDocument/2006/relationships" id="262" r:id="R7ce30b1dbdeb43b2"/>
    <p:sldId xmlns:r="http://schemas.openxmlformats.org/officeDocument/2006/relationships" id="263" r:id="R9ce34207bed54e93"/>
    <p:sldId xmlns:r="http://schemas.openxmlformats.org/officeDocument/2006/relationships" id="264" r:id="R465df3389f574030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0750d44cd4754dd9"/>
      <p:bold xmlns:r="http://schemas.openxmlformats.org/officeDocument/2006/relationships" r:id="R6e30d8b17ad84d51"/>
      <p:italic xmlns:r="http://schemas.openxmlformats.org/officeDocument/2006/relationships" r:id="Reca42c899f0948cc"/>
      <p:boldItalic xmlns:r="http://schemas.openxmlformats.org/officeDocument/2006/relationships" r:id="R0834aa67bfa34c54"/>
    </p:embeddedFont>
    <p:embeddedFont>
      <p:font typeface="Open Sans"/>
      <p:regular xmlns:r="http://schemas.openxmlformats.org/officeDocument/2006/relationships" r:id="Rb62cc51369884224"/>
      <p:bold xmlns:r="http://schemas.openxmlformats.org/officeDocument/2006/relationships" r:id="R35b7a0974a1f4b86"/>
      <p:italic xmlns:r="http://schemas.openxmlformats.org/officeDocument/2006/relationships" r:id="R46a2e2f70c2f4612"/>
      <p:boldItalic xmlns:r="http://schemas.openxmlformats.org/officeDocument/2006/relationships" r:id="R2eaa995cc5a1496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d842a449ca4a12" /><Relationship Type="http://schemas.openxmlformats.org/officeDocument/2006/relationships/slideMaster" Target="/ppt/slideMasters/slideMaster1.xml" Id="Rb9f5b1cbb6884480" /><Relationship Type="http://schemas.openxmlformats.org/officeDocument/2006/relationships/notesMaster" Target="/ppt/notesMasters/notesMaster1.xml" Id="Rde17e8aa17e44cff" /><Relationship Type="http://schemas.openxmlformats.org/officeDocument/2006/relationships/presProps" Target="/ppt/presProps.xml" Id="Ra89ac0a51ca44ccf" /><Relationship Type="http://schemas.openxmlformats.org/officeDocument/2006/relationships/viewProps" Target="/ppt/viewProps.xml" Id="R5a9c2b2c1d514692" /><Relationship Type="http://schemas.openxmlformats.org/officeDocument/2006/relationships/tableStyles" Target="/ppt/tableStyles.xml" Id="R511408f2dcda41df" /><Relationship Type="http://schemas.openxmlformats.org/officeDocument/2006/relationships/font" Target="/ppt/fonts/font.dat" Id="R0750d44cd4754dd9" /><Relationship Type="http://schemas.openxmlformats.org/officeDocument/2006/relationships/font" Target="/ppt/fonts/font2.dat" Id="R6e30d8b17ad84d51" /><Relationship Type="http://schemas.openxmlformats.org/officeDocument/2006/relationships/font" Target="/ppt/fonts/font3.dat" Id="Reca42c899f0948cc" /><Relationship Type="http://schemas.openxmlformats.org/officeDocument/2006/relationships/font" Target="/ppt/fonts/font4.dat" Id="R0834aa67bfa34c54" /><Relationship Type="http://schemas.openxmlformats.org/officeDocument/2006/relationships/font" Target="/ppt/fonts/font5.dat" Id="Rb62cc51369884224" /><Relationship Type="http://schemas.openxmlformats.org/officeDocument/2006/relationships/font" Target="/ppt/fonts/font6.dat" Id="R35b7a0974a1f4b86" /><Relationship Type="http://schemas.openxmlformats.org/officeDocument/2006/relationships/font" Target="/ppt/fonts/font7.dat" Id="R46a2e2f70c2f4612" /><Relationship Type="http://schemas.openxmlformats.org/officeDocument/2006/relationships/font" Target="/ppt/fonts/font8.dat" Id="R2eaa995cc5a14966" /><Relationship Type="http://schemas.openxmlformats.org/officeDocument/2006/relationships/slide" Target="/ppt/slides/slide1.xml" Id="R08057de9982841e4" /><Relationship Type="http://schemas.openxmlformats.org/officeDocument/2006/relationships/slide" Target="/ppt/slides/slide2.xml" Id="R6d990608e164491b" /><Relationship Type="http://schemas.openxmlformats.org/officeDocument/2006/relationships/slide" Target="/ppt/slides/slide3.xml" Id="R221829a5875f44d5" /><Relationship Type="http://schemas.openxmlformats.org/officeDocument/2006/relationships/slide" Target="/ppt/slides/slide4.xml" Id="Ra28654e7e7d94cc0" /><Relationship Type="http://schemas.openxmlformats.org/officeDocument/2006/relationships/slide" Target="/ppt/slides/slide5.xml" Id="R013ad9aa094d4cc9" /><Relationship Type="http://schemas.openxmlformats.org/officeDocument/2006/relationships/slide" Target="/ppt/slides/slide6.xml" Id="Rd23b5635d2f34e4d" /><Relationship Type="http://schemas.openxmlformats.org/officeDocument/2006/relationships/slide" Target="/ppt/slides/slide7.xml" Id="R7ce30b1dbdeb43b2" /><Relationship Type="http://schemas.openxmlformats.org/officeDocument/2006/relationships/slide" Target="/ppt/slides/slide8.xml" Id="R9ce34207bed54e93" /><Relationship Type="http://schemas.openxmlformats.org/officeDocument/2006/relationships/slide" Target="/ppt/slides/slide9.xml" Id="R465df3389f57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bbd33459b5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tanford Medicine">
  <a:themeElements>
    <a:clrScheme name="Stanford Medicine">
      <a:dk1>
        <a:srgbClr val="000000"/>
      </a:dk1>
      <a:lt1>
        <a:srgbClr val="FFFFFF"/>
      </a:lt1>
      <a:dk2>
        <a:srgbClr val="696253"/>
      </a:dk2>
      <a:lt2>
        <a:srgbClr val="B9AE98"/>
      </a:lt2>
      <a:accent1>
        <a:srgbClr val="C1C1C1"/>
      </a:accent1>
      <a:accent2>
        <a:srgbClr val="780811"/>
      </a:accent2>
      <a:accent3>
        <a:srgbClr val="0B3248"/>
      </a:accent3>
      <a:accent4>
        <a:srgbClr val="0D697F"/>
      </a:accent4>
      <a:accent5>
        <a:srgbClr val="6E8920"/>
      </a:accent5>
      <a:accent6>
        <a:srgbClr val="435119"/>
      </a:accent6>
      <a:hlink>
        <a:srgbClr val="1188AD"/>
      </a:hlink>
      <a:folHlink>
        <a:srgbClr val="1188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 Medic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778f4cd3542c3" /><Relationship Type="http://schemas.openxmlformats.org/officeDocument/2006/relationships/notesMaster" Target="/ppt/notesMasters/notesMaster1.xml" Id="Rfc36b9b39df645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88e41b84147fd" /><Relationship Type="http://schemas.openxmlformats.org/officeDocument/2006/relationships/notesMaster" Target="/ppt/notesMasters/notesMaster1.xml" Id="R87d2acd7170248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15f0aff5146d6" /><Relationship Type="http://schemas.openxmlformats.org/officeDocument/2006/relationships/notesMaster" Target="/ppt/notesMasters/notesMaster1.xml" Id="R20081a5ec937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96bf203a24a5e" /><Relationship Type="http://schemas.openxmlformats.org/officeDocument/2006/relationships/notesMaster" Target="/ppt/notesMasters/notesMaster1.xml" Id="Rc487d6994cbd41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0303b49ac4a88" /><Relationship Type="http://schemas.openxmlformats.org/officeDocument/2006/relationships/notesMaster" Target="/ppt/notesMasters/notesMaster1.xml" Id="R7dd241c8c45a4c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68ffcdb8c44d35" /><Relationship Type="http://schemas.openxmlformats.org/officeDocument/2006/relationships/notesMaster" Target="/ppt/notesMasters/notesMaster1.xml" Id="R856ca72b77e3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c0ab13b1244cf5" /><Relationship Type="http://schemas.openxmlformats.org/officeDocument/2006/relationships/notesMaster" Target="/ppt/notesMasters/notesMaster1.xml" Id="R1d1853b67052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f45cf1f819431f" /><Relationship Type="http://schemas.openxmlformats.org/officeDocument/2006/relationships/notesMaster" Target="/ppt/notesMasters/notesMaster1.xml" Id="R0f040cf0b8704f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608d4f62164cb8" /><Relationship Type="http://schemas.openxmlformats.org/officeDocument/2006/relationships/notesMaster" Target="/ppt/notesMasters/notesMaster1.xml" Id="Ra3640c302eaf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 template: Copy of Lab Update.pptx.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Lewis GD et al. Sci Transl Med. 2010. PMID: 20505214.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Contrepois K et al. Cell. 2020. PMID: 32470399.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MoTrPAC Study Group. Nature. 2024. DOI: 10.1038/s41586-023-06877-w.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figure: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Workflow definitions: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aims and review boundaries: README.md and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responsibilities: README.md and .agents/skills/.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Human-review and non-executable packet rules: AGENTS.md and src/metabotyping_agentic/review/.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Discovery and mirage criteria: README.md, AGENTS.md, and src/metabotyping_agentic/.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Identity, VO₂peak/VO₂max, and assay-comparability rules: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Report outputs: src/metabotyping_agentic/reports/.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c71974b6e49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25e9d831544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704377f484f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8539785ad42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867d35b7f47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821a8dddb4591" /><Relationship Type="http://schemas.openxmlformats.org/officeDocument/2006/relationships/image" Target="/ppt/media/image3.png" Id="Rc60b380d05974b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40d3a2ab348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07d22a1ec4a14" /><Relationship Type="http://schemas.openxmlformats.org/officeDocument/2006/relationships/image" Target="/ppt/media/image.png" Id="Ra952e7f1d96442b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efac46fbd48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cda064b7940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793f33f3d4039" /><Relationship Type="http://schemas.openxmlformats.org/officeDocument/2006/relationships/image" Target="/ppt/media/image4.png" Id="Rdfa8d5887da24f5e" /><Relationship Type="http://schemas.openxmlformats.org/officeDocument/2006/relationships/image" Target="/ppt/media/image.jpeg" Id="R1c58b168acd64b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a10b051644fbb" /></Relationships>
</file>

<file path=ppt/slideLayouts/slideLayout1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BE670380-3667-4167-812E-64F91EF9E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800" y="288925"/>
            <a:ext cx="6400800" cy="5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424C7A20-3808-4839-B333-6F685E100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4DC85A60-6CA5-40B2-96F6-060ABA734A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1_Standard Layout">
  <p:cSld name="1_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CD63AA06-1DA8-47D1-94CA-4BD78CADC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800" y="288925"/>
            <a:ext cx="6400800" cy="5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3557A66-238B-4FBE-B65A-349010D68F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800" y="1105435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b="0" i="0">
                <a:latin typeface="Helvetica Neue Light"/>
                <a:ea typeface="Helvetica Neue Light"/>
                <a:cs typeface="Helvetica Neue Light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b="0" i="0">
                <a:latin typeface="Helvetica Neue Light"/>
                <a:ea typeface="Helvetica Neue Light"/>
                <a:cs typeface="Helvetica Neue Light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40"/>
              <a:buChar char="▪"/>
              <a:defRPr sz="1800" b="0" i="0">
                <a:latin typeface="Helvetica Neue Light"/>
                <a:ea typeface="Helvetica Neue Light"/>
                <a:cs typeface="Helvetica Neue Light"/>
              </a:defRPr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▪"/>
              <a:defRPr sz="1600" b="0" i="0">
                <a:latin typeface="Helvetica Neue Light"/>
                <a:ea typeface="Helvetica Neue Light"/>
                <a:cs typeface="Helvetica Neue Light"/>
              </a:defRPr>
            </a:lvl4pPr>
            <a:lvl5pPr marL="228600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•"/>
              <a:defRPr sz="1600" b="0" i="0">
                <a:latin typeface="Helvetica Neue Light"/>
                <a:ea typeface="Helvetica Neue Light"/>
                <a:cs typeface="Helvetica Neue Light"/>
              </a:defRPr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214F5D1-5CB2-4533-9ED1-2C90DA8D59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57B3ACF3-B582-4BC8-9368-FF1DBB85DF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0" y="0"/>
            <a:ext cx="3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BFB6A17F-23CC-491D-8043-5B4D996D4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414862AC-0715-4CBC-93D3-37E6F7734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–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▪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2439086B-98F0-467F-BB9B-2ECB4947D5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986BB1A4-CC71-4EB0-A5E0-E2912727BC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F486EDA9-AED9-4D00-B5DB-62BFA3107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9417F807-0F47-47AB-A815-F4B0E9E020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lumn">
  <p:cSld name="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5EEF9749-91A1-47E4-9AE3-9EB49E94A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800" y="288925"/>
            <a:ext cx="6400800" cy="5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A92E4B97-E8AD-4D9C-9B1E-F042C8A4F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800" y="1105434"/>
            <a:ext cx="41529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Char char="▪"/>
              <a:defRPr b="0" i="0">
                <a:latin typeface="Helvetica Neue Light"/>
                <a:ea typeface="Helvetica Neue Light"/>
                <a:cs typeface="Helvetica Neue Light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 b="0" i="0">
                <a:latin typeface="Helvetica Neue Light"/>
                <a:ea typeface="Helvetica Neue Light"/>
                <a:cs typeface="Helvetica Neue Light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Char char="▪"/>
              <a:defRPr sz="1800" b="0" i="0">
                <a:latin typeface="Helvetica Neue Light"/>
                <a:ea typeface="Helvetica Neue Light"/>
                <a:cs typeface="Helvetica Neue Light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▪"/>
              <a:defRPr sz="1600" b="0" i="0">
                <a:latin typeface="Helvetica Neue Light"/>
                <a:ea typeface="Helvetica Neue Light"/>
                <a:cs typeface="Helvetica Neue Light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>
                <a:latin typeface="Helvetica Neue Light"/>
                <a:ea typeface="Helvetica Neue Light"/>
                <a:cs typeface="Helvetica Neue Light"/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E9867E95-1CDB-453B-83A3-456311894A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1649" y="1103159"/>
            <a:ext cx="41529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Char char="▪"/>
              <a:defRPr b="0" i="0">
                <a:latin typeface="Helvetica Neue Light"/>
                <a:ea typeface="Helvetica Neue Light"/>
                <a:cs typeface="Helvetica Neue Light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 b="0" i="0">
                <a:latin typeface="Helvetica Neue Light"/>
                <a:ea typeface="Helvetica Neue Light"/>
                <a:cs typeface="Helvetica Neue Light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Char char="▪"/>
              <a:defRPr sz="1800" b="0" i="0">
                <a:latin typeface="Helvetica Neue Light"/>
                <a:ea typeface="Helvetica Neue Light"/>
                <a:cs typeface="Helvetica Neue Light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▪"/>
              <a:defRPr sz="1600" b="0" i="0">
                <a:latin typeface="Helvetica Neue Light"/>
                <a:ea typeface="Helvetica Neue Light"/>
                <a:cs typeface="Helvetica Neue Light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>
                <a:latin typeface="Helvetica Neue Light"/>
                <a:ea typeface="Helvetica Neue Light"/>
                <a:cs typeface="Helvetica Neue Light"/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FC061CDB-3504-43E3-A2EF-5DC3257978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36767C8B-3B6B-46A2-A15A-213034160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84595EAF-2B65-4EBD-9315-0BA9CEA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D21A6FDE-A1F7-4432-BBB5-0154D8F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0"/>
            <a:ext cx="5910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Google Shape;3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0b380d05974b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9400" y="1949450"/>
            <a:ext cx="2603500" cy="730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" name="Google Shape;39;p7">
            <a:extLst xmlns:a="http://schemas.openxmlformats.org/drawingml/2006/main">
              <a:ext uri="{FF2B5EF4-FFF2-40B4-BE49-F238E27FC236}">
                <a16:creationId xmlns:a16="http://schemas.microsoft.com/office/drawing/2014/main" id="{725229AA-B0CF-446E-BC62-BC3C3B57EC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429000" y="1855527"/>
            <a:ext cx="5460900" cy="10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04BB08ED-E032-4B38-93C3-FCC01EFEA5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429000" y="3046245"/>
            <a:ext cx="51054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40"/>
              <a:buNone/>
              <a:defRPr sz="2400" b="0" i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ADDF9E76-FC73-40C1-90C8-B05568855A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00" y="3897313"/>
            <a:ext cx="41244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2pPr>
            <a:lvl3pPr marL="1371600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Char char="▪"/>
              <a:defRPr>
                <a:solidFill>
                  <a:schemeClr val="lt1"/>
                </a:solidFill>
              </a:defRPr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o"/>
              <a:defRPr>
                <a:solidFill>
                  <a:schemeClr val="lt1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Image with Caption">
  <p:cSld name="Imag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259D9DEB-16F1-4C59-AEBB-91CDEB95D22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7198" y="1"/>
            <a:ext cx="9076800" cy="391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C18769D5-E5C4-42EB-A9B1-FDD2065424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73" y="3686472"/>
            <a:ext cx="9076800" cy="72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45700" rIns="182875" bIns="45700" anchor="ctr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o"/>
              <a:defRPr>
                <a:solidFill>
                  <a:schemeClr val="lt1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5" name="Google Shape;45;p8">
            <a:extLst xmlns:a="http://schemas.openxmlformats.org/drawingml/2006/main">
              <a:ext uri="{FF2B5EF4-FFF2-40B4-BE49-F238E27FC236}">
                <a16:creationId xmlns:a16="http://schemas.microsoft.com/office/drawing/2014/main" id="{C6CF5FCE-D74E-400C-AF13-0974BF7117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p8">
            <a:extLst xmlns:a="http://schemas.openxmlformats.org/drawingml/2006/main">
              <a:ext uri="{FF2B5EF4-FFF2-40B4-BE49-F238E27FC236}">
                <a16:creationId xmlns:a16="http://schemas.microsoft.com/office/drawing/2014/main" id="{0A70FA21-0F70-46C1-824C-8262425ED8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 matchingName="Closing Slide">
  <p:cSld name="Closing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4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52e7f1d96442b9">
            <a:alphaModFix/>
          </a:blip>
          <a:srcRect xmlns:a="http://schemas.openxmlformats.org/drawingml/2006/main" l="0" t="36021" r="0" b="36021"/>
          <a:stretch xmlns:a="http://schemas.openxmlformats.org/drawingml/2006/main"/>
        </p:blipFill>
        <p:spPr>
          <a:xfrm xmlns:a="http://schemas.openxmlformats.org/drawingml/2006/main">
            <a:off x="2319226" y="1888574"/>
            <a:ext cx="4507151" cy="1259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64511F47-E833-44DF-BF46-39E673E4DE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7EE7CF3F-1077-494C-83C6-726AE8C0AC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52" name="Google Shape;52;p10">
            <a:extLst xmlns:a="http://schemas.openxmlformats.org/drawingml/2006/main">
              <a:ext uri="{FF2B5EF4-FFF2-40B4-BE49-F238E27FC236}">
                <a16:creationId xmlns:a16="http://schemas.microsoft.com/office/drawing/2014/main" id="{073F3770-B838-4D8C-9346-13A7610044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D78811B6-E5A2-4639-9740-910923BA4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36D35F03-BC31-4870-B146-0E1C59DCB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16823AF2-7913-46D9-920D-13A7E746C7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7" name="Google Shape;57;p11">
            <a:extLst xmlns:a="http://schemas.openxmlformats.org/drawingml/2006/main">
              <a:ext uri="{FF2B5EF4-FFF2-40B4-BE49-F238E27FC236}">
                <a16:creationId xmlns:a16="http://schemas.microsoft.com/office/drawing/2014/main" id="{09E6D310-95C6-4E03-B7CD-013889822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8" name="Google Shape;58;p11">
            <a:extLst xmlns:a="http://schemas.openxmlformats.org/drawingml/2006/main">
              <a:ext uri="{FF2B5EF4-FFF2-40B4-BE49-F238E27FC236}">
                <a16:creationId xmlns:a16="http://schemas.microsoft.com/office/drawing/2014/main" id="{49E4ECF7-79CF-4851-8658-70C8EC74D2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1">
            <a:extLst xmlns:a="http://schemas.openxmlformats.org/drawingml/2006/main">
              <a:ext uri="{FF2B5EF4-FFF2-40B4-BE49-F238E27FC236}">
                <a16:creationId xmlns:a16="http://schemas.microsoft.com/office/drawing/2014/main" id="{41AFE811-1552-4B6B-A936-8572616DC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Closing Slide Option 3">
  <p:cSld name="Closing Slide Option 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A792D8B6-2254-439B-B4F5-FB19CEC3D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1984" y="746770"/>
            <a:ext cx="8534400" cy="5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sz="27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▪"/>
              <a:defRPr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  <a:defRPr/>
            </a:lvl4pPr>
            <a:lvl5pPr marL="22860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48D3337F-7D38-49A2-ACEF-2449A9153E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61984" y="1591617"/>
            <a:ext cx="2711100" cy="196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22222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35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68" name="Google Shape;63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a8d5887da24f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61457" y="4436247"/>
            <a:ext cx="3638888" cy="5017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5BE3A86B-60BA-42B5-8418-90CA504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-134"/>
            <a:ext cx="8835300" cy="449100"/>
          </a:xfrm>
          <a:prstGeom xmlns:a="http://schemas.openxmlformats.org/drawingml/2006/main" prst="round1Rect">
            <a:avLst>
              <a:gd name="adj" fmla="val 50000"/>
            </a:avLst>
          </a:prstGeom>
          <a:blipFill xmlns:a="http://schemas.openxmlformats.org/drawingml/2006/main" rotWithShape="1">
            <a:blip xmlns:r="http://schemas.openxmlformats.org/officeDocument/2006/relationships" r:embed="R1c58b168acd64b05">
              <a:alphaModFix/>
            </a:blip>
            <a:stretch>
              <a:fillRect l="-550" t="-237948" r="-15500" b="-515004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latin typeface="Arial"/>
                <a:ea typeface="Arial"/>
                <a:cs typeface="Arial"/>
              </a:rPr>
              <a:t>           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BE52318B-371A-4AF2-ABF4-EC137F7A3C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b">
            <a:noAutofit/>
          </a:bodyPr>
          <a:lstStyle xmlns:a="http://schemas.openxmlformats.org/drawingml/2006/main">
            <a:lvl1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B4800E91-5918-458F-9C23-2C75D315BA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360"/>
              </a:spcBef>
              <a:spcAft>
                <a:spcPts val="0"/>
              </a:spcAft>
              <a:buSzPts val="2200"/>
              <a:buNone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indent="-345186" algn="l">
              <a:spcBef>
                <a:spcPts val="360"/>
              </a:spcBef>
              <a:spcAft>
                <a:spcPts val="0"/>
              </a:spcAft>
              <a:buSzPts val="1836"/>
              <a:buChar char="▪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49a8ccd94a24f76" /><Relationship Type="http://schemas.openxmlformats.org/officeDocument/2006/relationships/image" Target="/ppt/media/image2.png" Id="R68c18444adea4c64" /><Relationship Type="http://schemas.openxmlformats.org/officeDocument/2006/relationships/theme" Target="/ppt/slideMasters/theme/theme2.xml" Id="R82dc4e1a7eea480e" /><Relationship Type="http://schemas.openxmlformats.org/officeDocument/2006/relationships/slideLayout" Target="/ppt/slideLayouts/slideLayout1.xml" Id="R641e788c9acf432a" /><Relationship Type="http://schemas.openxmlformats.org/officeDocument/2006/relationships/slideLayout" Target="/ppt/slideLayouts/slideLayout2.xml" Id="R5a073ca3cfae4da4" /><Relationship Type="http://schemas.openxmlformats.org/officeDocument/2006/relationships/slideLayout" Target="/ppt/slideLayouts/slideLayout3.xml" Id="R7e43b451680548db" /><Relationship Type="http://schemas.openxmlformats.org/officeDocument/2006/relationships/slideLayout" Target="/ppt/slideLayouts/slideLayout4.xml" Id="R98bb162638f642b7" /><Relationship Type="http://schemas.openxmlformats.org/officeDocument/2006/relationships/slideLayout" Target="/ppt/slideLayouts/slideLayout5.xml" Id="R197dbe3e5bbe454a" /><Relationship Type="http://schemas.openxmlformats.org/officeDocument/2006/relationships/slideLayout" Target="/ppt/slideLayouts/slideLayout6.xml" Id="Ra1a68b7bfa264995" /><Relationship Type="http://schemas.openxmlformats.org/officeDocument/2006/relationships/slideLayout" Target="/ppt/slideLayouts/slideLayout7.xml" Id="R54b3ff108d104c70" /><Relationship Type="http://schemas.openxmlformats.org/officeDocument/2006/relationships/slideLayout" Target="/ppt/slideLayouts/slideLayout8.xml" Id="R1a9deb7b251c464a" /><Relationship Type="http://schemas.openxmlformats.org/officeDocument/2006/relationships/slideLayout" Target="/ppt/slideLayouts/slideLayout9.xml" Id="R0bb2ca49a558458c" /><Relationship Type="http://schemas.openxmlformats.org/officeDocument/2006/relationships/slideLayout" Target="/ppt/slideLayouts/slideLayout10.xml" Id="Rf198a17cd2b2408d" /><Relationship Type="http://schemas.openxmlformats.org/officeDocument/2006/relationships/slideLayout" Target="/ppt/slideLayouts/slideLayout11.xml" Id="Ra7aaf500c6fb41c3" /><Relationship Type="http://schemas.openxmlformats.org/officeDocument/2006/relationships/slideLayout" Target="/ppt/slideLayouts/slideLayout12.xml" Id="Rbddfcc6fb18c450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1C34111-1251-46C5-BCC5-F47AF8088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800" y="288925"/>
            <a:ext cx="6400800" cy="5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5FB87EB-81AF-4F5B-A8E3-259D0D8F8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800" y="1130300"/>
            <a:ext cx="8534400" cy="33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Noto Sans"/>
              <a:buChar char="▪"/>
              <a:defRPr sz="2000" b="0" i="0" u="none" cap="none">
                <a:solidFill>
                  <a:srgbClr val="262626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–"/>
              <a:defRPr sz="1800" b="0" i="0" u="none" cap="none">
                <a:solidFill>
                  <a:srgbClr val="262626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1371600" marR="0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Noto Sans"/>
              <a:buChar char="▪"/>
              <a:defRPr sz="1800" b="0" i="0" u="none" cap="none">
                <a:solidFill>
                  <a:srgbClr val="262626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9F04202-EF07-4031-B3AC-149AED25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7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Google Shape;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9a8ccd94a24f76">
            <a:alphaModFix/>
          </a:blip>
          <a:srcRect xmlns:a="http://schemas.openxmlformats.org/drawingml/2006/main" l="0" t="36005" r="0" b="36005"/>
          <a:stretch xmlns:a="http://schemas.openxmlformats.org/drawingml/2006/main"/>
        </p:blipFill>
        <p:spPr>
          <a:xfrm xmlns:a="http://schemas.openxmlformats.org/drawingml/2006/main">
            <a:off x="7524962" y="4620863"/>
            <a:ext cx="1619041" cy="4531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775BC05D-1FEB-486E-A9C8-46ACED46AA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pic>
        <p:nvPicPr>
          <p:cNvPr id="18" name="Google Shape;11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c18444adea4c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0975" y="4773168"/>
            <a:ext cx="2254036" cy="1564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e788c9acf432a"/>
    <p:sldLayoutId xmlns:r="http://schemas.openxmlformats.org/officeDocument/2006/relationships" id="2147483650" r:id="R5a073ca3cfae4da4"/>
    <p:sldLayoutId xmlns:r="http://schemas.openxmlformats.org/officeDocument/2006/relationships" id="2147483651" r:id="R7e43b451680548db"/>
    <p:sldLayoutId xmlns:r="http://schemas.openxmlformats.org/officeDocument/2006/relationships" id="2147483652" r:id="R98bb162638f642b7"/>
    <p:sldLayoutId xmlns:r="http://schemas.openxmlformats.org/officeDocument/2006/relationships" id="2147483653" r:id="R197dbe3e5bbe454a"/>
    <p:sldLayoutId xmlns:r="http://schemas.openxmlformats.org/officeDocument/2006/relationships" id="2147483654" r:id="Ra1a68b7bfa264995"/>
    <p:sldLayoutId xmlns:r="http://schemas.openxmlformats.org/officeDocument/2006/relationships" id="2147483655" r:id="R54b3ff108d104c70"/>
    <p:sldLayoutId xmlns:r="http://schemas.openxmlformats.org/officeDocument/2006/relationships" id="2147483656" r:id="R1a9deb7b251c464a"/>
    <p:sldLayoutId xmlns:r="http://schemas.openxmlformats.org/officeDocument/2006/relationships" id="2147483657" r:id="R0bb2ca49a558458c"/>
    <p:sldLayoutId xmlns:r="http://schemas.openxmlformats.org/officeDocument/2006/relationships" id="2147483658" r:id="Rf198a17cd2b2408d"/>
    <p:sldLayoutId xmlns:r="http://schemas.openxmlformats.org/officeDocument/2006/relationships" id="2147483659" r:id="Ra7aaf500c6fb41c3"/>
    <p:sldLayoutId xmlns:r="http://schemas.openxmlformats.org/officeDocument/2006/relationships" id="2147483660" r:id="Rbddfcc6fb18c450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tanford Medicine">
  <a:themeElements>
    <a:clrScheme name="Stanford Medicine">
      <a:dk1>
        <a:srgbClr val="000000"/>
      </a:dk1>
      <a:lt1>
        <a:srgbClr val="FFFFFF"/>
      </a:lt1>
      <a:dk2>
        <a:srgbClr val="696253"/>
      </a:dk2>
      <a:lt2>
        <a:srgbClr val="B9AE98"/>
      </a:lt2>
      <a:accent1>
        <a:srgbClr val="C1C1C1"/>
      </a:accent1>
      <a:accent2>
        <a:srgbClr val="780811"/>
      </a:accent2>
      <a:accent3>
        <a:srgbClr val="0B3248"/>
      </a:accent3>
      <a:accent4>
        <a:srgbClr val="0D697F"/>
      </a:accent4>
      <a:accent5>
        <a:srgbClr val="6E8920"/>
      </a:accent5>
      <a:accent6>
        <a:srgbClr val="435119"/>
      </a:accent6>
      <a:hlink>
        <a:srgbClr val="1188AD"/>
      </a:hlink>
      <a:folHlink>
        <a:srgbClr val="1188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 Medic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3ca9d0e57724f10" /><Relationship Type="http://schemas.openxmlformats.org/officeDocument/2006/relationships/notesSlide" Target="/ppt/notesSlides/notesSlide1.xml" Id="Ra383e133cad5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79ca5a3175f457f" /><Relationship Type="http://schemas.openxmlformats.org/officeDocument/2006/relationships/notesSlide" Target="/ppt/notesSlides/notesSlide2.xml" Id="R112ad289a51446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f708abdf2334884" /><Relationship Type="http://schemas.openxmlformats.org/officeDocument/2006/relationships/image" Target="/ppt/media/image5.png" Id="R813f34f4243f427f" /><Relationship Type="http://schemas.openxmlformats.org/officeDocument/2006/relationships/notesSlide" Target="/ppt/notesSlides/notesSlide3.xml" Id="R421eeb0ccbe9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d490348236746d7" /><Relationship Type="http://schemas.openxmlformats.org/officeDocument/2006/relationships/notesSlide" Target="/ppt/notesSlides/notesSlide4.xml" Id="R62586c1c2646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d6f7194effd4e99" /><Relationship Type="http://schemas.openxmlformats.org/officeDocument/2006/relationships/notesSlide" Target="/ppt/notesSlides/notesSlide5.xml" Id="R79a136153ff048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1e6a744b6d64164" /><Relationship Type="http://schemas.openxmlformats.org/officeDocument/2006/relationships/notesSlide" Target="/ppt/notesSlides/notesSlide6.xml" Id="R861aa766927d49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a90186642d8491f" /><Relationship Type="http://schemas.openxmlformats.org/officeDocument/2006/relationships/notesSlide" Target="/ppt/notesSlides/notesSlide7.xml" Id="R1f744aacc29f47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2aab47d0c544841" /><Relationship Type="http://schemas.openxmlformats.org/officeDocument/2006/relationships/notesSlide" Target="/ppt/notesSlides/notesSlide8.xml" Id="Rf9e45eea446442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8ea1eaf32a14556" /><Relationship Type="http://schemas.openxmlformats.org/officeDocument/2006/relationships/image" Target="/ppt/media/image6.png" Id="R32fab78355294d7d" /><Relationship Type="http://schemas.openxmlformats.org/officeDocument/2006/relationships/notesSlide" Target="/ppt/notesSlides/notesSlide9.xml" Id="R28408de3e3a940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DDACD126-DF65-4FD0-8977-02F0A68A7A9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107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MetaboTyping Workbench</a:t>
            </a:r>
            <a:endParaRPr/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F812BC15-9811-4C91-A05A-578368D4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262626"/>
                </a:solidFill>
                <a:latin typeface="Helvetica Neue Light"/>
                <a:ea typeface="Helvetica Neue Light"/>
                <a:cs typeface="Helvetica Neue Light"/>
              </a:rPr>
              <a:t>Samuel Montalvo, Ph.D.</a:t>
            </a:r>
            <a:endParaRPr sz="2000">
              <a:solidFill>
                <a:srgbClr val="262626"/>
              </a:solidFill>
              <a:latin typeface="Helvetica Neue Light"/>
              <a:ea typeface="Helvetica Neue Light"/>
              <a:cs typeface="Helvetica Neue Ligh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i="1">
                <a:solidFill>
                  <a:srgbClr val="262626"/>
                </a:solidFill>
                <a:latin typeface="Helvetica Neue Light"/>
                <a:ea typeface="Helvetica Neue Light"/>
                <a:cs typeface="Helvetica Neue Light"/>
              </a:rPr>
              <a:t>Stanford University</a:t>
            </a:r>
            <a:endParaRPr sz="1600" i="1">
              <a:solidFill>
                <a:srgbClr val="262626"/>
              </a:solidFill>
              <a:latin typeface="Helvetica Neue Light"/>
              <a:ea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13973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CE5606F1-D3E4-4ECA-9768-07F39B4274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688" y="139950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Exercise Metabolites</a:t>
            </a:r>
            <a:endParaRPr/>
          </a:p>
        </p:txBody>
      </p:sp>
      <p:sp>
        <p:nvSpPr>
          <p:cNvPr id="79" name="exercise-need-hero">
            <a:extLst xmlns:a="http://schemas.openxmlformats.org/drawingml/2006/main">
              <a:ext uri="{FF2B5EF4-FFF2-40B4-BE49-F238E27FC236}">
                <a16:creationId xmlns:a16="http://schemas.microsoft.com/office/drawing/2014/main" id="{DC9CADF9-F826-4E1A-9927-03735FBB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2D29"/>
                </a:solidFill>
              </a:defRPr>
            </a:pPr>
            <a:r>
              <a:rPr sz="2400" b="1">
                <a:solidFill>
                  <a:srgbClr val="2E2D29"/>
                </a:solidFill>
              </a:rPr>
              <a:t>Exercise changes metabolism within minutes.</a:t>
            </a:r>
          </a:p>
        </p:txBody>
      </p:sp>
      <p:sp>
        <p:nvSpPr>
          <p:cNvPr id="80" name="exercise-need-1">
            <a:extLst xmlns:a="http://schemas.openxmlformats.org/drawingml/2006/main">
              <a:ext uri="{FF2B5EF4-FFF2-40B4-BE49-F238E27FC236}">
                <a16:creationId xmlns:a16="http://schemas.microsoft.com/office/drawing/2014/main" id="{A5C4B4ED-3C96-4E6D-8F52-2510A01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Capture</a:t>
            </a:r>
          </a:p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acute responses</a:t>
            </a:r>
          </a:p>
        </p:txBody>
      </p:sp>
      <p:sp>
        <p:nvSpPr>
          <p:cNvPr id="81" name="exercise-need-2">
            <a:extLst xmlns:a="http://schemas.openxmlformats.org/drawingml/2006/main">
              <a:ext uri="{FF2B5EF4-FFF2-40B4-BE49-F238E27FC236}">
                <a16:creationId xmlns:a16="http://schemas.microsoft.com/office/drawing/2014/main" id="{0863D9AE-BF1C-4BF4-B2EA-8DDCEFA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Explain</a:t>
            </a:r>
          </a:p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individual variation</a:t>
            </a:r>
          </a:p>
        </p:txBody>
      </p:sp>
      <p:sp>
        <p:nvSpPr>
          <p:cNvPr id="82" name="exercise-need-3">
            <a:extLst xmlns:a="http://schemas.openxmlformats.org/drawingml/2006/main">
              <a:ext uri="{FF2B5EF4-FFF2-40B4-BE49-F238E27FC236}">
                <a16:creationId xmlns:a16="http://schemas.microsoft.com/office/drawing/2014/main" id="{8FE67BA7-9F96-4D25-905F-9C55FB8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Find candidate</a:t>
            </a:r>
          </a:p>
          <a:p xmlns:a="http://schemas.openxmlformats.org/drawingml/2006/main">
            <a:pPr algn="ctr">
              <a:defRPr sz="1875" b="1">
                <a:solidFill>
                  <a:srgbClr val="8C1515"/>
                </a:solidFill>
              </a:defRPr>
            </a:pPr>
            <a:r>
              <a:rPr sz="1875" b="1">
                <a:solidFill>
                  <a:srgbClr val="8C1515"/>
                </a:solidFill>
              </a:rPr>
              <a:t>biomarkers</a:t>
            </a:r>
          </a:p>
        </p:txBody>
      </p:sp>
      <p:sp>
        <p:nvSpPr>
          <p:cNvPr id="83" name="exercise-need-footer">
            <a:extLst xmlns:a="http://schemas.openxmlformats.org/drawingml/2006/main">
              <a:ext uri="{FF2B5EF4-FFF2-40B4-BE49-F238E27FC236}">
                <a16:creationId xmlns:a16="http://schemas.microsoft.com/office/drawing/2014/main" id="{2C353572-6C7C-461D-BCB7-E80F9322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i="1">
                <a:solidFill>
                  <a:srgbClr val="5F574F"/>
                </a:solidFill>
              </a:defRPr>
            </a:pPr>
            <a:r>
              <a:rPr sz="1500" i="1">
                <a:solidFill>
                  <a:srgbClr val="5F574F"/>
                </a:solidFill>
              </a:rPr>
              <a:t>Timing, fitness, sex, diet, and assay design shape the signal.</a:t>
            </a:r>
          </a:p>
        </p:txBody>
      </p:sp>
    </p:spTree>
    <p:extLst>
      <p:ext uri="{BB962C8B-B14F-4D97-AF65-F5344CB8AC3E}">
        <p14:creationId xmlns:p14="http://schemas.microsoft.com/office/powerpoint/2010/main" val="1191088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6">
            <a:extLst xmlns:a="http://schemas.openxmlformats.org/drawingml/2006/main">
              <a:ext uri="{FF2B5EF4-FFF2-40B4-BE49-F238E27FC236}">
                <a16:creationId xmlns:a16="http://schemas.microsoft.com/office/drawing/2014/main" id="{1CF55E44-B895-496D-9C62-B79AE560E48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688" y="139950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MetaboTyping Workbench</a:t>
            </a:r>
            <a:endParaRPr/>
          </a:p>
        </p:txBody>
      </p:sp>
      <p:pic>
        <p:nvPicPr>
          <p:cNvPr id="86" name="Google Shape;84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f34f4243f427f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2406518" y="1017475"/>
            <a:ext cx="4821915" cy="2726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865611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2F3FE487-A925-440F-ACD8-7B993A3FF4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688" y="139950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Objectives</a:t>
            </a:r>
            <a:endParaRPr/>
          </a:p>
        </p:txBody>
      </p:sp>
      <p:sp>
        <p:nvSpPr>
          <p:cNvPr id="90" name="objective-1">
            <a:extLst xmlns:a="http://schemas.openxmlformats.org/drawingml/2006/main">
              <a:ext uri="{FF2B5EF4-FFF2-40B4-BE49-F238E27FC236}">
                <a16:creationId xmlns:a16="http://schemas.microsoft.com/office/drawing/2014/main" id="{CCD1220C-6DB9-485A-9DA0-2D60E43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515"/>
                </a:solidFill>
              </a:defRPr>
            </a:pPr>
            <a:r>
              <a:rPr sz="2250" b="1">
                <a:solidFill>
                  <a:srgbClr val="8C1515"/>
                </a:solidFill>
              </a:rPr>
              <a:t>01</a:t>
            </a:r>
          </a:p>
        </p:txBody>
      </p:sp>
      <p:sp>
        <p:nvSpPr>
          <p:cNvPr id="91" name="objective-text-1">
            <a:extLst xmlns:a="http://schemas.openxmlformats.org/drawingml/2006/main">
              <a:ext uri="{FF2B5EF4-FFF2-40B4-BE49-F238E27FC236}">
                <a16:creationId xmlns:a16="http://schemas.microsoft.com/office/drawing/2014/main" id="{8A158148-2572-4371-9003-6BC70D7D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2D29"/>
                </a:solidFill>
              </a:defRPr>
            </a:pPr>
            <a:r>
              <a:rPr sz="2025" b="1">
                <a:solidFill>
                  <a:srgbClr val="2E2D29"/>
                </a:solidFill>
              </a:rPr>
              <a:t>Discover usable exercise-metabolomics studies</a:t>
            </a:r>
          </a:p>
        </p:txBody>
      </p:sp>
      <p:sp>
        <p:nvSpPr>
          <p:cNvPr id="92" name="objective-2">
            <a:extLst xmlns:a="http://schemas.openxmlformats.org/drawingml/2006/main">
              <a:ext uri="{FF2B5EF4-FFF2-40B4-BE49-F238E27FC236}">
                <a16:creationId xmlns:a16="http://schemas.microsoft.com/office/drawing/2014/main" id="{C37375AE-2698-4C1F-B60A-0DBD414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515"/>
                </a:solidFill>
              </a:defRPr>
            </a:pPr>
            <a:r>
              <a:rPr sz="2250" b="1">
                <a:solidFill>
                  <a:srgbClr val="8C1515"/>
                </a:solidFill>
              </a:rPr>
              <a:t>02</a:t>
            </a:r>
          </a:p>
        </p:txBody>
      </p:sp>
      <p:sp>
        <p:nvSpPr>
          <p:cNvPr id="93" name="objective-text-2">
            <a:extLst xmlns:a="http://schemas.openxmlformats.org/drawingml/2006/main">
              <a:ext uri="{FF2B5EF4-FFF2-40B4-BE49-F238E27FC236}">
                <a16:creationId xmlns:a16="http://schemas.microsoft.com/office/drawing/2014/main" id="{47D44F66-487A-480B-A160-8089B08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2D29"/>
                </a:solidFill>
              </a:defRPr>
            </a:pPr>
            <a:r>
              <a:rPr sz="2025" b="1">
                <a:solidFill>
                  <a:srgbClr val="2E2D29"/>
                </a:solidFill>
              </a:rPr>
              <a:t>Build evidence-backed metadata and crosswalks</a:t>
            </a:r>
          </a:p>
        </p:txBody>
      </p:sp>
      <p:sp>
        <p:nvSpPr>
          <p:cNvPr id="94" name="objective-3">
            <a:extLst xmlns:a="http://schemas.openxmlformats.org/drawingml/2006/main">
              <a:ext uri="{FF2B5EF4-FFF2-40B4-BE49-F238E27FC236}">
                <a16:creationId xmlns:a16="http://schemas.microsoft.com/office/drawing/2014/main" id="{248C7FE0-51E7-415F-A471-4D2E0A2C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515"/>
                </a:solidFill>
              </a:defRPr>
            </a:pPr>
            <a:r>
              <a:rPr sz="2250" b="1">
                <a:solidFill>
                  <a:srgbClr val="8C1515"/>
                </a:solidFill>
              </a:rPr>
              <a:t>03</a:t>
            </a:r>
          </a:p>
        </p:txBody>
      </p:sp>
      <p:sp>
        <p:nvSpPr>
          <p:cNvPr id="95" name="objective-text-3">
            <a:extLst xmlns:a="http://schemas.openxmlformats.org/drawingml/2006/main">
              <a:ext uri="{FF2B5EF4-FFF2-40B4-BE49-F238E27FC236}">
                <a16:creationId xmlns:a16="http://schemas.microsoft.com/office/drawing/2014/main" id="{AF15AE46-A4CA-4685-A449-6EFA7EE4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2D29"/>
                </a:solidFill>
              </a:defRPr>
            </a:pPr>
            <a:r>
              <a:rPr sz="2025" b="1">
                <a:solidFill>
                  <a:srgbClr val="2E2D29"/>
                </a:solidFill>
              </a:rPr>
              <a:t>Send uncertain decisions to human review</a:t>
            </a:r>
          </a:p>
        </p:txBody>
      </p:sp>
    </p:spTree>
    <p:extLst>
      <p:ext uri="{BB962C8B-B14F-4D97-AF65-F5344CB8AC3E}">
        <p14:creationId xmlns:p14="http://schemas.microsoft.com/office/powerpoint/2010/main" val="12530154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5DF613ED-0C7E-417C-A9C9-468CC603E27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38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Agent Roles</a:t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AC1EB117-AF3C-4230-9CFE-A2FA57A401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8900" y="130837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Find records  •  extract metadata  •  prepare review questions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582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0301E5BC-320C-490A-83CD-7FF6D613459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38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Human Review</a:t>
            </a:r>
            <a:endParaRPr/>
          </a:p>
        </p:txBody>
      </p:sp>
      <p:sp>
        <p:nvSp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DE4540B3-216C-489C-9AD0-E9C18EDB4F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8900" y="130837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Agents advise. Schemas and code block unreviewed actions.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751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20">
            <a:extLst xmlns:a="http://schemas.openxmlformats.org/drawingml/2006/main">
              <a:ext uri="{FF2B5EF4-FFF2-40B4-BE49-F238E27FC236}">
                <a16:creationId xmlns:a16="http://schemas.microsoft.com/office/drawing/2014/main" id="{E67D093E-B6CB-4D23-A4DE-579806A058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38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Finding usable datasets</a:t>
            </a:r>
            <a:endParaRPr/>
          </a:p>
        </p:txBody>
      </p:sp>
      <p:sp>
        <p:nvSpPr>
          <p:cNvPr id="107" name="find-step-1">
            <a:extLst xmlns:a="http://schemas.openxmlformats.org/drawingml/2006/main">
              <a:ext uri="{FF2B5EF4-FFF2-40B4-BE49-F238E27FC236}">
                <a16:creationId xmlns:a16="http://schemas.microsoft.com/office/drawing/2014/main" id="{C272DA36-124C-4B55-B1F6-63FBBF0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C1515"/>
                </a:solidFill>
              </a:defRPr>
            </a:pPr>
            <a:r>
              <a:rPr sz="1950" b="1">
                <a:solidFill>
                  <a:srgbClr val="8C1515"/>
                </a:solidFill>
              </a:rPr>
              <a:t>DISCOVER</a:t>
            </a:r>
          </a:p>
        </p:txBody>
      </p:sp>
      <p:sp>
        <p:nvSpPr>
          <p:cNvPr id="108" name="find-body-1">
            <a:extLst xmlns:a="http://schemas.openxmlformats.org/drawingml/2006/main">
              <a:ext uri="{FF2B5EF4-FFF2-40B4-BE49-F238E27FC236}">
                <a16:creationId xmlns:a16="http://schemas.microsoft.com/office/drawing/2014/main" id="{1C03F944-C816-450C-A92C-6EC39A77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E2D29"/>
                </a:solidFill>
              </a:defRPr>
            </a:pPr>
            <a:r>
              <a:rPr sz="1575">
                <a:solidFill>
                  <a:srgbClr val="2E2D29"/>
                </a:solidFill>
              </a:rPr>
              <a:t>Exercise + metabolomics</a:t>
            </a:r>
          </a:p>
        </p:txBody>
      </p:sp>
      <p:sp>
        <p:nvSpPr>
          <p:cNvPr id="109" name="find-step-2">
            <a:extLst xmlns:a="http://schemas.openxmlformats.org/drawingml/2006/main">
              <a:ext uri="{FF2B5EF4-FFF2-40B4-BE49-F238E27FC236}">
                <a16:creationId xmlns:a16="http://schemas.microsoft.com/office/drawing/2014/main" id="{37DAF82F-5A8C-4FBF-8238-0329304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C1515"/>
                </a:solidFill>
              </a:defRPr>
            </a:pPr>
            <a:r>
              <a:rPr sz="1950" b="1">
                <a:solidFill>
                  <a:srgbClr val="8C1515"/>
                </a:solidFill>
              </a:rPr>
              <a:t>VERIFY</a:t>
            </a:r>
          </a:p>
        </p:txBody>
      </p:sp>
      <p:sp>
        <p:nvSpPr>
          <p:cNvPr id="110" name="find-body-2">
            <a:extLst xmlns:a="http://schemas.openxmlformats.org/drawingml/2006/main">
              <a:ext uri="{FF2B5EF4-FFF2-40B4-BE49-F238E27FC236}">
                <a16:creationId xmlns:a16="http://schemas.microsoft.com/office/drawing/2014/main" id="{14F580C7-5A1D-40E4-844E-879B348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E2D29"/>
                </a:solidFill>
              </a:defRPr>
            </a:pPr>
            <a:r>
              <a:rPr sz="1575">
                <a:solidFill>
                  <a:srgbClr val="2E2D29"/>
                </a:solidFill>
              </a:rPr>
              <a:t>Access + metadata</a:t>
            </a:r>
          </a:p>
        </p:txBody>
      </p:sp>
      <p:sp>
        <p:nvSpPr>
          <p:cNvPr id="111" name="find-step-3">
            <a:extLst xmlns:a="http://schemas.openxmlformats.org/drawingml/2006/main">
              <a:ext uri="{FF2B5EF4-FFF2-40B4-BE49-F238E27FC236}">
                <a16:creationId xmlns:a16="http://schemas.microsoft.com/office/drawing/2014/main" id="{1066DFF4-5C3E-416C-BD8A-443204E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C1515"/>
                </a:solidFill>
              </a:defRPr>
            </a:pPr>
            <a:r>
              <a:rPr sz="1950" b="1">
                <a:solidFill>
                  <a:srgbClr val="8C1515"/>
                </a:solidFill>
              </a:rPr>
              <a:t>RANK</a:t>
            </a:r>
          </a:p>
        </p:txBody>
      </p:sp>
      <p:sp>
        <p:nvSpPr>
          <p:cNvPr id="112" name="find-body-3">
            <a:extLst xmlns:a="http://schemas.openxmlformats.org/drawingml/2006/main">
              <a:ext uri="{FF2B5EF4-FFF2-40B4-BE49-F238E27FC236}">
                <a16:creationId xmlns:a16="http://schemas.microsoft.com/office/drawing/2014/main" id="{83F2B666-3DA5-4F4B-A908-1DA12B81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E2D29"/>
                </a:solidFill>
              </a:defRPr>
            </a:pPr>
            <a:r>
              <a:rPr sz="1575">
                <a:solidFill>
                  <a:srgbClr val="2E2D29"/>
                </a:solidFill>
              </a:rPr>
              <a:t>Evidence + readiness</a:t>
            </a:r>
          </a:p>
        </p:txBody>
      </p:sp>
      <p:sp>
        <p:nvSpPr>
          <p:cNvPr id="113" name="find-footer">
            <a:extLst xmlns:a="http://schemas.openxmlformats.org/drawingml/2006/main">
              <a:ext uri="{FF2B5EF4-FFF2-40B4-BE49-F238E27FC236}">
                <a16:creationId xmlns:a16="http://schemas.microsoft.com/office/drawing/2014/main" id="{94C3B17B-EE9B-4E07-BFB9-97AFE5F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i="1">
                <a:solidFill>
                  <a:srgbClr val="5F574F"/>
                </a:solidFill>
              </a:defRPr>
            </a:pPr>
            <a:r>
              <a:rPr sz="1500" i="1">
                <a:solidFill>
                  <a:srgbClr val="5F574F"/>
                </a:solidFill>
              </a:rPr>
              <a:t>Missing accessions, codebooks, or timing remain visible gaps.</a:t>
            </a:r>
          </a:p>
        </p:txBody>
      </p:sp>
    </p:spTree>
    <p:extLst>
      <p:ext uri="{BB962C8B-B14F-4D97-AF65-F5344CB8AC3E}">
        <p14:creationId xmlns:p14="http://schemas.microsoft.com/office/powerpoint/2010/main" val="3582375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21">
            <a:extLst xmlns:a="http://schemas.openxmlformats.org/drawingml/2006/main">
              <a:ext uri="{FF2B5EF4-FFF2-40B4-BE49-F238E27FC236}">
                <a16:creationId xmlns:a16="http://schemas.microsoft.com/office/drawing/2014/main" id="{90B2120B-56EF-4887-BE53-261CA8823AA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256975"/>
            <a:ext cx="8520600" cy="7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Harmonization</a:t>
            </a:r>
            <a:endParaRPr/>
          </a:p>
        </p:txBody>
      </p:sp>
      <p:sp>
        <p:nvSpPr>
          <p:cNvPr id="112" name="Google Shape;112;p21">
            <a:extLst xmlns:a="http://schemas.openxmlformats.org/drawingml/2006/main">
              <a:ext uri="{FF2B5EF4-FFF2-40B4-BE49-F238E27FC236}">
                <a16:creationId xmlns:a16="http://schemas.microsoft.com/office/drawing/2014/main" id="{C8AC94A3-D8E2-43A7-A836-91ABB9624D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Names are not identities</a:t>
            </a:r>
            <a:endParaRPr/>
          </a:p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VO₂peak is not VO₂max</a:t>
            </a:r>
            <a:endParaRPr/>
          </a:p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Assays may not be comparable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55458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22">
            <a:extLst xmlns:a="http://schemas.openxmlformats.org/drawingml/2006/main">
              <a:ext uri="{FF2B5EF4-FFF2-40B4-BE49-F238E27FC236}">
                <a16:creationId xmlns:a16="http://schemas.microsoft.com/office/drawing/2014/main" id="{9F0AD27E-7212-4DB3-9247-85496958D4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4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Reviewable outputs</a:t>
            </a:r>
            <a:endParaRPr/>
          </a:p>
        </p:txBody>
      </p:sp>
      <p:sp>
        <p:nvSpPr>
          <p:cNvPr id="118" name="Google Shape;118;p22">
            <a:extLst xmlns:a="http://schemas.openxmlformats.org/drawingml/2006/main">
              <a:ext uri="{FF2B5EF4-FFF2-40B4-BE49-F238E27FC236}">
                <a16:creationId xmlns:a16="http://schemas.microsoft.com/office/drawing/2014/main" id="{8C88F824-9B1F-460E-B256-5A372E6D43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71625" y="3762375"/>
            <a:ext cx="6000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t>Ranked studies  •  provenance cards  •  review queue  •  plots</a:t>
            </a:r>
            <a:endParaRPr/>
          </a:p>
        </p:txBody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ab78355294d7d"/>
          <a:stretch xmlns:a="http://schemas.openxmlformats.org/drawingml/2006/main"/>
        </p:blipFill>
        <p:spPr>
          <a:xfrm xmlns:a="http://schemas.openxmlformats.org/drawingml/2006/main">
            <a:off x="2642362" y="1190625"/>
            <a:ext cx="3859276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13545"/>
      </p:ext>
    </p:extLst>
  </p:cSld>
</p:sld>
</file>

<file path=ppt/theme/theme1.xml><?xml version="1.0" encoding="utf-8"?>
<a:theme xmlns:a="http://schemas.openxmlformats.org/drawingml/2006/main" name="Stanford Medicine">
  <a:themeElements>
    <a:clrScheme name="Stanford Medicine">
      <a:dk1>
        <a:srgbClr val="000000"/>
      </a:dk1>
      <a:lt1>
        <a:srgbClr val="FFFFFF"/>
      </a:lt1>
      <a:dk2>
        <a:srgbClr val="696253"/>
      </a:dk2>
      <a:lt2>
        <a:srgbClr val="B9AE98"/>
      </a:lt2>
      <a:accent1>
        <a:srgbClr val="C1C1C1"/>
      </a:accent1>
      <a:accent2>
        <a:srgbClr val="780811"/>
      </a:accent2>
      <a:accent3>
        <a:srgbClr val="0B3248"/>
      </a:accent3>
      <a:accent4>
        <a:srgbClr val="0D697F"/>
      </a:accent4>
      <a:accent5>
        <a:srgbClr val="6E8920"/>
      </a:accent5>
      <a:accent6>
        <a:srgbClr val="435119"/>
      </a:accent6>
      <a:hlink>
        <a:srgbClr val="1188AD"/>
      </a:hlink>
      <a:folHlink>
        <a:srgbClr val="1188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 Medic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2026-08-19T22:43:03.1880000Z</dcterms:created>
  <dcterms:modified xsi:type="dcterms:W3CDTF">2026-08-19T22:43:03.1880000Z</dcterms:modified>
</coreProperties>
</file>