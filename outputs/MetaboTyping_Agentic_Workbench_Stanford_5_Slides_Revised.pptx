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efea47c0e84838" /><Relationship Type="http://schemas.openxmlformats.org/officeDocument/2006/relationships/extended-properties" Target="/docProps/app.xml" Id="Rbe905e07e8cc4586" /><Relationship Type="http://schemas.openxmlformats.org/officeDocument/2006/relationships/officeDocument" Target="/ppt/presentation.xml" Id="R632bcc5ba64b464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d645b2d7a184714"/>
  </p:sldMasterIdLst>
  <p:notesMasterIdLst>
    <p:notesMasterId xmlns:r="http://schemas.openxmlformats.org/officeDocument/2006/relationships" r:id="R851b522668cd417b"/>
  </p:notesMasterIdLst>
  <p:sldIdLst>
    <p:sldId xmlns:r="http://schemas.openxmlformats.org/officeDocument/2006/relationships" id="256" r:id="R8b4e702967954e4f"/>
    <p:sldId xmlns:r="http://schemas.openxmlformats.org/officeDocument/2006/relationships" id="257" r:id="R130cf343b4474b34"/>
    <p:sldId xmlns:r="http://schemas.openxmlformats.org/officeDocument/2006/relationships" id="258" r:id="R9ea9e64ec13449c2"/>
    <p:sldId xmlns:r="http://schemas.openxmlformats.org/officeDocument/2006/relationships" id="259" r:id="R654a7c59d48445cf"/>
    <p:sldId xmlns:r="http://schemas.openxmlformats.org/officeDocument/2006/relationships" id="260" r:id="Re98a787fc3b44f9a"/>
  </p:sldIdLst>
  <p:sldSz cx="9144000" cy="5143500"/>
  <p:notesSz cx="6858000" cy="9144000"/>
  <p:embeddedFontLst>
    <p:embeddedFont>
      <p:font typeface="Helvetica Neue Light"/>
      <p:regular xmlns:r="http://schemas.openxmlformats.org/officeDocument/2006/relationships" r:id="R8fdc5bc348c749a0"/>
      <p:bold xmlns:r="http://schemas.openxmlformats.org/officeDocument/2006/relationships" r:id="R5c4b15641f8b4861"/>
      <p:italic xmlns:r="http://schemas.openxmlformats.org/officeDocument/2006/relationships" r:id="Rd249293b7404427f"/>
      <p:boldItalic xmlns:r="http://schemas.openxmlformats.org/officeDocument/2006/relationships" r:id="R95051824a79e4bc5"/>
    </p:embeddedFont>
    <p:embeddedFont>
      <p:font typeface="Open Sans"/>
      <p:regular xmlns:r="http://schemas.openxmlformats.org/officeDocument/2006/relationships" r:id="R95c48e39fa424c62"/>
      <p:bold xmlns:r="http://schemas.openxmlformats.org/officeDocument/2006/relationships" r:id="Rf273c7369f4b4b23"/>
      <p:italic xmlns:r="http://schemas.openxmlformats.org/officeDocument/2006/relationships" r:id="Reffcebcdb45d4bbc"/>
      <p:boldItalic xmlns:r="http://schemas.openxmlformats.org/officeDocument/2006/relationships" r:id="R727b77af2b86445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bca95add194cb5" /><Relationship Type="http://schemas.openxmlformats.org/officeDocument/2006/relationships/slideMaster" Target="/ppt/slideMasters/slideMaster1.xml" Id="Rfd645b2d7a184714" /><Relationship Type="http://schemas.openxmlformats.org/officeDocument/2006/relationships/notesMaster" Target="/ppt/notesMasters/notesMaster1.xml" Id="R851b522668cd417b" /><Relationship Type="http://schemas.openxmlformats.org/officeDocument/2006/relationships/presProps" Target="/ppt/presProps.xml" Id="Rd412817e98934181" /><Relationship Type="http://schemas.openxmlformats.org/officeDocument/2006/relationships/viewProps" Target="/ppt/viewProps.xml" Id="R71874b56b1124218" /><Relationship Type="http://schemas.openxmlformats.org/officeDocument/2006/relationships/tableStyles" Target="/ppt/tableStyles.xml" Id="Rbb91710de36c4faf" /><Relationship Type="http://schemas.openxmlformats.org/officeDocument/2006/relationships/font" Target="/ppt/fonts/font.dat" Id="R8fdc5bc348c749a0" /><Relationship Type="http://schemas.openxmlformats.org/officeDocument/2006/relationships/font" Target="/ppt/fonts/font2.dat" Id="R5c4b15641f8b4861" /><Relationship Type="http://schemas.openxmlformats.org/officeDocument/2006/relationships/font" Target="/ppt/fonts/font3.dat" Id="Rd249293b7404427f" /><Relationship Type="http://schemas.openxmlformats.org/officeDocument/2006/relationships/font" Target="/ppt/fonts/font4.dat" Id="R95051824a79e4bc5" /><Relationship Type="http://schemas.openxmlformats.org/officeDocument/2006/relationships/font" Target="/ppt/fonts/font5.dat" Id="R95c48e39fa424c62" /><Relationship Type="http://schemas.openxmlformats.org/officeDocument/2006/relationships/font" Target="/ppt/fonts/font6.dat" Id="Rf273c7369f4b4b23" /><Relationship Type="http://schemas.openxmlformats.org/officeDocument/2006/relationships/font" Target="/ppt/fonts/font7.dat" Id="Reffcebcdb45d4bbc" /><Relationship Type="http://schemas.openxmlformats.org/officeDocument/2006/relationships/font" Target="/ppt/fonts/font8.dat" Id="R727b77af2b864450" /><Relationship Type="http://schemas.openxmlformats.org/officeDocument/2006/relationships/slide" Target="/ppt/slides/slide1.xml" Id="R8b4e702967954e4f" /><Relationship Type="http://schemas.openxmlformats.org/officeDocument/2006/relationships/slide" Target="/ppt/slides/slide2.xml" Id="R130cf343b4474b34" /><Relationship Type="http://schemas.openxmlformats.org/officeDocument/2006/relationships/slide" Target="/ppt/slides/slide3.xml" Id="R9ea9e64ec13449c2" /><Relationship Type="http://schemas.openxmlformats.org/officeDocument/2006/relationships/slide" Target="/ppt/slides/slide4.xml" Id="R654a7c59d48445cf" /><Relationship Type="http://schemas.openxmlformats.org/officeDocument/2006/relationships/slide" Target="/ppt/slides/slide5.xml" Id="Re98a787fc3b44f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dd3b59deb148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c008f1b607433e" /><Relationship Type="http://schemas.openxmlformats.org/officeDocument/2006/relationships/notesMaster" Target="/ppt/notesMasters/notesMaster1.xml" Id="R8078b6403b7049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51a853abcf48c7" /><Relationship Type="http://schemas.openxmlformats.org/officeDocument/2006/relationships/notesMaster" Target="/ppt/notesMasters/notesMaster1.xml" Id="R172206b77fab47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216dcfb7904815" /><Relationship Type="http://schemas.openxmlformats.org/officeDocument/2006/relationships/notesMaster" Target="/ppt/notesMasters/notesMaster1.xml" Id="R2fbb529bd9c04d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84f078b5844223" /><Relationship Type="http://schemas.openxmlformats.org/officeDocument/2006/relationships/notesMaster" Target="/ppt/notesMasters/notesMaster1.xml" Id="Rad31a5ef5e9b4e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4b7f609c894674" /><Relationship Type="http://schemas.openxmlformats.org/officeDocument/2006/relationships/notesMaster" Target="/ppt/notesMasters/notesMaster1.xml" Id="R6e261f5749484f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Stanford visual source: stanford-slide-template.pptx and stanford-university-wordmark-cardinal.png.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identity and scope: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Problem framing and scientific guardrails: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Evidence-flow purpose and interpretation limits: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VO₂peak/VO₂max rule and pooling boundaries: AGENTS.md.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Architecture source: docs/manuscript/figures/metabotyping_agentic_workbench_architecture.png.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Deterministic workflow and outputs: README.md and src/metabotyping_agentic/reports/render.py.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DomainReviewPacket authority boundary: README.md, src/metabotyping_agentic/review/models.py, and src/metabotyping_agentic/review/validation.py.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Synthetic heatmap: docs/manuscript/figures/synthetic_motrpac_plot_suite/figures/effect_heatmap.png.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CPET and identity/pooling safeguards: AGENTS.md and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Strict synthetic gate: docs/scientific_readiness_report.md; project .venv rerun on 2026-08-19 returned PASS with tests_run=128.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Agent and skill inventory: README.md release 0.2.0.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External-validation limitations and proposed benchmark: docs/scientific_readiness_report.md and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0173c8bbd44f8" /><Relationship Type="http://schemas.openxmlformats.org/officeDocument/2006/relationships/image" Target="/ppt/media/image2.png" Id="R4ac6f1b046c346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6d2c14dbe44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5ea5801814c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94882317143d7" /><Relationship Type="http://schemas.openxmlformats.org/officeDocument/2006/relationships/image" Target="/ppt/media/image2.png" Id="R660e8c37ccd04223" /><Relationship Type="http://schemas.openxmlformats.org/officeDocument/2006/relationships/image" Target="/ppt/media/image.jpeg" Id="R32bb09f7dbae46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4af6cd474477c" /><Relationship Type="http://schemas.openxmlformats.org/officeDocument/2006/relationships/image" Target="/ppt/media/image2.png" Id="Rb92a928bbcc646c0" /><Relationship Type="http://schemas.openxmlformats.org/officeDocument/2006/relationships/image" Target="/ppt/media/image3.png" Id="Raa5babc73fee44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a055c119347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be40e9a4d443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0f40d15864fa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a51d78c134fd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0daf9849e439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d7af7da4e420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47accaef4480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eedadc13b44d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1562770234a77" /></Relationships>
</file>

<file path=ppt/slideLayouts/slideLayout1.xml><?xml version="1.0" encoding="utf-8"?>
<p:sldLayout xmlns:p="http://schemas.openxmlformats.org/presentationml/2006/main" showMasterSp="0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855A13F-B349-4C26-9C35-4258E4D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c6f1b046c346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7A2C2BEA-64B2-4367-B909-9BC417C0D6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200" y="1792517"/>
            <a:ext cx="8229600" cy="61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A5D8D043-5EBA-4DD8-8616-57C710274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5" y="3599022"/>
            <a:ext cx="60594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marR="0" indent="-22860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53D30F02-F2E2-4C70-94CB-14DAF2844B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7200" y="2410990"/>
            <a:ext cx="8229600" cy="4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  <a:defRPr sz="2100" b="0" i="0" u="none" cap="small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4572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9144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13716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18288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without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1122B57F-8282-4E84-A9BC-CBC9012CA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>
  <p:cSld name="Title and Content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DF12ACA5-DCFE-436E-AC47-C8C201BF8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871EBED0-B175-4973-AA65-500B49AA9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showMasterSp="0" matchingName="Section Header Replaceable Image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241EC04-F53D-4589-BF6C-DBFAE19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0e8c37ccd0422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0E750D-7382-44FB-9892-A17E15441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1E226CA1-F929-4FAD-8465-F0BAF24F6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100CFF43-05F6-4134-AF23-C32803163D3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65662" y="1535112"/>
            <a:ext cx="1950900" cy="19509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2bb09f7dbae46dd">
              <a:alphaModFix/>
            </a:blip>
            <a:stretch>
              <a:fillRect l="0" t="0" r="0" b="0"/>
            </a:stretch>
          </a:blipFill>
          <a:ln xmlns:a="http://schemas.openxmlformats.org/drawingml/2006/main" w="4445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2700000" algn="tl" rotWithShape="0">
              <a:srgbClr val="000000">
                <a:alpha val="3569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342900" marR="0" indent="-3429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288925" marR="0" indent="-288925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569913" marR="0" indent="-227013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1258888" marR="0" indent="-230188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5146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29718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4290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38862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showMasterSp="0" matchingName="Section Header Stanford">
  <p:cSld name="Section Header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BC7116E9-EDFC-4EB2-92D0-A9EE746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Google Shape;3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2a928bbcc646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0D5B7992-4E6A-450A-B229-FF4401FBB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A6C4FBE0-E4FF-4FED-A002-D4AA57FBD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pic>
        <p:nvPicPr>
          <p:cNvPr id="39" name="Google Shape;33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babc73fee441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5651" y="1596299"/>
            <a:ext cx="1950900" cy="1950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241906BA-5045-4D71-9648-822B9C7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" y="793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0" rIns="457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‹#›</a:t>
            </a:fld>
            <a:endParaRPr sz="1000" b="0" i="0" u="non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F02104D9-E640-4D5B-8FF2-8FC793A0E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C91C9CFC-45E0-4DAF-8426-157B3AF36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6A61A2D0-E60E-4920-8535-C42A2271C5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5"/>
            <a:ext cx="37797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Four Content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375C0E8E-DE97-4536-B71E-D89067164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1" name="Google Shape;41;p8">
            <a:extLst xmlns:a="http://schemas.openxmlformats.org/drawingml/2006/main">
              <a:ext uri="{FF2B5EF4-FFF2-40B4-BE49-F238E27FC236}">
                <a16:creationId xmlns:a16="http://schemas.microsoft.com/office/drawing/2014/main" id="{A199C750-D1E3-4DE1-9299-BC85986EC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6"/>
            <a:ext cx="37878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4DEE480F-7EC7-4009-9FC6-8BB8B12DC9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55677" y="2840613"/>
            <a:ext cx="37815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1CDB7F96-6C80-44F2-939A-D010CA3518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2152BCB3-2D84-49C6-859E-CA05093C46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76800" y="2840613"/>
            <a:ext cx="37797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1_Title and Content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C2E56178-2F2E-430D-86A6-89E034880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06AE47A0-06C5-4218-8AA9-96511C1CF7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Two Content Horizontal">
  <p:cSld name="Two Content Horizont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654DA749-54BA-4FC0-8AA5-720E9FB44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C2BD19E9-EED1-4E36-9AFC-76ACF7DE9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8777" y="908685"/>
            <a:ext cx="77079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BD4D1088-1CCA-4D3D-BB20-0CACFBB4E2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9327" y="2841313"/>
            <a:ext cx="77073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hree Content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6775C3C5-888D-47F9-86F7-5AF3D022F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7D0490D3-ADE1-4130-B787-706FEBC693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9BAE188C-DF95-4510-A468-CFBFACDE44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469291E7-AA86-42D1-BB3C-CE77CF678D9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2837497"/>
            <a:ext cx="3779700" cy="18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6DAFF9C5-32A5-411B-A27B-594B6E7C81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58A6AEEE-E086-4236-A237-752511A72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Standard Layout">
  <p:cSld name="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CD1D7AFB-238A-48BD-9A3C-56333BA4C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250" y="206125"/>
            <a:ext cx="6427500" cy="5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DEB9189A-9D3F-4ADF-BAC5-AB7AED070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760" y="1097280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Open Sans"/>
              <a:buNone/>
              <a:defRPr i="0">
                <a:latin typeface="Open Sans"/>
                <a:ea typeface="Open Sans"/>
                <a:cs typeface="Open Sans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Char char="▪"/>
              <a:defRPr i="0">
                <a:latin typeface="Open Sans"/>
                <a:ea typeface="Open Sans"/>
                <a:cs typeface="Open Sans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Open Sans"/>
              <a:buChar char="›"/>
              <a:defRPr sz="1800" i="0">
                <a:latin typeface="Open Sans"/>
                <a:ea typeface="Open Sans"/>
                <a:cs typeface="Open Sans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▪"/>
              <a:defRPr sz="1600" i="0">
                <a:latin typeface="Open Sans"/>
                <a:ea typeface="Open Sans"/>
                <a:cs typeface="Open Sans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•"/>
              <a:defRPr sz="1600" i="0">
                <a:latin typeface="Open Sans"/>
                <a:ea typeface="Open Sans"/>
                <a:cs typeface="Open Sans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753FAE68-7023-411A-A6D2-D0B8FC9841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B67E3143-32B4-41E1-83F1-5C9578BB8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B4D2E9D5-2BD1-4AE9-AECA-B973AFEAA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3E77BD24-1987-4CB5-8E7F-2A6E4F983B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indent="-342900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indent="-345186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indent="-34290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BC8C41BF-30C8-4ACE-9958-2A6BCAC5DF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216A8C8-0A8C-4C33-83A2-34F86E02404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AD66D82F-9423-48E3-9312-D0967B722B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8751826A-B6F7-4473-AB5A-A4DBF008E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f08345572d5d41a1" /><Relationship Type="http://schemas.openxmlformats.org/officeDocument/2006/relationships/theme" Target="/ppt/slideMasters/theme/theme2.xml" Id="R4130f165c8d74936" /><Relationship Type="http://schemas.openxmlformats.org/officeDocument/2006/relationships/slideLayout" Target="/ppt/slideLayouts/slideLayout1.xml" Id="R56b35e7155e94119" /><Relationship Type="http://schemas.openxmlformats.org/officeDocument/2006/relationships/slideLayout" Target="/ppt/slideLayouts/slideLayout2.xml" Id="R6abb63668dc94da2" /><Relationship Type="http://schemas.openxmlformats.org/officeDocument/2006/relationships/slideLayout" Target="/ppt/slideLayouts/slideLayout3.xml" Id="R2b56f4e6163541a5" /><Relationship Type="http://schemas.openxmlformats.org/officeDocument/2006/relationships/slideLayout" Target="/ppt/slideLayouts/slideLayout4.xml" Id="R5ebba8537889486b" /><Relationship Type="http://schemas.openxmlformats.org/officeDocument/2006/relationships/slideLayout" Target="/ppt/slideLayouts/slideLayout5.xml" Id="Rc99e858c27cf4f6b" /><Relationship Type="http://schemas.openxmlformats.org/officeDocument/2006/relationships/slideLayout" Target="/ppt/slideLayouts/slideLayout6.xml" Id="R4e755f00f9734b30" /><Relationship Type="http://schemas.openxmlformats.org/officeDocument/2006/relationships/slideLayout" Target="/ppt/slideLayouts/slideLayout7.xml" Id="Rbc916501fc324ec6" /><Relationship Type="http://schemas.openxmlformats.org/officeDocument/2006/relationships/slideLayout" Target="/ppt/slideLayouts/slideLayout8.xml" Id="Reb5dc339ed3c4c4d" /><Relationship Type="http://schemas.openxmlformats.org/officeDocument/2006/relationships/slideLayout" Target="/ppt/slideLayouts/slideLayout9.xml" Id="Rf4e4157d47c84881" /><Relationship Type="http://schemas.openxmlformats.org/officeDocument/2006/relationships/slideLayout" Target="/ppt/slideLayouts/slideLayout10.xml" Id="R086bcda24e014fd0" /><Relationship Type="http://schemas.openxmlformats.org/officeDocument/2006/relationships/slideLayout" Target="/ppt/slideLayouts/slideLayout11.xml" Id="Re0771fe1c4964966" /><Relationship Type="http://schemas.openxmlformats.org/officeDocument/2006/relationships/slideLayout" Target="/ppt/slideLayouts/slideLayout12.xml" Id="R087b1804d6794039" /><Relationship Type="http://schemas.openxmlformats.org/officeDocument/2006/relationships/slideLayout" Target="/ppt/slideLayouts/slideLayout13.xml" Id="R5c249f7ced334a96" /><Relationship Type="http://schemas.openxmlformats.org/officeDocument/2006/relationships/slideLayout" Target="/ppt/slideLayouts/slideLayout14.xml" Id="R00c4844f8e7d49d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E0D60E7-0E79-4F09-AC3C-83E67EC7E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9325" y="358775"/>
            <a:ext cx="7707300" cy="4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D989767-8E5B-4674-A8E9-24E389902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5" y="903288"/>
            <a:ext cx="7707300" cy="3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493AFF1-60B2-403C-98A6-9E7408B1ED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538" y="4811713"/>
            <a:ext cx="846000" cy="2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A43306F6-9AC0-4120-807F-DB2F974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514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oogle Shape;1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8345572d5d41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21525" y="4856163"/>
            <a:ext cx="1541281" cy="1900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35e7155e94119"/>
    <p:sldLayoutId xmlns:r="http://schemas.openxmlformats.org/officeDocument/2006/relationships" id="2147483650" r:id="R6abb63668dc94da2"/>
    <p:sldLayoutId xmlns:r="http://schemas.openxmlformats.org/officeDocument/2006/relationships" id="2147483651" r:id="R2b56f4e6163541a5"/>
    <p:sldLayoutId xmlns:r="http://schemas.openxmlformats.org/officeDocument/2006/relationships" id="2147483652" r:id="R5ebba8537889486b"/>
    <p:sldLayoutId xmlns:r="http://schemas.openxmlformats.org/officeDocument/2006/relationships" id="2147483653" r:id="Rc99e858c27cf4f6b"/>
    <p:sldLayoutId xmlns:r="http://schemas.openxmlformats.org/officeDocument/2006/relationships" id="2147483654" r:id="R4e755f00f9734b30"/>
    <p:sldLayoutId xmlns:r="http://schemas.openxmlformats.org/officeDocument/2006/relationships" id="2147483655" r:id="Rbc916501fc324ec6"/>
    <p:sldLayoutId xmlns:r="http://schemas.openxmlformats.org/officeDocument/2006/relationships" id="2147483656" r:id="Reb5dc339ed3c4c4d"/>
    <p:sldLayoutId xmlns:r="http://schemas.openxmlformats.org/officeDocument/2006/relationships" id="2147483657" r:id="Rf4e4157d47c84881"/>
    <p:sldLayoutId xmlns:r="http://schemas.openxmlformats.org/officeDocument/2006/relationships" id="2147483658" r:id="R086bcda24e014fd0"/>
    <p:sldLayoutId xmlns:r="http://schemas.openxmlformats.org/officeDocument/2006/relationships" id="2147483659" r:id="Re0771fe1c4964966"/>
    <p:sldLayoutId xmlns:r="http://schemas.openxmlformats.org/officeDocument/2006/relationships" id="2147483660" r:id="R087b1804d6794039"/>
    <p:sldLayoutId xmlns:r="http://schemas.openxmlformats.org/officeDocument/2006/relationships" id="2147483661" r:id="R5c249f7ced334a96"/>
    <p:sldLayoutId xmlns:r="http://schemas.openxmlformats.org/officeDocument/2006/relationships" id="2147483662" r:id="R00c4844f8e7d49d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39f4c972a244491" /><Relationship Type="http://schemas.openxmlformats.org/officeDocument/2006/relationships/image" Target="/ppt/media/image4.png" Id="Ra476f6d69fed4ac1" /><Relationship Type="http://schemas.openxmlformats.org/officeDocument/2006/relationships/notesSlide" Target="/ppt/notesSlides/notesSlide1.xml" Id="R35c7dfafd74545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583404a114a4e21" /><Relationship Type="http://schemas.openxmlformats.org/officeDocument/2006/relationships/notesSlide" Target="/ppt/notesSlides/notesSlide2.xml" Id="R99d6faaa092c49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eef0732b7784578" /><Relationship Type="http://schemas.openxmlformats.org/officeDocument/2006/relationships/notesSlide" Target="/ppt/notesSlides/notesSlide3.xml" Id="R042dadb16ea84b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eaf006968564972" /><Relationship Type="http://schemas.openxmlformats.org/officeDocument/2006/relationships/image" Target="/ppt/media/image5.png" Id="Rf19c29336ec8484f" /><Relationship Type="http://schemas.openxmlformats.org/officeDocument/2006/relationships/notesSlide" Target="/ppt/notesSlides/notesSlide4.xml" Id="R66d48435ace143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ed1e7182e15441c" /><Relationship Type="http://schemas.openxmlformats.org/officeDocument/2006/relationships/notesSlide" Target="/ppt/notesSlides/notesSlide5.xml" Id="R5a9375c35cd848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6f6d69fed4ac1"/>
          <a:stretch xmlns:a="http://schemas.openxmlformats.org/drawingml/2006/main"/>
        </p:blipFill>
        <p:spPr>
          <a:xfrm xmlns:a="http://schemas.openxmlformats.org/drawingml/2006/main">
            <a:off x="6115050" y="588950"/>
            <a:ext cx="2190750" cy="269900"/>
          </a:xfrm>
          <a:prstGeom xmlns:a="http://schemas.openxmlformats.org/drawingml/2006/main" prst="rect">
            <a:avLst/>
          </a:prstGeom>
        </p:spPr>
      </p:pic>
      <p:sp>
        <p:nvSpPr>
          <p:cNvPr id="2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4C27C4AD-7CA7-4441-ABBF-44514B27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OFFLINE SYNTHETIC-DATA MVP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80D9479F-4A30-4DDA-8D04-2D7306F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9B6E7F2-6256-4C16-BF08-D4A520C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Evidence-gated discovery, curation, and harmonization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for metabolomics reuse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0F3583D-08B1-45D3-A6C6-CD54A12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senter-name">
            <a:extLst xmlns:a="http://schemas.openxmlformats.org/drawingml/2006/main">
              <a:ext uri="{FF2B5EF4-FFF2-40B4-BE49-F238E27FC236}">
                <a16:creationId xmlns:a16="http://schemas.microsoft.com/office/drawing/2014/main" id="{1F2726EC-A177-4C51-9576-B553F66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Samuel Montalvo, Ph.D.</a:t>
            </a:r>
          </a:p>
        </p:txBody>
      </p:sp>
      <p:sp>
        <p:nvSpPr>
          <p:cNvPr id="7" name="presenter-block">
            <a:extLst xmlns:a="http://schemas.openxmlformats.org/drawingml/2006/main">
              <a:ext uri="{FF2B5EF4-FFF2-40B4-BE49-F238E27FC236}">
                <a16:creationId xmlns:a16="http://schemas.microsoft.com/office/drawing/2014/main" id="{37CA8E02-309A-45DD-8A80-967FD68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Bioinformatics Center | Molecular Transducers of Physical Activity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Wu Tsai Human Performance Alliance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Division of Cardiovascular Medicine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Stanford University</a:t>
            </a:r>
          </a:p>
        </p:txBody>
      </p:sp>
      <p:sp>
        <p:nvSpPr>
          <p:cNvPr id="8" name="presentation-date">
            <a:extLst xmlns:a="http://schemas.openxmlformats.org/drawingml/2006/main">
              <a:ext uri="{FF2B5EF4-FFF2-40B4-BE49-F238E27FC236}">
                <a16:creationId xmlns:a16="http://schemas.microsoft.com/office/drawing/2014/main" id="{FF53D475-4AD4-4245-93C6-55C9E4F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3CEA9CA-83EB-4DD4-8992-BF4F753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CD9776-88AF-4589-A936-575D640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gaps are the bottleneck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9DA24A-CD9E-4139-9A95-8237CC96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5F6E9762-EA65-4F20-A379-B4E248D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Before studies can be combined, investigators must establish what was measured, when, how, and with what identity and assay evidence.</a:t>
            </a:r>
          </a:p>
        </p:txBody>
      </p:sp>
      <p:sp>
        <p:nvSpPr>
          <p:cNvPr id="5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250E40E-D8C8-4331-A93C-EACA3D0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615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3BE31AAA-5732-46B8-8562-DAA3AF7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588D83F-4C23-446F-A44D-4A0FB87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9BC42B1-787B-47F9-99DF-AA0704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Find usable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studies</a:t>
            </a:r>
          </a:p>
        </p:txBody>
      </p:sp>
      <p:sp>
        <p:nvSpPr>
          <p:cNvPr id="9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16E4B153-C329-4B0A-8F19-A8F744C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744D768F-0787-4FC9-BBBD-066CCC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1495A93-ABDA-4F65-AC80-5D76315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Verify metadata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and access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B023B693-0F6B-48B6-B34E-BFFE422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2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C0A3693-8620-48BD-927F-23A30A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4A864EC-B0C5-4953-B5CA-552ACF5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Reconcile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variables + assays</a:t>
            </a:r>
          </a:p>
        </p:txBody>
      </p:sp>
      <p:sp>
        <p:nvSpPr>
          <p:cNvPr id="1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0CF1BDED-A9AC-4179-8CAE-2A9DF19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906D21B1-A8E5-4845-B2E8-2A9FB1C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94333F37-EE8B-4FD0-B89C-964454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Send uncertainty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to expert review</a:t>
            </a:r>
          </a:p>
        </p:txBody>
      </p:sp>
      <p:sp>
        <p:nvSpPr>
          <p:cNvPr id="1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DD0C1C05-1857-4C10-9780-69B650E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tion-rule-1">
            <a:extLst xmlns:a="http://schemas.openxmlformats.org/drawingml/2006/main">
              <a:ext uri="{FF2B5EF4-FFF2-40B4-BE49-F238E27FC236}">
                <a16:creationId xmlns:a16="http://schemas.microsoft.com/office/drawing/2014/main" id="{BA8BC908-D330-4F78-87EC-EE080D1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ution-1">
            <a:extLst xmlns:a="http://schemas.openxmlformats.org/drawingml/2006/main">
              <a:ext uri="{FF2B5EF4-FFF2-40B4-BE49-F238E27FC236}">
                <a16:creationId xmlns:a16="http://schemas.microsoft.com/office/drawing/2014/main" id="{392D012F-AD8E-4D49-8039-78C08A2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Name similarity is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identity.</a:t>
            </a:r>
          </a:p>
        </p:txBody>
      </p:sp>
      <p:sp>
        <p:nvSpPr>
          <p:cNvPr id="21" name="caution-rule-2">
            <a:extLst xmlns:a="http://schemas.openxmlformats.org/drawingml/2006/main">
              <a:ext uri="{FF2B5EF4-FFF2-40B4-BE49-F238E27FC236}">
                <a16:creationId xmlns:a16="http://schemas.microsoft.com/office/drawing/2014/main" id="{99F7453D-5E5C-4D39-97E2-CB61550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ution-2">
            <a:extLst xmlns:a="http://schemas.openxmlformats.org/drawingml/2006/main">
              <a:ext uri="{FF2B5EF4-FFF2-40B4-BE49-F238E27FC236}">
                <a16:creationId xmlns:a16="http://schemas.microsoft.com/office/drawing/2014/main" id="{CD9E5F80-1526-4A3E-96EC-A8CD5C5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VO₂peak is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automatically VO₂max.</a:t>
            </a:r>
          </a:p>
        </p:txBody>
      </p:sp>
      <p:sp>
        <p:nvSpPr>
          <p:cNvPr id="23" name="caution-rule-3">
            <a:extLst xmlns:a="http://schemas.openxmlformats.org/drawingml/2006/main">
              <a:ext uri="{FF2B5EF4-FFF2-40B4-BE49-F238E27FC236}">
                <a16:creationId xmlns:a16="http://schemas.microsoft.com/office/drawing/2014/main" id="{1BC6A8DE-1B8E-47D6-B535-2B5C4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ution-3">
            <a:extLst xmlns:a="http://schemas.openxmlformats.org/drawingml/2006/main">
              <a:ext uri="{FF2B5EF4-FFF2-40B4-BE49-F238E27FC236}">
                <a16:creationId xmlns:a16="http://schemas.microsoft.com/office/drawing/2014/main" id="{B60E27F7-FF99-4F47-8A64-9E26D9B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28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Relative intensities are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automatically poolable.</a:t>
            </a:r>
          </a:p>
        </p:txBody>
      </p:sp>
      <p:sp>
        <p:nvSpPr>
          <p:cNvPr id="2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701C23B-373B-4E0A-B58F-95C4A5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Without explicit evidence states, confident automation can silently convert uncertainty into analysis-ready data.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1D52EC6A-B942-4F25-8AEC-455BEB58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53E5CB-077D-488E-A281-53FE6F4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Every decision stays traceable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47BE07-D455-486B-B87D-51318D7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90F12842-A7AE-4A3E-9C0F-EB7FA36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Heterogeneous records become explicit evidence models before any decision moves downstream.</a:t>
            </a:r>
          </a:p>
        </p:txBody>
      </p:sp>
      <p:sp>
        <p:nvSpPr>
          <p:cNvPr id="5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EEE30941-5134-424C-B1DC-88F925A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CEFFEF0A-A61B-4AD2-BA4B-CDE9B64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2A7B4882-25EC-49F0-BD55-0FF597A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node-01">
            <a:extLst xmlns:a="http://schemas.openxmlformats.org/drawingml/2006/main">
              <a:ext uri="{FF2B5EF4-FFF2-40B4-BE49-F238E27FC236}">
                <a16:creationId xmlns:a16="http://schemas.microsoft.com/office/drawing/2014/main" id="{15C7A6D0-897C-4D17-A1B6-7A4D0DD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4F5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9" name="workflow-step-01">
            <a:extLst xmlns:a="http://schemas.openxmlformats.org/drawingml/2006/main">
              <a:ext uri="{FF2B5EF4-FFF2-40B4-BE49-F238E27FC236}">
                <a16:creationId xmlns:a16="http://schemas.microsoft.com/office/drawing/2014/main" id="{FEAE22BE-E06A-4940-B6D9-7D42BB0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workflow-title-01">
            <a:extLst xmlns:a="http://schemas.openxmlformats.org/drawingml/2006/main">
              <a:ext uri="{FF2B5EF4-FFF2-40B4-BE49-F238E27FC236}">
                <a16:creationId xmlns:a16="http://schemas.microsoft.com/office/drawing/2014/main" id="{4C2CC8D4-2D7D-4492-8A3C-8B699A1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1" name="workflow-body-01">
            <a:extLst xmlns:a="http://schemas.openxmlformats.org/drawingml/2006/main">
              <a:ext uri="{FF2B5EF4-FFF2-40B4-BE49-F238E27FC236}">
                <a16:creationId xmlns:a16="http://schemas.microsoft.com/office/drawing/2014/main" id="{CBCBDFBB-0D1B-4252-923A-77CCF57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Research question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Publication + repository records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dictionaries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Assay + effect tables</a:t>
            </a:r>
          </a:p>
        </p:txBody>
      </p:sp>
      <p:sp>
        <p:nvSpPr>
          <p:cNvPr id="12" name="workflow-node-02">
            <a:extLst xmlns:a="http://schemas.openxmlformats.org/drawingml/2006/main">
              <a:ext uri="{FF2B5EF4-FFF2-40B4-BE49-F238E27FC236}">
                <a16:creationId xmlns:a16="http://schemas.microsoft.com/office/drawing/2014/main" id="{7B522B91-4D09-49A6-B799-F8B10E2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3" name="workflow-step-02">
            <a:extLst xmlns:a="http://schemas.openxmlformats.org/drawingml/2006/main">
              <a:ext uri="{FF2B5EF4-FFF2-40B4-BE49-F238E27FC236}">
                <a16:creationId xmlns:a16="http://schemas.microsoft.com/office/drawing/2014/main" id="{35E3851D-CC1B-4D02-B2D0-C27AFB3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workflow-title-02">
            <a:extLst xmlns:a="http://schemas.openxmlformats.org/drawingml/2006/main">
              <a:ext uri="{FF2B5EF4-FFF2-40B4-BE49-F238E27FC236}">
                <a16:creationId xmlns:a16="http://schemas.microsoft.com/office/drawing/2014/main" id="{AD019DBE-8C6D-4C64-B3C9-DEEB697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models</a:t>
            </a:r>
          </a:p>
        </p:txBody>
      </p:sp>
      <p:sp>
        <p:nvSpPr>
          <p:cNvPr id="15" name="workflow-body-02">
            <a:extLst xmlns:a="http://schemas.openxmlformats.org/drawingml/2006/main">
              <a:ext uri="{FF2B5EF4-FFF2-40B4-BE49-F238E27FC236}">
                <a16:creationId xmlns:a16="http://schemas.microsoft.com/office/drawing/2014/main" id="{9DF8156B-27EF-4FDA-8465-000C357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Inclusion criteria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Source retrieval plan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Study + dataset cards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+ QA/QC fields</a:t>
            </a:r>
          </a:p>
        </p:txBody>
      </p:sp>
      <p:sp>
        <p:nvSpPr>
          <p:cNvPr id="16" name="workflow-node-03">
            <a:extLst xmlns:a="http://schemas.openxmlformats.org/drawingml/2006/main">
              <a:ext uri="{FF2B5EF4-FFF2-40B4-BE49-F238E27FC236}">
                <a16:creationId xmlns:a16="http://schemas.microsoft.com/office/drawing/2014/main" id="{10D195ED-DF15-4248-B3EB-FB377D6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7" name="workflow-step-03">
            <a:extLst xmlns:a="http://schemas.openxmlformats.org/drawingml/2006/main">
              <a:ext uri="{FF2B5EF4-FFF2-40B4-BE49-F238E27FC236}">
                <a16:creationId xmlns:a16="http://schemas.microsoft.com/office/drawing/2014/main" id="{E2CBCD6B-83EB-4F3C-8C24-5F42BAB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workflow-title-03">
            <a:extLst xmlns:a="http://schemas.openxmlformats.org/drawingml/2006/main">
              <a:ext uri="{FF2B5EF4-FFF2-40B4-BE49-F238E27FC236}">
                <a16:creationId xmlns:a16="http://schemas.microsoft.com/office/drawing/2014/main" id="{50309A41-BFAC-4E24-BAAD-86BBBE7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Deterministic decisions</a:t>
            </a:r>
          </a:p>
        </p:txBody>
      </p:sp>
      <p:sp>
        <p:nvSpPr>
          <p:cNvPr id="19" name="workflow-body-03">
            <a:extLst xmlns:a="http://schemas.openxmlformats.org/drawingml/2006/main">
              <a:ext uri="{FF2B5EF4-FFF2-40B4-BE49-F238E27FC236}">
                <a16:creationId xmlns:a16="http://schemas.microsoft.com/office/drawing/2014/main" id="{6BF6578D-277A-469D-897B-724D9114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Eligibility + gaps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crosswalks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Identity + assay checks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MoTrPAC readiness</a:t>
            </a:r>
          </a:p>
        </p:txBody>
      </p:sp>
      <p:sp>
        <p:nvSpPr>
          <p:cNvPr id="20" name="workflow-node-04">
            <a:extLst xmlns:a="http://schemas.openxmlformats.org/drawingml/2006/main">
              <a:ext uri="{FF2B5EF4-FFF2-40B4-BE49-F238E27FC236}">
                <a16:creationId xmlns:a16="http://schemas.microsoft.com/office/drawing/2014/main" id="{2684D8F7-67C8-4F69-8CB6-475B38AB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5E9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21" name="workflow-step-04">
            <a:extLst xmlns:a="http://schemas.openxmlformats.org/drawingml/2006/main">
              <a:ext uri="{FF2B5EF4-FFF2-40B4-BE49-F238E27FC236}">
                <a16:creationId xmlns:a16="http://schemas.microsoft.com/office/drawing/2014/main" id="{D57ADE1B-D51E-46C7-A78A-B5679BA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workflow-title-04">
            <a:extLst xmlns:a="http://schemas.openxmlformats.org/drawingml/2006/main">
              <a:ext uri="{FF2B5EF4-FFF2-40B4-BE49-F238E27FC236}">
                <a16:creationId xmlns:a16="http://schemas.microsoft.com/office/drawing/2014/main" id="{6DB62E00-423A-43AF-93EB-686A2E36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Reviewable outputs</a:t>
            </a:r>
          </a:p>
        </p:txBody>
      </p:sp>
      <p:sp>
        <p:nvSpPr>
          <p:cNvPr id="23" name="workflow-body-04">
            <a:extLst xmlns:a="http://schemas.openxmlformats.org/drawingml/2006/main">
              <a:ext uri="{FF2B5EF4-FFF2-40B4-BE49-F238E27FC236}">
                <a16:creationId xmlns:a16="http://schemas.microsoft.com/office/drawing/2014/main" id="{BA610752-E7D1-4548-9EC8-DB554E9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Ranked candidates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Provenance-bearing cards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Approved transforms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 queue + plot manifest</a:t>
            </a:r>
          </a:p>
        </p:txBody>
      </p:sp>
      <p:sp>
        <p:nvSpPr>
          <p:cNvPr id="24" name="review-state-band">
            <a:extLst xmlns:a="http://schemas.openxmlformats.org/drawingml/2006/main">
              <a:ext uri="{FF2B5EF4-FFF2-40B4-BE49-F238E27FC236}">
                <a16:creationId xmlns:a16="http://schemas.microsoft.com/office/drawing/2014/main" id="{68B7570A-CD21-49D2-A9DD-4070D93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7448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2E5"/>
          </a:solidFill>
          <a:ln xmlns:a="http://schemas.openxmlformats.org/drawingml/2006/main" w="11430">
            <a:solidFill>
              <a:srgbClr val="C87924"/>
            </a:solidFill>
            <a:prstDash val="solid"/>
          </a:ln>
        </p:spPr>
      </p:sp>
      <p:sp>
        <p:nvSpPr>
          <p:cNvPr id="25" name="review-state-label">
            <a:extLst xmlns:a="http://schemas.openxmlformats.org/drawingml/2006/main">
              <a:ext uri="{FF2B5EF4-FFF2-40B4-BE49-F238E27FC236}">
                <a16:creationId xmlns:a16="http://schemas.microsoft.com/office/drawing/2014/main" id="{738B7881-5EC9-4B91-B262-E2900EA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A85B1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5B10"/>
                </a:solidFill>
                <a:latin typeface="Arial"/>
                <a:ea typeface="Arial"/>
                <a:cs typeface="Arial"/>
              </a:rPr>
              <a:t>REVIEW STATES</a:t>
            </a:r>
          </a:p>
        </p:txBody>
      </p:sp>
      <p:sp>
        <p:nvSpPr>
          <p:cNvPr id="26" name="review-state-values">
            <a:extLst xmlns:a="http://schemas.openxmlformats.org/drawingml/2006/main">
              <a:ext uri="{FF2B5EF4-FFF2-40B4-BE49-F238E27FC236}">
                <a16:creationId xmlns:a16="http://schemas.microsoft.com/office/drawing/2014/main" id="{DD3012DD-3476-4C2B-9595-BF12EA2F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004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accepted     |     requires human review     |     non-combinable</a:t>
            </a:r>
          </a:p>
        </p:txBody>
      </p:sp>
      <p:sp>
        <p:nvSpPr>
          <p:cNvPr id="27" name="workflow-provenance">
            <a:extLst xmlns:a="http://schemas.openxmlformats.org/drawingml/2006/main">
              <a:ext uri="{FF2B5EF4-FFF2-40B4-BE49-F238E27FC236}">
                <a16:creationId xmlns:a16="http://schemas.microsoft.com/office/drawing/2014/main" id="{0089607D-26B6-4B98-AA46-BF62128E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Every artifact records source location, rule version, rationale, and unresolved evidence.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D791C8E-0C4A-4803-93BF-1058736E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D8456A-FBDB-4D7A-BBE1-3CC02ECD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Human review is a hard boundary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E14C0D-C49F-43CE-A111-FF3B86B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fety-number-01">
            <a:extLst xmlns:a="http://schemas.openxmlformats.org/drawingml/2006/main">
              <a:ext uri="{FF2B5EF4-FFF2-40B4-BE49-F238E27FC236}">
                <a16:creationId xmlns:a16="http://schemas.microsoft.com/office/drawing/2014/main" id="{A7CFBBB0-1343-4A34-BECA-AB9EC73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afety-heading-01">
            <a:extLst xmlns:a="http://schemas.openxmlformats.org/drawingml/2006/main">
              <a:ext uri="{FF2B5EF4-FFF2-40B4-BE49-F238E27FC236}">
                <a16:creationId xmlns:a16="http://schemas.microsoft.com/office/drawing/2014/main" id="{4C479E61-36A9-4614-BC57-E049793F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Contracts propose—never decide</a:t>
            </a:r>
          </a:p>
        </p:txBody>
      </p:sp>
      <p:sp>
        <p:nvSpPr>
          <p:cNvPr id="6" name="safety-body-01">
            <a:extLst xmlns:a="http://schemas.openxmlformats.org/drawingml/2006/main">
              <a:ext uri="{FF2B5EF4-FFF2-40B4-BE49-F238E27FC236}">
                <a16:creationId xmlns:a16="http://schemas.microsoft.com/office/drawing/2014/main" id="{36B0B096-20F5-4496-A546-C1A5FEA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049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Agent and skill interfaces assemble evidence and frame questions for review.</a:t>
            </a:r>
          </a:p>
        </p:txBody>
      </p:sp>
      <p:sp>
        <p:nvSpPr>
          <p:cNvPr id="7" name="safety-number-02">
            <a:extLst xmlns:a="http://schemas.openxmlformats.org/drawingml/2006/main">
              <a:ext uri="{FF2B5EF4-FFF2-40B4-BE49-F238E27FC236}">
                <a16:creationId xmlns:a16="http://schemas.microsoft.com/office/drawing/2014/main" id="{86D36A93-CC9F-4C66-A00F-52C7E81F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afety-heading-02">
            <a:extLst xmlns:a="http://schemas.openxmlformats.org/drawingml/2006/main">
              <a:ext uri="{FF2B5EF4-FFF2-40B4-BE49-F238E27FC236}">
                <a16:creationId xmlns:a16="http://schemas.microsoft.com/office/drawing/2014/main" id="{0F189EE2-8F9E-4050-829D-28E5A76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Schemas enforce advisory output</a:t>
            </a:r>
          </a:p>
        </p:txBody>
      </p:sp>
      <p:sp>
        <p:nvSpPr>
          <p:cNvPr id="9" name="safety-body-02">
            <a:extLst xmlns:a="http://schemas.openxmlformats.org/drawingml/2006/main">
              <a:ext uri="{FF2B5EF4-FFF2-40B4-BE49-F238E27FC236}">
                <a16:creationId xmlns:a16="http://schemas.microsoft.com/office/drawing/2014/main" id="{7C90571D-541E-4FFE-AC85-2E9AF63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Typed packets require human adjudication and contain no executable actions.</a:t>
            </a:r>
          </a:p>
        </p:txBody>
      </p:sp>
      <p:sp>
        <p:nvSpPr>
          <p:cNvPr id="10" name="safety-number-03">
            <a:extLst xmlns:a="http://schemas.openxmlformats.org/drawingml/2006/main">
              <a:ext uri="{FF2B5EF4-FFF2-40B4-BE49-F238E27FC236}">
                <a16:creationId xmlns:a16="http://schemas.microsoft.com/office/drawing/2014/main" id="{91898AFC-F1AC-488F-9E3D-8A35727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afety-heading-03">
            <a:extLst xmlns:a="http://schemas.openxmlformats.org/drawingml/2006/main">
              <a:ext uri="{FF2B5EF4-FFF2-40B4-BE49-F238E27FC236}">
                <a16:creationId xmlns:a16="http://schemas.microsoft.com/office/drawing/2014/main" id="{86EAEA31-0AC3-451A-9A9A-03CA8BE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Code blocks unsafe merges</a:t>
            </a:r>
          </a:p>
        </p:txBody>
      </p:sp>
      <p:sp>
        <p:nvSpPr>
          <p:cNvPr id="12" name="safety-body-03">
            <a:extLst xmlns:a="http://schemas.openxmlformats.org/drawingml/2006/main">
              <a:ext uri="{FF2B5EF4-FFF2-40B4-BE49-F238E27FC236}">
                <a16:creationId xmlns:a16="http://schemas.microsoft.com/office/drawing/2014/main" id="{3CD4A491-5733-441B-BEB5-F93C89B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Only approved mappings and transforms can reach ETL or plotting artifacts.</a:t>
            </a:r>
          </a:p>
        </p:txBody>
      </p:sp>
      <p:sp>
        <p:nvSpPr>
          <p:cNvPr id="15" name="heatmap-frame">
            <a:extLst xmlns:a="http://schemas.openxmlformats.org/drawingml/2006/main">
              <a:ext uri="{FF2B5EF4-FFF2-40B4-BE49-F238E27FC236}">
                <a16:creationId xmlns:a16="http://schemas.microsoft.com/office/drawing/2014/main" id="{68C06BEE-A29F-4838-8C42-3C7352F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90625"/>
            <a:ext cx="3619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c29336ec8484f"/>
          <a:stretch xmlns:a="http://schemas.openxmlformats.org/drawingml/2006/main"/>
        </p:blipFill>
        <p:spPr>
          <a:xfrm xmlns:a="http://schemas.openxmlformats.org/drawingml/2006/main">
            <a:off x="4743450" y="1397494"/>
            <a:ext cx="3467100" cy="2310411"/>
          </a:xfrm>
          <a:prstGeom xmlns:a="http://schemas.openxmlformats.org/drawingml/2006/main" prst="rect">
            <a:avLst/>
          </a:prstGeom>
        </p:spPr>
      </p:pic>
      <p:sp>
        <p:nvSpPr>
          <p:cNvPr id="17" name="heatmap-caption">
            <a:extLst xmlns:a="http://schemas.openxmlformats.org/drawingml/2006/main">
              <a:ext uri="{FF2B5EF4-FFF2-40B4-BE49-F238E27FC236}">
                <a16:creationId xmlns:a16="http://schemas.microsoft.com/office/drawing/2014/main" id="{9E5B2F44-E00B-4509-808B-EAFCB66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48125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Synthetic, contrast-explicit output. Unreviewed harmonization remains visible; visual similarity is not replication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C514DC7E-81F7-461C-9A1E-7FF432D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B465E2-B10A-4BB6-A517-F1C9166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The MVP passes its synthetic gate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99F795-3583-48A4-B8DA-1144F1C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idation-metric">
            <a:extLst xmlns:a="http://schemas.openxmlformats.org/drawingml/2006/main">
              <a:ext uri="{FF2B5EF4-FFF2-40B4-BE49-F238E27FC236}">
                <a16:creationId xmlns:a16="http://schemas.microsoft.com/office/drawing/2014/main" id="{BE2AAA1D-E5E4-4304-A214-2530D0E9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47775"/>
            <a:ext cx="2905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5" name="validation-caption">
            <a:extLst xmlns:a="http://schemas.openxmlformats.org/drawingml/2006/main">
              <a:ext uri="{FF2B5EF4-FFF2-40B4-BE49-F238E27FC236}">
                <a16:creationId xmlns:a16="http://schemas.microsoft.com/office/drawing/2014/main" id="{7E2316F7-294A-4AA9-935A-94C71AC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offline synthetic tests passed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verified 19 August 2026</a:t>
            </a:r>
          </a:p>
        </p:txBody>
      </p:sp>
      <p:sp>
        <p:nvSpPr>
          <p:cNvPr id="6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49CE0C40-818B-41A4-BF9C-7084F3E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ventory-summary">
            <a:extLst xmlns:a="http://schemas.openxmlformats.org/drawingml/2006/main">
              <a:ext uri="{FF2B5EF4-FFF2-40B4-BE49-F238E27FC236}">
                <a16:creationId xmlns:a16="http://schemas.microsoft.com/office/drawing/2014/main" id="{ADCE7BE8-DA57-4A07-A513-905F6158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21 paired agent roles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23 paired skill contracts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Network-free offline core</a:t>
            </a:r>
          </a:p>
        </p:txBody>
      </p:sp>
      <p:sp>
        <p:nvSpPr>
          <p:cNvPr id="8" name="proves-heading">
            <a:extLst xmlns:a="http://schemas.openxmlformats.org/drawingml/2006/main">
              <a:ext uri="{FF2B5EF4-FFF2-40B4-BE49-F238E27FC236}">
                <a16:creationId xmlns:a16="http://schemas.microsoft.com/office/drawing/2014/main" id="{7C112055-52F0-4225-A49E-E904F25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5730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5E54"/>
                </a:solidFill>
                <a:latin typeface="Arial"/>
                <a:ea typeface="Arial"/>
                <a:cs typeface="Arial"/>
              </a:rPr>
              <a:t>What this demonstrates</a:t>
            </a:r>
          </a:p>
        </p:txBody>
      </p:sp>
      <p:sp>
        <p:nvSpPr>
          <p:cNvPr id="9" name="proves-body">
            <a:extLst xmlns:a="http://schemas.openxmlformats.org/drawingml/2006/main">
              <a:ext uri="{FF2B5EF4-FFF2-40B4-BE49-F238E27FC236}">
                <a16:creationId xmlns:a16="http://schemas.microsoft.com/office/drawing/2014/main" id="{11CF250D-673E-4E9A-A8C0-8418996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3905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Reproducible, deterministic rule behavior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Provenance retention across evidence artifacts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Enforcement of review and network boundaries</a:t>
            </a:r>
          </a:p>
        </p:txBody>
      </p:sp>
      <p:sp>
        <p:nvSpPr>
          <p:cNvPr id="10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73A862FD-F6C8-4B55-9853-1B8CA1E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What this does not demonstrate</a:t>
            </a:r>
          </a:p>
        </p:txBody>
      </p:sp>
      <p:sp>
        <p:nvSpPr>
          <p:cNvPr id="11" name="limits-body">
            <a:extLst xmlns:a="http://schemas.openxmlformats.org/drawingml/2006/main">
              <a:ext uri="{FF2B5EF4-FFF2-40B4-BE49-F238E27FC236}">
                <a16:creationId xmlns:a16="http://schemas.microsoft.com/office/drawing/2014/main" id="{9925B5FE-6F97-4BC9-9B84-ED2FA7B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Accuracy on independent studies or cohorts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Cross-platform assay commutability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Biological replication or causal inference</a:t>
            </a:r>
          </a:p>
        </p:txBody>
      </p:sp>
      <p:sp>
        <p:nvSpPr>
          <p:cNvPr id="12" name="next-milestone-band">
            <a:extLst xmlns:a="http://schemas.openxmlformats.org/drawingml/2006/main">
              <a:ext uri="{FF2B5EF4-FFF2-40B4-BE49-F238E27FC236}">
                <a16:creationId xmlns:a16="http://schemas.microsoft.com/office/drawing/2014/main" id="{FACE8CE2-854A-48DC-9539-655D0D8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74485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8C1515"/>
            </a:solidFill>
            <a:prstDash val="solid"/>
          </a:ln>
        </p:spPr>
      </p:sp>
      <p:sp>
        <p:nvSpPr>
          <p:cNvPr id="13" name="next-milestone-label">
            <a:extLst xmlns:a="http://schemas.openxmlformats.org/drawingml/2006/main">
              <a:ext uri="{FF2B5EF4-FFF2-40B4-BE49-F238E27FC236}">
                <a16:creationId xmlns:a16="http://schemas.microsoft.com/office/drawing/2014/main" id="{6E769E5A-AAC5-46A6-BD8B-8C54F9C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5DA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DADF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14" name="next-milestone-text">
            <a:extLst xmlns:a="http://schemas.openxmlformats.org/drawingml/2006/main">
              <a:ext uri="{FF2B5EF4-FFF2-40B4-BE49-F238E27FC236}">
                <a16:creationId xmlns:a16="http://schemas.microsoft.com/office/drawing/2014/main" id="{26332660-606F-49CE-9DC5-D35B7AF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Frozen public-record benchmark across diverse assay platforms</a:t>
            </a:r>
          </a:p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≥2 blinded curators + adjudication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theme/theme1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2026-08-19T22:18:55.9960000Z</dcterms:created>
  <dcterms:modified xsi:type="dcterms:W3CDTF">2026-08-19T22:18:55.9960000Z</dcterms:modified>
</coreProperties>
</file>