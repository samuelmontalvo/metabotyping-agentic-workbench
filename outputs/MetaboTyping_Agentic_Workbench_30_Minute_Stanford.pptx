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72a74058a94074" /><Relationship Type="http://schemas.openxmlformats.org/officeDocument/2006/relationships/extended-properties" Target="/docProps/app.xml" Id="R2155ef537e3540c0" /><Relationship Type="http://schemas.openxmlformats.org/officeDocument/2006/relationships/officeDocument" Target="/ppt/presentation.xml" Id="R6851efe4dafb41a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884826d4b28c46fa"/>
  </p:sldMasterIdLst>
  <p:notesMasterIdLst>
    <p:notesMasterId xmlns:r="http://schemas.openxmlformats.org/officeDocument/2006/relationships" r:id="R4f15985d4dcf448e"/>
  </p:notesMasterIdLst>
  <p:sldIdLst>
    <p:sldId xmlns:r="http://schemas.openxmlformats.org/officeDocument/2006/relationships" id="256" r:id="R9f05ab76c8934925"/>
    <p:sldId xmlns:r="http://schemas.openxmlformats.org/officeDocument/2006/relationships" id="257" r:id="Raa87bf96c1194de5"/>
    <p:sldId xmlns:r="http://schemas.openxmlformats.org/officeDocument/2006/relationships" id="258" r:id="R060ceccfee8e4f2b"/>
    <p:sldId xmlns:r="http://schemas.openxmlformats.org/officeDocument/2006/relationships" id="259" r:id="Raef11af30da14440"/>
    <p:sldId xmlns:r="http://schemas.openxmlformats.org/officeDocument/2006/relationships" id="260" r:id="R3ebb184afc1b48ba"/>
    <p:sldId xmlns:r="http://schemas.openxmlformats.org/officeDocument/2006/relationships" id="261" r:id="R25e00a46ff924e5e"/>
    <p:sldId xmlns:r="http://schemas.openxmlformats.org/officeDocument/2006/relationships" id="262" r:id="R60937f33f1c7401a"/>
    <p:sldId xmlns:r="http://schemas.openxmlformats.org/officeDocument/2006/relationships" id="263" r:id="R86a34456ad8c4b98"/>
    <p:sldId xmlns:r="http://schemas.openxmlformats.org/officeDocument/2006/relationships" id="264" r:id="Rb06c489a7f2b4d1a"/>
    <p:sldId xmlns:r="http://schemas.openxmlformats.org/officeDocument/2006/relationships" id="265" r:id="R531c3d9d46524ca2"/>
    <p:sldId xmlns:r="http://schemas.openxmlformats.org/officeDocument/2006/relationships" id="266" r:id="Rd04ec36986ad483c"/>
    <p:sldId xmlns:r="http://schemas.openxmlformats.org/officeDocument/2006/relationships" id="267" r:id="Rf7912dc29fa54387"/>
    <p:sldId xmlns:r="http://schemas.openxmlformats.org/officeDocument/2006/relationships" id="268" r:id="Rbe899aaed5fc45a3"/>
    <p:sldId xmlns:r="http://schemas.openxmlformats.org/officeDocument/2006/relationships" id="269" r:id="R1348cfde748c4f8a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ce4a7e6c9f2345cd"/>
      <p:bold xmlns:r="http://schemas.openxmlformats.org/officeDocument/2006/relationships" r:id="Rbc9306857b5d4982"/>
      <p:italic xmlns:r="http://schemas.openxmlformats.org/officeDocument/2006/relationships" r:id="R47075b06037c4a87"/>
      <p:boldItalic xmlns:r="http://schemas.openxmlformats.org/officeDocument/2006/relationships" r:id="Rec3ad75356c84062"/>
    </p:embeddedFont>
    <p:embeddedFont>
      <p:font typeface="Open Sans"/>
      <p:regular xmlns:r="http://schemas.openxmlformats.org/officeDocument/2006/relationships" r:id="R895797d0ca284566"/>
      <p:bold xmlns:r="http://schemas.openxmlformats.org/officeDocument/2006/relationships" r:id="Rb3fb56d1569b4f91"/>
      <p:italic xmlns:r="http://schemas.openxmlformats.org/officeDocument/2006/relationships" r:id="Rf3544bfebe8f4beb"/>
      <p:boldItalic xmlns:r="http://schemas.openxmlformats.org/officeDocument/2006/relationships" r:id="Red4997e17e124ad0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cfb51dfb164711" /><Relationship Type="http://schemas.openxmlformats.org/officeDocument/2006/relationships/slideMaster" Target="/ppt/slideMasters/slideMaster1.xml" Id="R884826d4b28c46fa" /><Relationship Type="http://schemas.openxmlformats.org/officeDocument/2006/relationships/notesMaster" Target="/ppt/notesMasters/notesMaster1.xml" Id="R4f15985d4dcf448e" /><Relationship Type="http://schemas.openxmlformats.org/officeDocument/2006/relationships/presProps" Target="/ppt/presProps.xml" Id="Rd0e8d206ed8541da" /><Relationship Type="http://schemas.openxmlformats.org/officeDocument/2006/relationships/viewProps" Target="/ppt/viewProps.xml" Id="Rdbf69bd8e1f943e1" /><Relationship Type="http://schemas.openxmlformats.org/officeDocument/2006/relationships/tableStyles" Target="/ppt/tableStyles.xml" Id="R67800d98807e46b9" /><Relationship Type="http://schemas.openxmlformats.org/officeDocument/2006/relationships/font" Target="/ppt/fonts/font.dat" Id="Rce4a7e6c9f2345cd" /><Relationship Type="http://schemas.openxmlformats.org/officeDocument/2006/relationships/font" Target="/ppt/fonts/font2.dat" Id="Rbc9306857b5d4982" /><Relationship Type="http://schemas.openxmlformats.org/officeDocument/2006/relationships/font" Target="/ppt/fonts/font3.dat" Id="R47075b06037c4a87" /><Relationship Type="http://schemas.openxmlformats.org/officeDocument/2006/relationships/font" Target="/ppt/fonts/font4.dat" Id="Rec3ad75356c84062" /><Relationship Type="http://schemas.openxmlformats.org/officeDocument/2006/relationships/font" Target="/ppt/fonts/font5.dat" Id="R895797d0ca284566" /><Relationship Type="http://schemas.openxmlformats.org/officeDocument/2006/relationships/font" Target="/ppt/fonts/font6.dat" Id="Rb3fb56d1569b4f91" /><Relationship Type="http://schemas.openxmlformats.org/officeDocument/2006/relationships/font" Target="/ppt/fonts/font7.dat" Id="Rf3544bfebe8f4beb" /><Relationship Type="http://schemas.openxmlformats.org/officeDocument/2006/relationships/font" Target="/ppt/fonts/font8.dat" Id="Red4997e17e124ad0" /><Relationship Type="http://schemas.openxmlformats.org/officeDocument/2006/relationships/slide" Target="/ppt/slides/slide1.xml" Id="R9f05ab76c8934925" /><Relationship Type="http://schemas.openxmlformats.org/officeDocument/2006/relationships/slide" Target="/ppt/slides/slide2.xml" Id="Raa87bf96c1194de5" /><Relationship Type="http://schemas.openxmlformats.org/officeDocument/2006/relationships/slide" Target="/ppt/slides/slide3.xml" Id="R060ceccfee8e4f2b" /><Relationship Type="http://schemas.openxmlformats.org/officeDocument/2006/relationships/slide" Target="/ppt/slides/slide4.xml" Id="Raef11af30da14440" /><Relationship Type="http://schemas.openxmlformats.org/officeDocument/2006/relationships/slide" Target="/ppt/slides/slide5.xml" Id="R3ebb184afc1b48ba" /><Relationship Type="http://schemas.openxmlformats.org/officeDocument/2006/relationships/slide" Target="/ppt/slides/slide6.xml" Id="R25e00a46ff924e5e" /><Relationship Type="http://schemas.openxmlformats.org/officeDocument/2006/relationships/slide" Target="/ppt/slides/slide7.xml" Id="R60937f33f1c7401a" /><Relationship Type="http://schemas.openxmlformats.org/officeDocument/2006/relationships/slide" Target="/ppt/slides/slide8.xml" Id="R86a34456ad8c4b98" /><Relationship Type="http://schemas.openxmlformats.org/officeDocument/2006/relationships/slide" Target="/ppt/slides/slide9.xml" Id="Rb06c489a7f2b4d1a" /><Relationship Type="http://schemas.openxmlformats.org/officeDocument/2006/relationships/slide" Target="/ppt/slides/slide10.xml" Id="R531c3d9d46524ca2" /><Relationship Type="http://schemas.openxmlformats.org/officeDocument/2006/relationships/slide" Target="/ppt/slides/slide11.xml" Id="Rd04ec36986ad483c" /><Relationship Type="http://schemas.openxmlformats.org/officeDocument/2006/relationships/slide" Target="/ppt/slides/slide12.xml" Id="Rf7912dc29fa54387" /><Relationship Type="http://schemas.openxmlformats.org/officeDocument/2006/relationships/slide" Target="/ppt/slides/slide13.xml" Id="Rbe899aaed5fc45a3" /><Relationship Type="http://schemas.openxmlformats.org/officeDocument/2006/relationships/slide" Target="/ppt/slides/slide14.xml" Id="R1348cfde748c4f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fe1061529447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16da0d3c2b4d75" /><Relationship Type="http://schemas.openxmlformats.org/officeDocument/2006/relationships/notesMaster" Target="/ppt/notesMasters/notesMaster1.xml" Id="R8ec69c7fcd7845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84afc5d6704e20" /><Relationship Type="http://schemas.openxmlformats.org/officeDocument/2006/relationships/notesMaster" Target="/ppt/notesMasters/notesMaster1.xml" Id="Rd6ca51a53ad748a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7524b993c149dc" /><Relationship Type="http://schemas.openxmlformats.org/officeDocument/2006/relationships/notesMaster" Target="/ppt/notesMasters/notesMaster1.xml" Id="Rc85e3cc0bf714a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b71105080449c9" /><Relationship Type="http://schemas.openxmlformats.org/officeDocument/2006/relationships/notesMaster" Target="/ppt/notesMasters/notesMaster1.xml" Id="R1556322ca36b47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ff95269d224d67" /><Relationship Type="http://schemas.openxmlformats.org/officeDocument/2006/relationships/notesMaster" Target="/ppt/notesMasters/notesMaster1.xml" Id="R88d5e403104a45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4eb433d334f01" /><Relationship Type="http://schemas.openxmlformats.org/officeDocument/2006/relationships/notesMaster" Target="/ppt/notesMasters/notesMaster1.xml" Id="R81187bce0c394a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420a969ef74d63" /><Relationship Type="http://schemas.openxmlformats.org/officeDocument/2006/relationships/notesMaster" Target="/ppt/notesMasters/notesMaster1.xml" Id="R4cb649dea0bc4f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34b0bfa71b45e2" /><Relationship Type="http://schemas.openxmlformats.org/officeDocument/2006/relationships/notesMaster" Target="/ppt/notesMasters/notesMaster1.xml" Id="Rfd85edca82fc44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679a6137684dca" /><Relationship Type="http://schemas.openxmlformats.org/officeDocument/2006/relationships/notesMaster" Target="/ppt/notesMasters/notesMaster1.xml" Id="R10591dbe7e0149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4bda1b81ca458a" /><Relationship Type="http://schemas.openxmlformats.org/officeDocument/2006/relationships/notesMaster" Target="/ppt/notesMasters/notesMaster1.xml" Id="Ra4679a509ca44e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8129b002d04a30" /><Relationship Type="http://schemas.openxmlformats.org/officeDocument/2006/relationships/notesMaster" Target="/ppt/notesMasters/notesMaster1.xml" Id="Rba5abb57d2ba47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7e6a748e0d4195" /><Relationship Type="http://schemas.openxmlformats.org/officeDocument/2006/relationships/notesMaster" Target="/ppt/notesMasters/notesMaster1.xml" Id="R8e924f08d5164bb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2d3414ff5541ab" /><Relationship Type="http://schemas.openxmlformats.org/officeDocument/2006/relationships/notesMaster" Target="/ppt/notesMasters/notesMaster1.xml" Id="R8dade9018102493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4736dcd15b4950" /><Relationship Type="http://schemas.openxmlformats.org/officeDocument/2006/relationships/notesMaster" Target="/ppt/notesMasters/notesMaster1.xml" Id="Ra2dac8917ea54c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1 minute.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with the purpose: this is a workbench for deciding whether heterogeneous metabolomics evidence is reusable, not an autonomous system that declares studies equivalent.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Preview the throughline: discover candidates, preserve provenance, route uncertainty to experts, and test the safety boundary.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/Users/samuelmontalvo/.codex/skills/stanford-presentation-template/assets/stanford-slide-template.pptx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frozen public corpus shows abundance, not immediate comparability.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the different denominators: study summaries, analyses, feature incidences, and reference nomenclature cannot be treated as one count.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scientific bottleneck is proving identity, assay, timing, phenotype, and estimand compatibility before combining results.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/Users/samuelmontalvo/Documents/GitHub/metabotyping-agentic-workbench/reports_live/final_workbench_report/figures/corpus_landscape.png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/Users/samuelmontalvo/Documents/GitHub/metabotyping-agentic-workbench/reports_live/final_workbench_report/final_report.html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/Users/samuelmontalvo/Documents/GitHub/metabotyping-agentic-workbench/data/live/mw_corpus_snapshot/manifest.json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1 discovers and ranks candidate studies while detecting mirages.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2 extracts evidence cards, proposes variable and assay mappings, and routes uncertain decisions to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3 scores metadata readiness and supports MoTrPAC-like comparison planning without asserting equivalence.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/Users/samuelmontalvo/Documents/GitHub/metabotyping-agentic-workbench/docs/manuscript/figures/metabotyping_agentic_workbench_aims.png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2.5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left to right: inputs become typed evidence models, deterministic decision modules, and reviewable outputs.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important boundary is the state transition: accepted, requires human review, or non-combinable.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Every artifact retains source location, rule version, rationale, and unresolved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evaluated offline workflow is deterministic; agent and skill contracts invoke these modules but do not bypass them.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/Users/samuelmontalvo/Documents/GitHub/metabotyping-agentic-workbench/docs/manuscript/figures/metabotyping_agentic_workbench_architecture.png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/Users/samuelmontalvo/Documents/GitHub/metabotyping-agentic-workbench/src/metabotyping_agentic/review/validation.py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synthetic ranking rewards direct exercise/activity evidence, genetics, CPET, body composition, diet, and usable repository assets.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Two superficially relevant studies remain mirages because repository data or a codebook is missing.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animal study is excluded by the human-participant criterion even though some metadata fields are complete.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/Users/samuelmontalvo/Documents/GitHub/metabotyping-agentic-workbench/reports/aim1_catalog_report.md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/Users/samuelmontalvo/Documents/GitHub/metabotyping-agentic-workbench/data/extracted/recommendations.csv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screenshot to show what human-in-the-loop means operationally: reviewers see the source variable, candidate target, context, rationale, and provenance together.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highlighted VO2peak example is intentionally not auto-collapsed to vo2max without protocol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training interface uses synthetic data and public resource names only as instructional context.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/Users/samuelmontalvo/Documents/GitHub/metabotyping-agentic-workbench/docs/metabo-diet-training-app/index.html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/Users/samuelmontalvo/Documents/GitHub/metabotyping-agentic-workbench/tmp/stanford_30min_deck/metabo_app_screenshot.png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/Users/samuelmontalvo/Documents/GitHub/metabotyping-agentic-workbench/reports/aim2_harmonization_report.md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Three examples show why label similarity is not a decision rule.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identity with compatible unit and endpoint evidence can be accepted.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VO2peak to VO2max stays review-required until the exercise protocol and endpoint criteria are documented.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unsupported diet score remains not mapped rather than being forced into a convenient category.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/Users/samuelmontalvo/Documents/GitHub/metabotyping-agentic-workbench/reports/aim2_harmonization_report.md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/Users/samuelmontalvo/Documents/GitHub/metabotyping-agentic-workbench/data/extracted/crosswalk.csv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score combines study-design rigor, metadata completeness, metabolomics quality, and harmonization feasibility.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animal fixture to explain the separation between readiness and eligibility: a record can be well described yet still outside the target population.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score is a curation triage signal, not validated overall study quality or risk of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/Users/samuelmontalvo/Documents/GitHub/metabotyping-agentic-workbench/reports/aim3_evaluation_report.md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/Users/samuelmontalvo/Documents/GitHub/metabotyping-agentic-workbench/data/extracted/quality_scores.json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alignment score records whether metadata contain prerequisites for a MoTrPAC-style comparison plan.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High readiness means the planning fields are present; it does not establish protocol equivalence, biological replication, or pooling permission.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lowest score is driven by missing repository assets and core metadata, not a biological conclusion.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/Users/samuelmontalvo/Documents/GitHub/metabotyping-agentic-workbench/reports/motrpac_alignment_report.md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/Users/samuelmontalvo/Documents/GitHub/metabotyping-agentic-workbench/reports/motrpac_alignment.json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2.5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synthetic demonstration retains four distinct contrasts: MoTrPAC acute, MoTrPAC eight-week, MW acute, and MW trained versus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shared heatmap is restricted to reviewed canonical labels; each value remains tied to its original study contrast.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visual is a planning and review artifact. Similarity across panels is not evidence of harmonized replication.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/Users/samuelmontalvo/Documents/GitHub/metabotyping-agentic-workbench/reports/synthetic_four_study_figure/motrpac_mw_four_study_multiplot.png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/Users/samuelmontalvo/Documents/GitHub/metabotyping-agentic-workbench/reports/synthetic_four_study_figure/study_contrast_metadata.csv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/Users/samuelmontalvo/Documents/GitHub/metabotyping-agentic-workbench/reports/synthetic_four_study_figure/four_study_differential_results.csv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plotting lane standardizes presentation while preserving contrast definitions, direction, multiplicity thresholds, and source metadata.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heatmap contains reviewed cross-study values, not a pooled model.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broader plot suite also includes single-metabolite trajectories and RefMet hierarchy views.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/Users/samuelmontalvo/Documents/GitHub/metabotyping-agentic-workbench/docs/manuscript/figures/metabotyping_agent_plot_examples.png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/Users/samuelmontalvo/Documents/GitHub/metabotyping-agentic-workbench/docs/manuscript/figures/synthetic_motrpac_plot_suite/figures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/Users/samuelmontalvo/Documents/GitHub/metabotyping-agentic-workbench/src/metabotyping_agentic/plotting/metabolomics.py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strict synthetic readiness gate currently reports 156 passed tests with no failures, errors, or skips.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benchmark checks exact mapping candidates, review routing, review status, auto-accept safety, and score agreement against synthetic expert fixtures.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80% quality-score agreement is the visible imperfection: two fixtures fall outside the predefined tolerance.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is regression evidence, not independent scientific validation.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/Users/samuelmontalvo/Documents/GitHub/metabotyping-agentic-workbench/reports/benchmark_report.md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/Users/samuelmontalvo/Documents/GitHub/metabotyping-agentic-workbench/reports/benchmark_disagreements.csv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 the next milestone as a frozen, blinded evaluation rather than another feature expansion.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Select external cohorts that span assay platforms and metadata quality, lock source snapshots and definitions, and keep experts blinded to the workbench output during reference adjudication.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 both harmful and conservative errors: unsafe auto-accepts, missed review cases, unnecessary abstentions, and score drift.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/Users/samuelmontalvo/Documents/GitHub/metabotyping-agentic-workbench/docs/agent_architecture_evaluation.md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/Users/samuelmontalvo/Documents/GitHub/metabotyping-agentic-workbench/reports/benchmark_report.md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4 minutes for synthesis and discussion.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returning to the opening: scale creates opportunity only when comparability decisions are traceable and review-gated.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Invite discussion around the first external validation cohort, assay diversity, and adjudication team.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2abf92d9c47c4" /><Relationship Type="http://schemas.openxmlformats.org/officeDocument/2006/relationships/image" Target="/ppt/media/image2.png" Id="Re9bd476bab89477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f33d9a42549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9acccd2114d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20747d758421c" /><Relationship Type="http://schemas.openxmlformats.org/officeDocument/2006/relationships/image" Target="/ppt/media/image2.png" Id="R316d9cd53f3843c3" /><Relationship Type="http://schemas.openxmlformats.org/officeDocument/2006/relationships/image" Target="/ppt/media/image.jpeg" Id="Re26a4695eb3740a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247310b474c0a" /><Relationship Type="http://schemas.openxmlformats.org/officeDocument/2006/relationships/image" Target="/ppt/media/image2.png" Id="R5909aa7757e94547" /><Relationship Type="http://schemas.openxmlformats.org/officeDocument/2006/relationships/image" Target="/ppt/media/image3.png" Id="R5e7d624f5742446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26bb9d219b44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4f50276bba4c6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b84195e84485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53224c8a6497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4b5ccdf974d9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4c7f4e5574c7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c70e62345942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b2c809558f4119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c137c988754f13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0EE4F36-F67B-4527-B1BE-152B322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bd476bab8947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EAF26AA-32E5-418A-A82D-8B30F80DF4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1B920421-4BAC-4C9D-B776-263619897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A88C6270-B3F8-4849-8835-0A2CD2A5D4A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89D039DA-11AE-4B77-822A-D753A2C9B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DB4A6F2E-7B78-4499-B25D-1363E37EA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1466614-A301-43B8-BC86-5B5789D7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16d9cd53f3843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2D796201-9D70-419F-AC6D-9E325FBE8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DBE177CE-3ADE-4B9F-A862-DEE63419AE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0A944063-2AC1-411A-BE33-B483F2511A8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26a4695eb3740a3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FB75C3A3-CD70-4CB0-B0DE-8EFB1AA8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909aa7757e945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AC4A277E-3954-4AE4-9F7F-E1F791D456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08DF6BBA-ACE7-4314-BF96-78F9C8F11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7d624f57424468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F1A99D11-69BD-4C1F-8E75-C353A69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62508692-C0A5-4C0E-9A6C-FA110D7E2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402F539F-4155-4A46-ADD4-CDEECB9F4E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F3C212B9-C304-43F6-9216-CB4A56575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D1525A59-BE9D-4754-AFD4-74DC97C5E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9A9BC7A7-D23E-4D43-9161-451A782824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82ED2339-A50A-464E-9B0D-E223512638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905AB1B5-5AF2-4236-BF49-B7125D0B36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B5230000-5869-40E7-B326-457E11E7E9D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9F8E5D6F-8CB5-4209-9D43-3531A3DD5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BAD049E5-03F4-40DF-A2A7-91222EBF5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403547DD-41C1-492C-B6E1-B82EA97D6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235778D7-838F-4199-B940-0C7823A230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EEE3E6A0-819A-4015-956F-6A14C35145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E0062D95-B163-4603-A63C-707394F34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E90F37DD-3005-452E-8C01-2EDD7C9B20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137BAC4F-9B46-43A5-8275-7DF66E13B9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EB628254-D8CC-4A79-A65F-5E9EFFA550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2360149A-0FFC-4BAF-99F1-749B28BF55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36C3C08C-C729-4AD2-8750-89CC0CD29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3F505B9B-7C0C-488B-ADB1-3FAE0D749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C1027DE9-2184-42EA-8E77-954F683EC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E928DE46-4263-4260-9385-3A4EA9C19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70363A74-799F-4A91-AE6D-096D3815B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58342549-36B8-4E54-BA33-2E901D279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6534C163-2AA2-4A9B-882E-F01CE4780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031350E3-689F-4252-B3B1-5130923B74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51255FBE-97F1-42D4-A28B-E868C92B16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b9d5b0107f34deb" /><Relationship Type="http://schemas.openxmlformats.org/officeDocument/2006/relationships/theme" Target="/ppt/slideMasters/theme/theme2.xml" Id="R64c2ec4d62974978" /><Relationship Type="http://schemas.openxmlformats.org/officeDocument/2006/relationships/slideLayout" Target="/ppt/slideLayouts/slideLayout1.xml" Id="R9953b3cc042e45ef" /><Relationship Type="http://schemas.openxmlformats.org/officeDocument/2006/relationships/slideLayout" Target="/ppt/slideLayouts/slideLayout2.xml" Id="Rdd6a69a78dca442f" /><Relationship Type="http://schemas.openxmlformats.org/officeDocument/2006/relationships/slideLayout" Target="/ppt/slideLayouts/slideLayout3.xml" Id="Rce77f4875e8447cc" /><Relationship Type="http://schemas.openxmlformats.org/officeDocument/2006/relationships/slideLayout" Target="/ppt/slideLayouts/slideLayout4.xml" Id="R2d0daf4906e84410" /><Relationship Type="http://schemas.openxmlformats.org/officeDocument/2006/relationships/slideLayout" Target="/ppt/slideLayouts/slideLayout5.xml" Id="R7ecc2a0213464a77" /><Relationship Type="http://schemas.openxmlformats.org/officeDocument/2006/relationships/slideLayout" Target="/ppt/slideLayouts/slideLayout6.xml" Id="Re57b1c44169948fe" /><Relationship Type="http://schemas.openxmlformats.org/officeDocument/2006/relationships/slideLayout" Target="/ppt/slideLayouts/slideLayout7.xml" Id="R1d5c3133b6784de3" /><Relationship Type="http://schemas.openxmlformats.org/officeDocument/2006/relationships/slideLayout" Target="/ppt/slideLayouts/slideLayout8.xml" Id="R76c6ec2af348476a" /><Relationship Type="http://schemas.openxmlformats.org/officeDocument/2006/relationships/slideLayout" Target="/ppt/slideLayouts/slideLayout9.xml" Id="Rd2fd5326584647c3" /><Relationship Type="http://schemas.openxmlformats.org/officeDocument/2006/relationships/slideLayout" Target="/ppt/slideLayouts/slideLayout10.xml" Id="R286cc46dbbb5498f" /><Relationship Type="http://schemas.openxmlformats.org/officeDocument/2006/relationships/slideLayout" Target="/ppt/slideLayouts/slideLayout11.xml" Id="R0b181cce92bc4149" /><Relationship Type="http://schemas.openxmlformats.org/officeDocument/2006/relationships/slideLayout" Target="/ppt/slideLayouts/slideLayout12.xml" Id="R767738b8f97e462b" /><Relationship Type="http://schemas.openxmlformats.org/officeDocument/2006/relationships/slideLayout" Target="/ppt/slideLayouts/slideLayout13.xml" Id="R7b9e143940bf4a4d" /><Relationship Type="http://schemas.openxmlformats.org/officeDocument/2006/relationships/slideLayout" Target="/ppt/slideLayouts/slideLayout14.xml" Id="R369ea6906d304b04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09AE253-A993-4D90-89A2-1F63E04A7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C0A6B0-09DE-4565-B89E-8C0DE6410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6C414856-2C35-4D85-889B-B4EF6503D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ECCDB8A1-A8E6-4E01-8074-3E12C10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9d5b0107f34d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53b3cc042e45ef"/>
    <p:sldLayoutId xmlns:r="http://schemas.openxmlformats.org/officeDocument/2006/relationships" id="2147483650" r:id="Rdd6a69a78dca442f"/>
    <p:sldLayoutId xmlns:r="http://schemas.openxmlformats.org/officeDocument/2006/relationships" id="2147483651" r:id="Rce77f4875e8447cc"/>
    <p:sldLayoutId xmlns:r="http://schemas.openxmlformats.org/officeDocument/2006/relationships" id="2147483652" r:id="R2d0daf4906e84410"/>
    <p:sldLayoutId xmlns:r="http://schemas.openxmlformats.org/officeDocument/2006/relationships" id="2147483653" r:id="R7ecc2a0213464a77"/>
    <p:sldLayoutId xmlns:r="http://schemas.openxmlformats.org/officeDocument/2006/relationships" id="2147483654" r:id="Re57b1c44169948fe"/>
    <p:sldLayoutId xmlns:r="http://schemas.openxmlformats.org/officeDocument/2006/relationships" id="2147483655" r:id="R1d5c3133b6784de3"/>
    <p:sldLayoutId xmlns:r="http://schemas.openxmlformats.org/officeDocument/2006/relationships" id="2147483656" r:id="R76c6ec2af348476a"/>
    <p:sldLayoutId xmlns:r="http://schemas.openxmlformats.org/officeDocument/2006/relationships" id="2147483657" r:id="Rd2fd5326584647c3"/>
    <p:sldLayoutId xmlns:r="http://schemas.openxmlformats.org/officeDocument/2006/relationships" id="2147483658" r:id="R286cc46dbbb5498f"/>
    <p:sldLayoutId xmlns:r="http://schemas.openxmlformats.org/officeDocument/2006/relationships" id="2147483659" r:id="R0b181cce92bc4149"/>
    <p:sldLayoutId xmlns:r="http://schemas.openxmlformats.org/officeDocument/2006/relationships" id="2147483660" r:id="R767738b8f97e462b"/>
    <p:sldLayoutId xmlns:r="http://schemas.openxmlformats.org/officeDocument/2006/relationships" id="2147483661" r:id="R7b9e143940bf4a4d"/>
    <p:sldLayoutId xmlns:r="http://schemas.openxmlformats.org/officeDocument/2006/relationships" id="2147483662" r:id="R369ea6906d304b0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9cfa2cfbfc243d7" /><Relationship Type="http://schemas.openxmlformats.org/officeDocument/2006/relationships/notesSlide" Target="/ppt/notesSlides/notesSlide1.xml" Id="Rc649136fb87449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323f3b03a0f41e5" /><Relationship Type="http://schemas.openxmlformats.org/officeDocument/2006/relationships/image" Target="/ppt/media/image4.png" Id="R077099b8420448e9" /><Relationship Type="http://schemas.openxmlformats.org/officeDocument/2006/relationships/notesSlide" Target="/ppt/notesSlides/notesSlide2.xml" Id="Rc7f424ab19ae49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ebd44a713d48a0" /><Relationship Type="http://schemas.openxmlformats.org/officeDocument/2006/relationships/image" Target="/ppt/media/image5.png" Id="Re5823f5a5b644e56" /><Relationship Type="http://schemas.openxmlformats.org/officeDocument/2006/relationships/notesSlide" Target="/ppt/notesSlides/notesSlide3.xml" Id="R05d127477e2e4f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1b9acf69e24eee" /><Relationship Type="http://schemas.openxmlformats.org/officeDocument/2006/relationships/image" Target="/ppt/media/image6.png" Id="R1b7d22a3809d493b" /><Relationship Type="http://schemas.openxmlformats.org/officeDocument/2006/relationships/notesSlide" Target="/ppt/notesSlides/notesSlide4.xml" Id="R079c55954c4541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05fd8b36b6486f" /><Relationship Type="http://schemas.openxmlformats.org/officeDocument/2006/relationships/chart" Target="/ppt/slides/charts/chart1.xml" Id="R3bd6784b16644ba9" /><Relationship Type="http://schemas.openxmlformats.org/officeDocument/2006/relationships/notesSlide" Target="/ppt/notesSlides/notesSlide5.xml" Id="R70e355be274e48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14616b4d114c45" /><Relationship Type="http://schemas.openxmlformats.org/officeDocument/2006/relationships/image" Target="/ppt/media/image7.png" Id="R669b88508c0a4df3" /><Relationship Type="http://schemas.openxmlformats.org/officeDocument/2006/relationships/notesSlide" Target="/ppt/notesSlides/notesSlide6.xml" Id="R26cf1e13db6148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36bbfc924e4397" /><Relationship Type="http://schemas.openxmlformats.org/officeDocument/2006/relationships/notesSlide" Target="/ppt/notesSlides/notesSlide7.xml" Id="Rb9f497ab4e994b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1aaff00a704e5b" /><Relationship Type="http://schemas.openxmlformats.org/officeDocument/2006/relationships/chart" Target="/ppt/slides/charts/chart2.xml" Id="R95d00ec76b0d4a09" /><Relationship Type="http://schemas.openxmlformats.org/officeDocument/2006/relationships/notesSlide" Target="/ppt/notesSlides/notesSlide8.xml" Id="R184166f2767244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a984cba1ff4c66" /><Relationship Type="http://schemas.openxmlformats.org/officeDocument/2006/relationships/chart" Target="/ppt/slides/charts/chart3.xml" Id="R094bfdaf3a514d21" /><Relationship Type="http://schemas.openxmlformats.org/officeDocument/2006/relationships/notesSlide" Target="/ppt/notesSlides/notesSlide9.xml" Id="Rc3381235697441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ca917066d7411e" /><Relationship Type="http://schemas.openxmlformats.org/officeDocument/2006/relationships/image" Target="/ppt/media/image8.png" Id="R8f079c125f074f50" /><Relationship Type="http://schemas.openxmlformats.org/officeDocument/2006/relationships/notesSlide" Target="/ppt/notesSlides/notesSlide10.xml" Id="Ra4364cc42cf942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8d28c5664b44a8" /><Relationship Type="http://schemas.openxmlformats.org/officeDocument/2006/relationships/image" Target="/ppt/media/image9.png" Id="R37c8db7c3deb4aa1" /><Relationship Type="http://schemas.openxmlformats.org/officeDocument/2006/relationships/notesSlide" Target="/ppt/notesSlides/notesSlide11.xml" Id="R688a6539ec964c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362d755c9f431a" /><Relationship Type="http://schemas.openxmlformats.org/officeDocument/2006/relationships/chart" Target="/ppt/slides/charts/chart4.xml" Id="R453d43c278fb4d16" /><Relationship Type="http://schemas.openxmlformats.org/officeDocument/2006/relationships/notesSlide" Target="/ppt/notesSlides/notesSlide12.xml" Id="Rd107ed5dd99e44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da317a14834ef0" /><Relationship Type="http://schemas.openxmlformats.org/officeDocument/2006/relationships/notesSlide" Target="/ppt/notesSlides/notesSlide13.xml" Id="R3cbf739549e8465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43b80e14a3b4f43" /><Relationship Type="http://schemas.openxmlformats.org/officeDocument/2006/relationships/notesSlide" Target="/ppt/notesSlides/notesSlide14.xml" Id="Ra829844199014fd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A7D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ANIMAL</c:v>
              </c:pt>
              <c:pt idx="1">
                <c:v>NO CODEBOOK</c:v>
              </c:pt>
              <c:pt idx="2">
                <c:v>NO DATA</c:v>
              </c:pt>
              <c:pt idx="3">
                <c:v>DIET + BODY</c:v>
              </c:pt>
              <c:pt idx="4">
                <c:v>RESTRICTED</c:v>
              </c:pt>
              <c:pt idx="5">
                <c:v>OMICS + GEN</c:v>
              </c:pt>
              <c:pt idx="6">
                <c:v>ACTIVITY + MET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</c:v>
              </c:pt>
              <c:pt idx="1">
                <c:v>0.54</c:v>
              </c:pt>
              <c:pt idx="2">
                <c:v>0.54</c:v>
              </c:pt>
              <c:pt idx="3">
                <c:v>0.57</c:v>
              </c:pt>
              <c:pt idx="4">
                <c:v>0.65</c:v>
              </c:pt>
              <c:pt idx="5">
                <c:v>0.65</c:v>
              </c:pt>
              <c:pt idx="6">
                <c:v>0.69</c:v>
              </c:pt>
              <c:pt idx="7">
                <c:v>0.69</c:v>
              </c:pt>
              <c:pt idx="8">
                <c:v>0.79</c:v>
              </c:pt>
              <c:pt idx="9">
                <c:v>0.95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A7D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NO DATA</c:v>
              </c:pt>
              <c:pt idx="1">
                <c:v>NO CODEBOOK</c:v>
              </c:pt>
              <c:pt idx="2">
                <c:v>RESTRICTED</c:v>
              </c:pt>
              <c:pt idx="3">
                <c:v>OMICS + GEN</c:v>
              </c:pt>
              <c:pt idx="4">
                <c:v>DIET + BODY</c:v>
              </c:pt>
              <c:pt idx="5">
                <c:v>ANIMAL*</c:v>
              </c:pt>
              <c:pt idx="6">
                <c:v>ACTIVITY + MET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0.484</c:v>
              </c:pt>
              <c:pt idx="1">
                <c:v>0.546</c:v>
              </c:pt>
              <c:pt idx="2">
                <c:v>0.606</c:v>
              </c:pt>
              <c:pt idx="3">
                <c:v>0.629</c:v>
              </c:pt>
              <c:pt idx="4">
                <c:v>0.66</c:v>
              </c:pt>
              <c:pt idx="5">
                <c:v>0.688</c:v>
              </c:pt>
              <c:pt idx="6">
                <c:v>0.772</c:v>
              </c:pt>
              <c:pt idx="7">
                <c:v>0.818</c:v>
              </c:pt>
              <c:pt idx="8">
                <c:v>0.885</c:v>
              </c:pt>
              <c:pt idx="9">
                <c:v>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4F5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D4F5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NO DATA</c:v>
              </c:pt>
              <c:pt idx="1">
                <c:v>NO CODEBOOK</c:v>
              </c:pt>
              <c:pt idx="2">
                <c:v>ANIMAL</c:v>
              </c:pt>
              <c:pt idx="3">
                <c:v>RESTRICTED</c:v>
              </c:pt>
              <c:pt idx="4">
                <c:v>OMICS + GEN</c:v>
              </c:pt>
              <c:pt idx="5">
                <c:v>ACTIVITY + MET</c:v>
              </c:pt>
              <c:pt idx="6">
                <c:v>DIET + BODY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0.364</c:v>
              </c:pt>
              <c:pt idx="1">
                <c:v>0.545</c:v>
              </c:pt>
              <c:pt idx="2">
                <c:v>0.636</c:v>
              </c:pt>
              <c:pt idx="3">
                <c:v>0.636</c:v>
              </c:pt>
              <c:pt idx="4">
                <c:v>0.727</c:v>
              </c:pt>
              <c:pt idx="5">
                <c:v>0.818</c:v>
              </c:pt>
              <c:pt idx="6">
                <c:v>0.818</c:v>
              </c:pt>
              <c:pt idx="7">
                <c:v>0.909</c:v>
              </c:pt>
              <c:pt idx="8">
                <c:v>1</c:v>
              </c:pt>
              <c:pt idx="9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4"/>
              <c:pt idx="0">
                <c:v>QUALITY SCORE AGREEMENT</c:v>
              </c:pt>
              <c:pt idx="1">
                <c:v>REVIEW-STATUS ACCURACY</c:v>
              </c:pt>
              <c:pt idx="2">
                <c:v>REVIEW CAPTURE</c:v>
              </c:pt>
              <c:pt idx="3">
                <c:v>CANDIDATE PRECISION</c:v>
              </c:pt>
            </c:strLit>
          </c:cat>
          <c:val>
            <c:numLit>
              <c:formatCode>0%</c:formatCode>
              <c:ptCount val="4"/>
              <c:pt idx="0">
                <c:v>0.8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r>
              <a:t>MetaboTyping Agentic Workbench</a:t>
            </a:r>
          </a:p>
        </p:txBody>
      </p:sp>
      <p:sp>
        <p:nvSpPr>
          <p:cNvPr id="2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>Evidence-gated exercise-metabolomics reuse</a:t>
            </a:r>
          </a:p>
          <a:p xmlns:a="http://schemas.openxmlformats.org/drawingml/2006/main">
            <a:r>
              <a:t>Samuel Montalvo, Ph.D. |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Scale amplifies the comparability problem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099b8420448e9"/>
          <a:stretch xmlns:a="http://schemas.openxmlformats.org/drawingml/2006/main"/>
        </p:blipFill>
        <p:spPr>
          <a:xfrm xmlns:a="http://schemas.openxmlformats.org/drawingml/2006/main">
            <a:off x="932655" y="1028700"/>
            <a:ext cx="4983165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corpus-metric-1">
            <a:extLst xmlns:a="http://schemas.openxmlformats.org/drawingml/2006/main">
              <a:ext uri="{FF2B5EF4-FFF2-40B4-BE49-F238E27FC236}">
                <a16:creationId xmlns:a16="http://schemas.microsoft.com/office/drawing/2014/main" id="{47EA82CA-FC65-44E5-8643-D76B3293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144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4,499</a:t>
            </a:r>
          </a:p>
        </p:txBody>
      </p:sp>
      <p:sp>
        <p:nvSpPr>
          <p:cNvPr id="4" name="corpus-label-1">
            <a:extLst xmlns:a="http://schemas.openxmlformats.org/drawingml/2006/main">
              <a:ext uri="{FF2B5EF4-FFF2-40B4-BE49-F238E27FC236}">
                <a16:creationId xmlns:a16="http://schemas.microsoft.com/office/drawing/2014/main" id="{97033025-7B78-4A52-9ED7-C1497C2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4F53"/>
                </a:solidFill>
                <a:latin typeface="Arial"/>
                <a:ea typeface="Arial"/>
                <a:cs typeface="Arial"/>
              </a:rPr>
              <a:t>study summaries</a:t>
            </a:r>
          </a:p>
        </p:txBody>
      </p:sp>
      <p:sp>
        <p:nvSpPr>
          <p:cNvPr id="5" name="corpus-metric-2">
            <a:extLst xmlns:a="http://schemas.openxmlformats.org/drawingml/2006/main">
              <a:ext uri="{FF2B5EF4-FFF2-40B4-BE49-F238E27FC236}">
                <a16:creationId xmlns:a16="http://schemas.microsoft.com/office/drawing/2014/main" id="{D7228A40-3798-42C4-AE83-D4EFB99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05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505C"/>
                </a:solidFill>
                <a:latin typeface="Arial"/>
                <a:ea typeface="Arial"/>
                <a:cs typeface="Arial"/>
              </a:rPr>
              <a:t>7,367</a:t>
            </a:r>
          </a:p>
        </p:txBody>
      </p:sp>
      <p:sp>
        <p:nvSpPr>
          <p:cNvPr id="6" name="corpus-label-2">
            <a:extLst xmlns:a="http://schemas.openxmlformats.org/drawingml/2006/main">
              <a:ext uri="{FF2B5EF4-FFF2-40B4-BE49-F238E27FC236}">
                <a16:creationId xmlns:a16="http://schemas.microsoft.com/office/drawing/2014/main" id="{57FC2633-2071-4589-8B7A-1FA6F3A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4F53"/>
                </a:solidFill>
                <a:latin typeface="Arial"/>
                <a:ea typeface="Arial"/>
                <a:cs typeface="Arial"/>
              </a:rPr>
              <a:t>analysis records</a:t>
            </a:r>
          </a:p>
        </p:txBody>
      </p:sp>
      <p:sp>
        <p:nvSpPr>
          <p:cNvPr id="7" name="corpus-takeaway">
            <a:extLst xmlns:a="http://schemas.openxmlformats.org/drawingml/2006/main">
              <a:ext uri="{FF2B5EF4-FFF2-40B4-BE49-F238E27FC236}">
                <a16:creationId xmlns:a16="http://schemas.microsoft.com/office/drawing/2014/main" id="{2FA3076E-1FEF-427B-8F33-0FF875EF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More records create more opportunities for hidden incompatibility.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Three aims turn records into reviewable decisions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23f5a5b644e56"/>
          <a:stretch xmlns:a="http://schemas.openxmlformats.org/drawingml/2006/main"/>
        </p:blipFill>
        <p:spPr>
          <a:xfrm xmlns:a="http://schemas.openxmlformats.org/drawingml/2006/main">
            <a:off x="1504799" y="1047750"/>
            <a:ext cx="6229652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Every decision stays traceable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d22a3809d493b"/>
          <a:stretch xmlns:a="http://schemas.openxmlformats.org/drawingml/2006/main"/>
        </p:blipFill>
        <p:spPr>
          <a:xfrm xmlns:a="http://schemas.openxmlformats.org/drawingml/2006/main">
            <a:off x="1493260" y="1028700"/>
            <a:ext cx="6233679" cy="3524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Discovery preserves both candidates and mirages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52500" y="11049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d6784b16644ba9"/>
          </a:graphicData>
        </a:graphic>
      </p:graphicFrame>
      <p:sp>
        <p:nvSpPr>
          <p:cNvPr id="3" name="candidate-legend">
            <a:extLst xmlns:a="http://schemas.openxmlformats.org/drawingml/2006/main">
              <a:ext uri="{FF2B5EF4-FFF2-40B4-BE49-F238E27FC236}">
                <a16:creationId xmlns:a16="http://schemas.microsoft.com/office/drawing/2014/main" id="{36477AC9-06D1-437F-BE13-FFB9D30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D4F53"/>
                </a:solidFill>
                <a:latin typeface="Arial"/>
                <a:ea typeface="Arial"/>
                <a:cs typeface="Arial"/>
              </a:rPr>
              <a:t>direct match   •   enrichment   •   mirage   •   excluded</a:t>
            </a:r>
          </a:p>
        </p:txBody>
      </p:sp>
      <p:sp>
        <p:nvSpPr>
          <p:cNvPr id="4" name="candidate-callout">
            <a:extLst xmlns:a="http://schemas.openxmlformats.org/drawingml/2006/main">
              <a:ext uri="{FF2B5EF4-FFF2-40B4-BE49-F238E27FC236}">
                <a16:creationId xmlns:a16="http://schemas.microsoft.com/office/drawing/2014/main" id="{93DF021C-7562-4293-89FB-105AC9B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876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A plausible title is not enough: accession, metadata, codebook, assay, and timing remain visible gates.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Review happens before mappings become data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b88508c0a4df3"/>
          <a:srcRect xmlns:a="http://schemas.openxmlformats.org/drawingml/2006/main" l="0" t="14251" r="0" b="1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28700"/>
            <a:ext cx="7886700" cy="352425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Similar labels can lead to different decisions</a:t>
            </a:r>
          </a:p>
        </p:txBody>
      </p:sp>
      <p:sp>
        <p:nvSpPr>
          <p:cNvPr id="2" name="decision-arrow-145">
            <a:extLst xmlns:a="http://schemas.openxmlformats.org/drawingml/2006/main">
              <a:ext uri="{FF2B5EF4-FFF2-40B4-BE49-F238E27FC236}">
                <a16:creationId xmlns:a16="http://schemas.microsoft.com/office/drawing/2014/main" id="{649F57E3-B19B-427C-A81A-50E476E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3" name="decision-arrow-255">
            <a:extLst xmlns:a="http://schemas.openxmlformats.org/drawingml/2006/main">
              <a:ext uri="{FF2B5EF4-FFF2-40B4-BE49-F238E27FC236}">
                <a16:creationId xmlns:a16="http://schemas.microsoft.com/office/drawing/2014/main" id="{2CBF1C74-A7B1-4499-B6CC-E112C52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4" name="decision-arrow-365">
            <a:extLst xmlns:a="http://schemas.openxmlformats.org/drawingml/2006/main">
              <a:ext uri="{FF2B5EF4-FFF2-40B4-BE49-F238E27FC236}">
                <a16:creationId xmlns:a16="http://schemas.microsoft.com/office/drawing/2014/main" id="{8F764BD3-C52E-4549-B176-797AE2C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5" name="source-0">
            <a:extLst xmlns:a="http://schemas.openxmlformats.org/drawingml/2006/main">
              <a:ext uri="{FF2B5EF4-FFF2-40B4-BE49-F238E27FC236}">
                <a16:creationId xmlns:a16="http://schemas.microsoft.com/office/drawing/2014/main" id="{EE1A8C26-51D7-4187-925D-4B3F8ED4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6" name="source-label-0">
            <a:extLst xmlns:a="http://schemas.openxmlformats.org/drawingml/2006/main">
              <a:ext uri="{FF2B5EF4-FFF2-40B4-BE49-F238E27FC236}">
                <a16:creationId xmlns:a16="http://schemas.microsoft.com/office/drawing/2014/main" id="{B4FB0316-1992-410D-B1F4-9378ACC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7" name="context-0">
            <a:extLst xmlns:a="http://schemas.openxmlformats.org/drawingml/2006/main">
              <a:ext uri="{FF2B5EF4-FFF2-40B4-BE49-F238E27FC236}">
                <a16:creationId xmlns:a16="http://schemas.microsoft.com/office/drawing/2014/main" id="{02142853-4ED1-49C8-97B0-DA3CFBC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same unit + endpoint evidence</a:t>
            </a:r>
          </a:p>
        </p:txBody>
      </p:sp>
      <p:sp>
        <p:nvSpPr>
          <p:cNvPr id="8" name="target-0">
            <a:extLst xmlns:a="http://schemas.openxmlformats.org/drawingml/2006/main">
              <a:ext uri="{FF2B5EF4-FFF2-40B4-BE49-F238E27FC236}">
                <a16:creationId xmlns:a16="http://schemas.microsoft.com/office/drawing/2014/main" id="{CCE7A7D2-924D-4000-BCB5-428D940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4EFEA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9" name="target-label-0">
            <a:extLst xmlns:a="http://schemas.openxmlformats.org/drawingml/2006/main">
              <a:ext uri="{FF2B5EF4-FFF2-40B4-BE49-F238E27FC236}">
                <a16:creationId xmlns:a16="http://schemas.microsoft.com/office/drawing/2014/main" id="{3E9CFA00-CD0A-463B-93DF-AA419D8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52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10" name="state-0">
            <a:extLst xmlns:a="http://schemas.openxmlformats.org/drawingml/2006/main">
              <a:ext uri="{FF2B5EF4-FFF2-40B4-BE49-F238E27FC236}">
                <a16:creationId xmlns:a16="http://schemas.microsoft.com/office/drawing/2014/main" id="{63EDD0DA-A887-4B32-A74A-0D47A4B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47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1" name="source-1">
            <a:extLst xmlns:a="http://schemas.openxmlformats.org/drawingml/2006/main">
              <a:ext uri="{FF2B5EF4-FFF2-40B4-BE49-F238E27FC236}">
                <a16:creationId xmlns:a16="http://schemas.microsoft.com/office/drawing/2014/main" id="{1CD5AC77-2E65-4CC4-A778-9352AFF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300"/>
            </a:solidFill>
            <a:prstDash val="solid"/>
          </a:ln>
        </p:spPr>
      </p:sp>
      <p:sp>
        <p:nvSpPr>
          <p:cNvPr id="12" name="source-label-1">
            <a:extLst xmlns:a="http://schemas.openxmlformats.org/drawingml/2006/main">
              <a:ext uri="{FF2B5EF4-FFF2-40B4-BE49-F238E27FC236}">
                <a16:creationId xmlns:a16="http://schemas.microsoft.com/office/drawing/2014/main" id="{A00FCB87-8726-4276-804E-D5CD335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vo2peak</a:t>
            </a:r>
          </a:p>
        </p:txBody>
      </p:sp>
      <p:sp>
        <p:nvSpPr>
          <p:cNvPr id="13" name="context-1">
            <a:extLst xmlns:a="http://schemas.openxmlformats.org/drawingml/2006/main">
              <a:ext uri="{FF2B5EF4-FFF2-40B4-BE49-F238E27FC236}">
                <a16:creationId xmlns:a16="http://schemas.microsoft.com/office/drawing/2014/main" id="{DCF72DE9-2827-4B18-8387-F888FE55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related endpoint; protocol needed</a:t>
            </a:r>
          </a:p>
        </p:txBody>
      </p:sp>
      <p:sp>
        <p:nvSpPr>
          <p:cNvPr id="14" name="target-1">
            <a:extLst xmlns:a="http://schemas.openxmlformats.org/drawingml/2006/main">
              <a:ext uri="{FF2B5EF4-FFF2-40B4-BE49-F238E27FC236}">
                <a16:creationId xmlns:a16="http://schemas.microsoft.com/office/drawing/2014/main" id="{13ABAA4D-40B7-4B58-B9DB-DA8E194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98300"/>
            </a:solidFill>
            <a:prstDash val="solid"/>
          </a:ln>
        </p:spPr>
      </p:sp>
      <p:sp>
        <p:nvSpPr>
          <p:cNvPr id="15" name="target-label-1">
            <a:extLst xmlns:a="http://schemas.openxmlformats.org/drawingml/2006/main">
              <a:ext uri="{FF2B5EF4-FFF2-40B4-BE49-F238E27FC236}">
                <a16:creationId xmlns:a16="http://schemas.microsoft.com/office/drawing/2014/main" id="{547B5144-5611-45FC-9CA0-47B35C3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16" name="state-1">
            <a:extLst xmlns:a="http://schemas.openxmlformats.org/drawingml/2006/main">
              <a:ext uri="{FF2B5EF4-FFF2-40B4-BE49-F238E27FC236}">
                <a16:creationId xmlns:a16="http://schemas.microsoft.com/office/drawing/2014/main" id="{EED90CBD-824C-4127-AEB2-8910EFF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83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8300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896D87BD-6CCE-47F5-B666-2532B8EC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4F53"/>
            </a:solidFill>
            <a:prstDash val="solid"/>
          </a:ln>
        </p:spPr>
      </p:sp>
      <p:sp>
        <p:nvSpPr>
          <p:cNvPr id="18" name="source-label-2">
            <a:extLst xmlns:a="http://schemas.openxmlformats.org/drawingml/2006/main">
              <a:ext uri="{FF2B5EF4-FFF2-40B4-BE49-F238E27FC236}">
                <a16:creationId xmlns:a16="http://schemas.microsoft.com/office/drawing/2014/main" id="{E29E1564-7162-410B-ACC8-57C378D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diet_score</a:t>
            </a:r>
          </a:p>
        </p:txBody>
      </p:sp>
      <p:sp>
        <p:nvSpPr>
          <p:cNvPr id="19" name="context-2">
            <a:extLst xmlns:a="http://schemas.openxmlformats.org/drawingml/2006/main">
              <a:ext uri="{FF2B5EF4-FFF2-40B4-BE49-F238E27FC236}">
                <a16:creationId xmlns:a16="http://schemas.microsoft.com/office/drawing/2014/main" id="{E3F118D8-FC8A-45E7-97C3-1ABB6E9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no supported common variable</a:t>
            </a:r>
          </a:p>
        </p:txBody>
      </p:sp>
      <p:sp>
        <p:nvSpPr>
          <p:cNvPr id="20" name="target-2">
            <a:extLst xmlns:a="http://schemas.openxmlformats.org/drawingml/2006/main">
              <a:ext uri="{FF2B5EF4-FFF2-40B4-BE49-F238E27FC236}">
                <a16:creationId xmlns:a16="http://schemas.microsoft.com/office/drawing/2014/main" id="{13771CC6-CC92-455D-9CC5-7CF45E3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F1EF"/>
          </a:solidFill>
          <a:ln xmlns:a="http://schemas.openxmlformats.org/drawingml/2006/main" w="9525">
            <a:solidFill>
              <a:srgbClr val="4D4F53"/>
            </a:solidFill>
            <a:prstDash val="solid"/>
          </a:ln>
        </p:spPr>
      </p:sp>
      <p:sp>
        <p:nvSpPr>
          <p:cNvPr id="21" name="target-label-2">
            <a:extLst xmlns:a="http://schemas.openxmlformats.org/drawingml/2006/main">
              <a:ext uri="{FF2B5EF4-FFF2-40B4-BE49-F238E27FC236}">
                <a16:creationId xmlns:a16="http://schemas.microsoft.com/office/drawing/2014/main" id="{FF4228E6-7D82-48F6-B4D6-65CDCF0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not_mapped</a:t>
            </a:r>
          </a:p>
        </p:txBody>
      </p:sp>
      <p:sp>
        <p:nvSpPr>
          <p:cNvPr id="22" name="state-2">
            <a:extLst xmlns:a="http://schemas.openxmlformats.org/drawingml/2006/main">
              <a:ext uri="{FF2B5EF4-FFF2-40B4-BE49-F238E27FC236}">
                <a16:creationId xmlns:a16="http://schemas.microsoft.com/office/drawing/2014/main" id="{61A7E3E7-F4E8-4B6C-8BD0-9C86B7A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NON-COMBINABLE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Readiness scoring separates strong from fragile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04875" y="1095375"/>
          <a:ext xmlns:a="http://schemas.openxmlformats.org/drawingml/2006/main" cx="6667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5d00ec76b0d4a09"/>
          </a:graphicData>
        </a:graphic>
      </p:graphicFrame>
      <p:sp>
        <p:nvSpPr>
          <p:cNvPr id="3" name="readiness-callout">
            <a:extLst xmlns:a="http://schemas.openxmlformats.org/drawingml/2006/main">
              <a:ext uri="{FF2B5EF4-FFF2-40B4-BE49-F238E27FC236}">
                <a16:creationId xmlns:a16="http://schemas.microsoft.com/office/drawing/2014/main" id="{5B1A9B59-2108-402B-9BB6-3D464F08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85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*Readiness does not replace eligibility. The animal fixture remains excluded from the human scope.</a:t>
            </a:r>
          </a:p>
        </p:txBody>
      </p:sp>
      <p:sp>
        <p:nvSpPr>
          <p:cNvPr id="4" name="readiness-limit">
            <a:extLst xmlns:a="http://schemas.openxmlformats.org/drawingml/2006/main">
              <a:ext uri="{FF2B5EF4-FFF2-40B4-BE49-F238E27FC236}">
                <a16:creationId xmlns:a16="http://schemas.microsoft.com/office/drawing/2014/main" id="{BDD15205-11F8-48FF-8AEB-CB547330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D4F53"/>
                </a:solidFill>
                <a:latin typeface="Arial"/>
                <a:ea typeface="Arial"/>
                <a:cs typeface="Arial"/>
              </a:rPr>
              <a:t>Transparent metadata-backed triage score — not a risk-of-bias or assay-validity judgment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MoTrPAC alignment is a planning signal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904875" y="1095375"/>
          <a:ext xmlns:a="http://schemas.openxmlformats.org/drawingml/2006/main" cx="6667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4bfdaf3a514d21"/>
          </a:graphicData>
        </a:graphic>
      </p:graphicFrame>
      <p:sp>
        <p:nvSpPr>
          <p:cNvPr id="3" name="motrpac-callout">
            <a:extLst xmlns:a="http://schemas.openxmlformats.org/drawingml/2006/main">
              <a:ext uri="{FF2B5EF4-FFF2-40B4-BE49-F238E27FC236}">
                <a16:creationId xmlns:a16="http://schemas.microsoft.com/office/drawing/2014/main" id="{9F588E42-0DC4-41E6-B08C-198C04EE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95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Metadata readiness answers: can we plan the comparison?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It does not answer: are the protocols equivalent?</a:t>
            </a:r>
          </a:p>
        </p:txBody>
      </p:sp>
      <p:sp>
        <p:nvSpPr>
          <p:cNvPr id="4" name="motrpac-limit">
            <a:extLst xmlns:a="http://schemas.openxmlformats.org/drawingml/2006/main">
              <a:ext uri="{FF2B5EF4-FFF2-40B4-BE49-F238E27FC236}">
                <a16:creationId xmlns:a16="http://schemas.microsoft.com/office/drawing/2014/main" id="{701BE266-39B9-4B62-93EC-6FB8BB6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Prerequisites include timing, matrix, platform, exercise/CPET, genetics, body composition, diet, and codebooks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Study-specific contrasts remain explicit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79c125f074f50"/>
          <a:stretch xmlns:a="http://schemas.openxmlformats.org/drawingml/2006/main"/>
        </p:blipFill>
        <p:spPr>
          <a:xfrm xmlns:a="http://schemas.openxmlformats.org/drawingml/2006/main">
            <a:off x="1940719" y="1000125"/>
            <a:ext cx="5357813" cy="3571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Plot outputs preserve contrast and hierarchy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c8db7c3deb4aa1"/>
          <a:stretch xmlns:a="http://schemas.openxmlformats.org/drawingml/2006/main"/>
        </p:blipFill>
        <p:spPr>
          <a:xfrm xmlns:a="http://schemas.openxmlformats.org/drawingml/2006/main">
            <a:off x="787400" y="1162050"/>
            <a:ext cx="7683500" cy="3143250"/>
          </a:xfrm>
          <a:prstGeom xmlns:a="http://schemas.openxmlformats.org/drawingml/2006/main" prst="rect">
            <a:avLst/>
          </a:prstGeom>
        </p:spPr>
      </p:pic>
      <p:sp>
        <p:nvSpPr>
          <p:cNvPr id="3" name="plot-limit">
            <a:extLst xmlns:a="http://schemas.openxmlformats.org/drawingml/2006/main">
              <a:ext uri="{FF2B5EF4-FFF2-40B4-BE49-F238E27FC236}">
                <a16:creationId xmlns:a16="http://schemas.microsoft.com/office/drawing/2014/main" id="{A67C41F5-D3C4-4122-9E8B-31DD4855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Contrast-aware plots make uncertainty visible; they do not make cohorts equivalent.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The safety boundary is executable</a:t>
            </a:r>
          </a:p>
        </p:txBody>
      </p:sp>
      <p:sp>
        <p:nvSpPr>
          <p:cNvPr id="2" name="tests-count">
            <a:extLst xmlns:a="http://schemas.openxmlformats.org/drawingml/2006/main">
              <a:ext uri="{FF2B5EF4-FFF2-40B4-BE49-F238E27FC236}">
                <a16:creationId xmlns:a16="http://schemas.microsoft.com/office/drawing/2014/main" id="{8FE6D9A8-12EB-4E47-8C33-B357D676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156 / 156</a:t>
            </a:r>
          </a:p>
        </p:txBody>
      </p:sp>
      <p:sp>
        <p:nvSpPr>
          <p:cNvPr id="3" name="tests-label">
            <a:extLst xmlns:a="http://schemas.openxmlformats.org/drawingml/2006/main">
              <a:ext uri="{FF2B5EF4-FFF2-40B4-BE49-F238E27FC236}">
                <a16:creationId xmlns:a16="http://schemas.microsoft.com/office/drawing/2014/main" id="{51D48E0F-12AB-419E-AA5C-8CB14ED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4F53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</p:txBody>
      </p:sp>
      <p:sp>
        <p:nvSpPr>
          <p:cNvPr id="4" name="tests-zero">
            <a:extLst xmlns:a="http://schemas.openxmlformats.org/drawingml/2006/main">
              <a:ext uri="{FF2B5EF4-FFF2-40B4-BE49-F238E27FC236}">
                <a16:creationId xmlns:a16="http://schemas.microsoft.com/office/drawing/2014/main" id="{A5000689-B768-4CB9-8C2F-AF753C0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0 failed  •  0 errors  •  0 skipped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4000500" y="1257300"/>
          <a:ext xmlns:a="http://schemas.openxmlformats.org/drawingml/2006/main" cx="4095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3d43c278fb4d16"/>
          </a:graphicData>
        </a:graphic>
      </p:graphicFrame>
      <p:sp>
        <p:nvSpPr>
          <p:cNvPr id="6" name="unsafe-callout">
            <a:extLst xmlns:a="http://schemas.openxmlformats.org/drawingml/2006/main">
              <a:ext uri="{FF2B5EF4-FFF2-40B4-BE49-F238E27FC236}">
                <a16:creationId xmlns:a16="http://schemas.microsoft.com/office/drawing/2014/main" id="{A247E38B-C497-4BB2-9EBC-16EFA75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86125"/>
            <a:ext cx="2190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EFEA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7" name="unsafe-value">
            <a:extLst xmlns:a="http://schemas.openxmlformats.org/drawingml/2006/main">
              <a:ext uri="{FF2B5EF4-FFF2-40B4-BE49-F238E27FC236}">
                <a16:creationId xmlns:a16="http://schemas.microsoft.com/office/drawing/2014/main" id="{FD100BF2-C3DB-4A43-9BEC-F03CE40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0 / 12 unsafe auto-accepts</a:t>
            </a:r>
          </a:p>
        </p:txBody>
      </p:sp>
      <p:sp>
        <p:nvSpPr>
          <p:cNvPr id="8" name="synthetic-limit">
            <a:extLst xmlns:a="http://schemas.openxmlformats.org/drawingml/2006/main">
              <a:ext uri="{FF2B5EF4-FFF2-40B4-BE49-F238E27FC236}">
                <a16:creationId xmlns:a16="http://schemas.microsoft.com/office/drawing/2014/main" id="{07ED7C74-9820-411C-A92D-838735C6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Regression evidence on synthetic fixtures — not validation on independent cohorts or assay platforms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The MVP is ready for blinded stress-testing</a:t>
            </a:r>
          </a:p>
        </p:txBody>
      </p:sp>
      <p:sp>
        <p:nvSpPr>
          <p:cNvPr id="2" name="validation-arrow-315">
            <a:extLst xmlns:a="http://schemas.openxmlformats.org/drawingml/2006/main">
              <a:ext uri="{FF2B5EF4-FFF2-40B4-BE49-F238E27FC236}">
                <a16:creationId xmlns:a16="http://schemas.microsoft.com/office/drawing/2014/main" id="{E48D6F7F-7DF0-4782-BC43-E83A39D1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9525">
            <a:solidFill>
              <a:srgbClr val="D2C295"/>
            </a:solidFill>
            <a:prstDash val="solid"/>
          </a:ln>
        </p:spPr>
      </p:sp>
      <p:sp>
        <p:nvSpPr>
          <p:cNvPr id="3" name="validation-arrow-600">
            <a:extLst xmlns:a="http://schemas.openxmlformats.org/drawingml/2006/main">
              <a:ext uri="{FF2B5EF4-FFF2-40B4-BE49-F238E27FC236}">
                <a16:creationId xmlns:a16="http://schemas.microsoft.com/office/drawing/2014/main" id="{0C604868-FCE9-4B4D-9F07-96EC6752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9525">
            <a:solidFill>
              <a:srgbClr val="D2C295"/>
            </a:solidFill>
            <a:prstDash val="solid"/>
          </a:ln>
        </p:spPr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FF03F28-DF2B-4923-8AD7-7B6171C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5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0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tep-box-0">
            <a:extLst xmlns:a="http://schemas.openxmlformats.org/drawingml/2006/main">
              <a:ext uri="{FF2B5EF4-FFF2-40B4-BE49-F238E27FC236}">
                <a16:creationId xmlns:a16="http://schemas.microsoft.com/office/drawing/2014/main" id="{3C3142B9-69A2-4419-8598-15FA80E4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05C"/>
            </a:solidFill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38DD3B3-8CF2-4F03-AA15-F85CED8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Freeze the benchmark</a:t>
            </a:r>
          </a:p>
        </p:txBody>
      </p:sp>
      <p:sp>
        <p:nvSpPr>
          <p:cNvPr id="7" name="step-detail-0">
            <a:extLst xmlns:a="http://schemas.openxmlformats.org/drawingml/2006/main">
              <a:ext uri="{FF2B5EF4-FFF2-40B4-BE49-F238E27FC236}">
                <a16:creationId xmlns:a16="http://schemas.microsoft.com/office/drawing/2014/main" id="{46B95428-229A-455D-B756-F588A6C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Lock cohorts, source snapshots, and adjudication rubric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2ED1585-489C-4E87-907E-B1FA0D5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box-1">
            <a:extLst xmlns:a="http://schemas.openxmlformats.org/drawingml/2006/main">
              <a:ext uri="{FF2B5EF4-FFF2-40B4-BE49-F238E27FC236}">
                <a16:creationId xmlns:a16="http://schemas.microsoft.com/office/drawing/2014/main" id="{42F0799F-38D4-45F6-8A82-D3EF732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284F"/>
            </a:solidFill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36771F18-C367-4691-A88E-1F28C07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Blind the review</a:t>
            </a:r>
          </a:p>
        </p:txBody>
      </p:sp>
      <p:sp>
        <p:nvSpPr>
          <p:cNvPr id="11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BF0D03AD-73E9-4E75-809E-0FEF4E1A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Separate agent outputs from expert reference decisions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231E5B9-E3E5-4171-A43D-73842F1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tep-box-2">
            <a:extLst xmlns:a="http://schemas.openxmlformats.org/drawingml/2006/main">
              <a:ext uri="{FF2B5EF4-FFF2-40B4-BE49-F238E27FC236}">
                <a16:creationId xmlns:a16="http://schemas.microsoft.com/office/drawing/2014/main" id="{2E4BEFC0-8E12-4250-9DC7-E978A93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3F03B8D-86AD-4F8E-907C-F5E8592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Report the errors</a:t>
            </a:r>
          </a:p>
        </p:txBody>
      </p:sp>
      <p:sp>
        <p:nvSpPr>
          <p:cNvPr id="15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88557458-002D-4C99-9105-0A10CA1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Measure unsafe accepts, missed reviews, abstentions, and drift</a:t>
            </a:r>
          </a:p>
        </p:txBody>
      </p:sp>
      <p:sp>
        <p:nvSpPr>
          <p:cNvPr id="16" name="validation-principle">
            <a:extLst xmlns:a="http://schemas.openxmlformats.org/drawingml/2006/main">
              <a:ext uri="{FF2B5EF4-FFF2-40B4-BE49-F238E27FC236}">
                <a16:creationId xmlns:a16="http://schemas.microsoft.com/office/drawing/2014/main" id="{AAA89E79-A670-4EE2-BA99-FEB011A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Advance empirical validity without relaxing the human-review gate.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r>
              <a:t>The decision is what to validate next</a:t>
            </a:r>
          </a:p>
        </p:txBody>
      </p:sp>
      <p:sp>
        <p:nvSpPr>
          <p:cNvPr id="2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>Define the first blinded benchmark together.</a:t>
            </a:r>
          </a:p>
          <a:p xmlns:a="http://schemas.openxmlformats.org/drawingml/2006/main">
            <a:r>
              <a:t>Samuel Montalvo, Ph.D. |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2026-08-26T00:12:22.4210000Z</dcterms:created>
  <dcterms:modified xsi:type="dcterms:W3CDTF">2026-08-26T00:12:22.4210000Z</dcterms:modified>
</coreProperties>
</file>