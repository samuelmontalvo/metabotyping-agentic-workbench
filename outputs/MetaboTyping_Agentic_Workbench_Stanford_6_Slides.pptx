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7847fd7f4c4b67" /><Relationship Type="http://schemas.openxmlformats.org/officeDocument/2006/relationships/extended-properties" Target="/docProps/app.xml" Id="R7313fd1a0d7f4258" /><Relationship Type="http://schemas.openxmlformats.org/officeDocument/2006/relationships/officeDocument" Target="/ppt/presentation.xml" Id="R43a97ef847ba4943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7c22e8d92eff44a5"/>
  </p:sldMasterIdLst>
  <p:notesMasterIdLst>
    <p:notesMasterId xmlns:r="http://schemas.openxmlformats.org/officeDocument/2006/relationships" r:id="R07952b5e91c04928"/>
  </p:notesMasterIdLst>
  <p:sldIdLst>
    <p:sldId xmlns:r="http://schemas.openxmlformats.org/officeDocument/2006/relationships" id="256" r:id="R8514c137ba8f4f80"/>
    <p:sldId xmlns:r="http://schemas.openxmlformats.org/officeDocument/2006/relationships" id="257" r:id="R43d92d00d7ff4aa1"/>
    <p:sldId xmlns:r="http://schemas.openxmlformats.org/officeDocument/2006/relationships" id="258" r:id="R91e049705ee84325"/>
    <p:sldId xmlns:r="http://schemas.openxmlformats.org/officeDocument/2006/relationships" id="259" r:id="R5fce60c282464e75"/>
    <p:sldId xmlns:r="http://schemas.openxmlformats.org/officeDocument/2006/relationships" id="260" r:id="Rd3c1700e1f774004"/>
    <p:sldId xmlns:r="http://schemas.openxmlformats.org/officeDocument/2006/relationships" id="261" r:id="R232a1de25126469d"/>
  </p:sldIdLst>
  <p:sldSz cx="9144000" cy="5143500"/>
  <p:notesSz cx="6858000" cy="9144000"/>
  <p:embeddedFontLst>
    <p:embeddedFont>
      <p:font typeface="Helvetica Neue Light"/>
      <p:regular xmlns:r="http://schemas.openxmlformats.org/officeDocument/2006/relationships" r:id="Rac598b6700884549"/>
      <p:bold xmlns:r="http://schemas.openxmlformats.org/officeDocument/2006/relationships" r:id="Rab8eecc1ab414c9f"/>
      <p:italic xmlns:r="http://schemas.openxmlformats.org/officeDocument/2006/relationships" r:id="R83117505ebca4a63"/>
      <p:boldItalic xmlns:r="http://schemas.openxmlformats.org/officeDocument/2006/relationships" r:id="R7d3c043ac13f4652"/>
    </p:embeddedFont>
    <p:embeddedFont>
      <p:font typeface="Open Sans"/>
      <p:regular xmlns:r="http://schemas.openxmlformats.org/officeDocument/2006/relationships" r:id="R379d59679a4f4b39"/>
      <p:bold xmlns:r="http://schemas.openxmlformats.org/officeDocument/2006/relationships" r:id="R943a27cf8a574d44"/>
      <p:italic xmlns:r="http://schemas.openxmlformats.org/officeDocument/2006/relationships" r:id="R699512facbc24605"/>
      <p:boldItalic xmlns:r="http://schemas.openxmlformats.org/officeDocument/2006/relationships" r:id="Rde6740ef92c44c9c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2efadcfade43ff" /><Relationship Type="http://schemas.openxmlformats.org/officeDocument/2006/relationships/slideMaster" Target="/ppt/slideMasters/slideMaster1.xml" Id="R7c22e8d92eff44a5" /><Relationship Type="http://schemas.openxmlformats.org/officeDocument/2006/relationships/notesMaster" Target="/ppt/notesMasters/notesMaster1.xml" Id="R07952b5e91c04928" /><Relationship Type="http://schemas.openxmlformats.org/officeDocument/2006/relationships/presProps" Target="/ppt/presProps.xml" Id="R0715f14f32934453" /><Relationship Type="http://schemas.openxmlformats.org/officeDocument/2006/relationships/viewProps" Target="/ppt/viewProps.xml" Id="Ra906b415b2464f48" /><Relationship Type="http://schemas.openxmlformats.org/officeDocument/2006/relationships/tableStyles" Target="/ppt/tableStyles.xml" Id="R0cf904dbf3014a38" /><Relationship Type="http://schemas.openxmlformats.org/officeDocument/2006/relationships/font" Target="/ppt/fonts/font.dat" Id="Rac598b6700884549" /><Relationship Type="http://schemas.openxmlformats.org/officeDocument/2006/relationships/font" Target="/ppt/fonts/font2.dat" Id="Rab8eecc1ab414c9f" /><Relationship Type="http://schemas.openxmlformats.org/officeDocument/2006/relationships/font" Target="/ppt/fonts/font3.dat" Id="R83117505ebca4a63" /><Relationship Type="http://schemas.openxmlformats.org/officeDocument/2006/relationships/font" Target="/ppt/fonts/font4.dat" Id="R7d3c043ac13f4652" /><Relationship Type="http://schemas.openxmlformats.org/officeDocument/2006/relationships/font" Target="/ppt/fonts/font5.dat" Id="R379d59679a4f4b39" /><Relationship Type="http://schemas.openxmlformats.org/officeDocument/2006/relationships/font" Target="/ppt/fonts/font6.dat" Id="R943a27cf8a574d44" /><Relationship Type="http://schemas.openxmlformats.org/officeDocument/2006/relationships/font" Target="/ppt/fonts/font7.dat" Id="R699512facbc24605" /><Relationship Type="http://schemas.openxmlformats.org/officeDocument/2006/relationships/font" Target="/ppt/fonts/font8.dat" Id="Rde6740ef92c44c9c" /><Relationship Type="http://schemas.openxmlformats.org/officeDocument/2006/relationships/slide" Target="/ppt/slides/slide1.xml" Id="R8514c137ba8f4f80" /><Relationship Type="http://schemas.openxmlformats.org/officeDocument/2006/relationships/slide" Target="/ppt/slides/slide2.xml" Id="R43d92d00d7ff4aa1" /><Relationship Type="http://schemas.openxmlformats.org/officeDocument/2006/relationships/slide" Target="/ppt/slides/slide3.xml" Id="R91e049705ee84325" /><Relationship Type="http://schemas.openxmlformats.org/officeDocument/2006/relationships/slide" Target="/ppt/slides/slide4.xml" Id="R5fce60c282464e75" /><Relationship Type="http://schemas.openxmlformats.org/officeDocument/2006/relationships/slide" Target="/ppt/slides/slide5.xml" Id="Rd3c1700e1f774004" /><Relationship Type="http://schemas.openxmlformats.org/officeDocument/2006/relationships/slide" Target="/ppt/slides/slide6.xml" Id="R232a1de2512646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f6c793ae8246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U_Preso_16x9_v6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ford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0f3b497f6e43ca" /><Relationship Type="http://schemas.openxmlformats.org/officeDocument/2006/relationships/notesMaster" Target="/ppt/notesMasters/notesMaster1.xml" Id="Rabd438c7cc2141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4d93618f714ee3" /><Relationship Type="http://schemas.openxmlformats.org/officeDocument/2006/relationships/notesMaster" Target="/ppt/notesMasters/notesMaster1.xml" Id="R486d8cc8483646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4208b1a14f44f5" /><Relationship Type="http://schemas.openxmlformats.org/officeDocument/2006/relationships/notesMaster" Target="/ppt/notesMasters/notesMaster1.xml" Id="R6a58dd3769ce49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2e2787d05e4a98" /><Relationship Type="http://schemas.openxmlformats.org/officeDocument/2006/relationships/notesMaster" Target="/ppt/notesMasters/notesMaster1.xml" Id="Rd4dd3a8431c844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56187ea2954300" /><Relationship Type="http://schemas.openxmlformats.org/officeDocument/2006/relationships/notesMaster" Target="/ppt/notesMasters/notesMaster1.xml" Id="R8621dcf7760c45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3dfb6dc5c948f0" /><Relationship Type="http://schemas.openxmlformats.org/officeDocument/2006/relationships/notesMaster" Target="/ppt/notesMasters/notesMaster1.xml" Id="R1ec61de9907f49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Stanford visual source: stanford-slide-template.pptx and stanford-university-wordmark-cardinal.png.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Project identity and scope: README.md.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Problem framing and scientific guardrails: README.md.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Evidence-flow purpose and interpretation limits: docs/manuscript/metabotyping_agentic_workbench_manuscript.md.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VO₂peak/VO₂max rule and pooling boundaries: AGENTS.md.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Lewis GD et al. Metabolic signatures of exercise in human plasma. Sci Transl Med. 2010;2(33):33ra37. PMID: 20505214. DOI: 10.1126/scitranslmed.3001006.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Contrepois K et al. Molecular Choreography of Acute Exercise. Cell. 2020;181(5):1112-1130.e16. PMID: 32470399. DOI: 10.1016/j.cell.2020.04.043.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Nayor M et al. Metabolic Architecture of Acute Exercise Response in Middle-Aged Adults in the Community. Circulation. 2020. PMID: 32927962. DOI: 10.1161/CIRCULATIONAHA.120.050281.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MoTrPAC Study Group. Temporal dynamics of the multi-omic response to endurance exercise training. Nature. 2024;629:174-183. DOI: 10.1038/s41586-023-06877-w.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Darragh IA et al. Within-Subject Variability and the Influence of Exercise Training History on the Resting Plasma Metabolome in Men. Int J Sport Nutr Exerc Metab. 2023;33(3):141-150. PMID: 36963408. DOI: 10.1123/ijsnem.2022-0177.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Architecture source: docs/manuscript/figures/metabotyping_agentic_workbench_architecture.png.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Deterministic workflow and outputs: README.md and src/metabotyping_agentic/reports/render.py.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DomainReviewPacket authority boundary: README.md, src/metabotyping_agentic/review/models.py, and src/metabotyping_agentic/review/validation.py.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Synthetic heatmap: docs/manuscript/figures/synthetic_motrpac_plot_suite/figures/effect_heatmap.png.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CPET and identity/pooling safeguards: AGENTS.md and README.md.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Strict synthetic gate: docs/scientific_readiness_report.md; project .venv rerun on 2026-08-19 returned PASS with tests_run=128.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Agent and skill inventory: README.md release 0.2.0.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External-validation limitations and proposed benchmark: docs/scientific_readiness_report.md and docs/manuscript/metabotyping_agentic_workbench_manuscript.md.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8d5a3f5fac4b6e" /><Relationship Type="http://schemas.openxmlformats.org/officeDocument/2006/relationships/image" Target="/ppt/media/image2.png" Id="Rf89b29eaf0ff4d1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9d48839ae6413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69ffffcc9f4b8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cd285c03604cdb" /><Relationship Type="http://schemas.openxmlformats.org/officeDocument/2006/relationships/image" Target="/ppt/media/image2.png" Id="R8b5d5bd12e93495a" /><Relationship Type="http://schemas.openxmlformats.org/officeDocument/2006/relationships/image" Target="/ppt/media/image.jpeg" Id="R675ec46df814417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42d3d90f8648e5" /><Relationship Type="http://schemas.openxmlformats.org/officeDocument/2006/relationships/image" Target="/ppt/media/image2.png" Id="R2c80ae569e144a44" /><Relationship Type="http://schemas.openxmlformats.org/officeDocument/2006/relationships/image" Target="/ppt/media/image3.png" Id="Raaf4656ca0e0453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d51028687e444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5390007f064f1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c80a3f0bfd47f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e3e7311f594ae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df049a8e25470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80cabe571c4c6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a1b0ffcd0a4a8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6aa3fec8b747e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07aaa733f84495" /></Relationships>
</file>

<file path=ppt/slideLayouts/slideLayout1.xml><?xml version="1.0" encoding="utf-8"?>
<p:sldLayout xmlns:p="http://schemas.openxmlformats.org/presentationml/2006/main" showMasterSp="0" matchingName="Title Slid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4855A13F-B349-4C26-9C35-4258E4DB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6950"/>
            <a:ext cx="9155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 cmpd="sng">
            <a:solidFill>
              <a:srgbClr val="8C1515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38100" dist="25400" dir="2700000" algn="br" rotWithShape="0">
              <a:srgbClr val="000000">
                <a:alpha val="600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" name="Google Shape;13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89b29eaf0ff4d1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56450" y="4883150"/>
            <a:ext cx="1511973" cy="18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7A2C2BEA-64B2-4367-B909-9BC417C0D6C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57200" y="1792517"/>
            <a:ext cx="8229600" cy="61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15" name="Google Shape;15;p2">
            <a:extLst xmlns:a="http://schemas.openxmlformats.org/drawingml/2006/main">
              <a:ext uri="{FF2B5EF4-FFF2-40B4-BE49-F238E27FC236}">
                <a16:creationId xmlns:a16="http://schemas.microsoft.com/office/drawing/2014/main" id="{A5D8D043-5EBA-4DD8-8616-57C7102742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03375" y="3599022"/>
            <a:ext cx="6059400" cy="20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457200" marR="0" indent="-22860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16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53D30F02-F2E2-4C70-94CB-14DAF2844B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57200" y="2410990"/>
            <a:ext cx="8229600" cy="4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0" marR="0" indent="0" algn="ctr">
              <a:spcBef>
                <a:spcPts val="42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None/>
              <a:defRPr sz="2100" b="0" i="0" u="none" cap="small">
                <a:solidFill>
                  <a:srgbClr val="A4001D"/>
                </a:solidFill>
                <a:latin typeface="Arial"/>
                <a:ea typeface="Arial"/>
                <a:cs typeface="Arial"/>
              </a:defRPr>
            </a:lvl1pPr>
            <a:lvl2pPr marL="457200" marR="0" indent="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sz="1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914400" marR="0" indent="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None/>
              <a:defRPr sz="1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1371600" marR="0" indent="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1828800" marR="0" indent="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None/>
              <a:defRPr sz="1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22860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</a:defRPr>
            </a:lvl6pPr>
            <a:lvl7pPr marL="27432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</a:defRPr>
            </a:lvl7pPr>
            <a:lvl8pPr marL="32004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</a:defRPr>
            </a:lvl8pPr>
            <a:lvl9pPr marL="36576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matchingName="Title without content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1122B57F-8282-4E84-A9BC-CBC9012CA5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matchingName="Title and Content">
  <p:cSld name="Title and Content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oogle Shape;20;p4">
            <a:extLst xmlns:a="http://schemas.openxmlformats.org/drawingml/2006/main">
              <a:ext uri="{FF2B5EF4-FFF2-40B4-BE49-F238E27FC236}">
                <a16:creationId xmlns:a16="http://schemas.microsoft.com/office/drawing/2014/main" id="{DF12ACA5-DCFE-436E-AC47-C8C201BF8E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21" name="Google Shape;21;p4">
            <a:extLst xmlns:a="http://schemas.openxmlformats.org/drawingml/2006/main">
              <a:ext uri="{FF2B5EF4-FFF2-40B4-BE49-F238E27FC236}">
                <a16:creationId xmlns:a16="http://schemas.microsoft.com/office/drawing/2014/main" id="{871EBED0-B175-4973-AA65-500B49AA99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5677" y="908685"/>
            <a:ext cx="77010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showMasterSp="0" matchingName="Section Header Replaceable Image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A241EC04-F53D-4589-BF6C-DBFAE195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6950"/>
            <a:ext cx="9155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 cmpd="sng">
            <a:solidFill>
              <a:srgbClr val="8C1515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38100" dist="25400" dir="2700000" algn="br" rotWithShape="0">
              <a:srgbClr val="000000">
                <a:alpha val="600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0" name="Google Shape;24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b5d5bd12e93495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56450" y="4883150"/>
            <a:ext cx="1511973" cy="18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" name="Google Shape;25;p5">
            <a:extLst xmlns:a="http://schemas.openxmlformats.org/drawingml/2006/main">
              <a:ext uri="{FF2B5EF4-FFF2-40B4-BE49-F238E27FC236}">
                <a16:creationId xmlns:a16="http://schemas.microsoft.com/office/drawing/2014/main" id="{050E750D-7382-44FB-9892-A17E15441B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03377" y="1538765"/>
            <a:ext cx="2954400" cy="92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26" name="Google Shape;26;p5">
            <a:extLst xmlns:a="http://schemas.openxmlformats.org/drawingml/2006/main">
              <a:ext uri="{FF2B5EF4-FFF2-40B4-BE49-F238E27FC236}">
                <a16:creationId xmlns:a16="http://schemas.microsoft.com/office/drawing/2014/main" id="{1E226CA1-F929-4FAD-8465-F0BAF24F65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03377" y="2571750"/>
            <a:ext cx="2954400" cy="9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r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rgbClr val="A4001D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20"/>
              <a:buFont typeface="Source Sans Pro"/>
              <a:buNone/>
              <a:defRPr sz="10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sz="9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Font typeface="Source Sans Pro"/>
              <a:buNone/>
              <a:defRPr sz="9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27" name="Google Shape;27;p5">
            <a:extLst xmlns:a="http://schemas.openxmlformats.org/drawingml/2006/main">
              <a:ext uri="{FF2B5EF4-FFF2-40B4-BE49-F238E27FC236}">
                <a16:creationId xmlns:a16="http://schemas.microsoft.com/office/drawing/2014/main" id="{100CFF43-05F6-4134-AF23-C32803163D3B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665662" y="1535112"/>
            <a:ext cx="1950900" cy="1950900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675ec46df8144172">
              <a:alphaModFix/>
            </a:blip>
            <a:stretch>
              <a:fillRect l="0" t="0" r="0" b="0"/>
            </a:stretch>
          </a:blipFill>
          <a:ln xmlns:a="http://schemas.openxmlformats.org/drawingml/2006/main" w="44450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0800" dist="25400" dir="2700000" algn="tl" rotWithShape="0">
              <a:srgbClr val="000000">
                <a:alpha val="35690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342900" marR="0" indent="-342900" algn="l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288925" marR="0" indent="-288925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569913" marR="0" indent="-227013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9144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1258888" marR="0" indent="-230188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514600" marR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2971800" marR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429000" marR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3886200" marR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showMasterSp="0" matchingName="Section Header Stanford">
  <p:cSld name="Section Header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6">
            <a:extLst xmlns:a="http://schemas.openxmlformats.org/drawingml/2006/main">
              <a:ext uri="{FF2B5EF4-FFF2-40B4-BE49-F238E27FC236}">
                <a16:creationId xmlns:a16="http://schemas.microsoft.com/office/drawing/2014/main" id="{BC7116E9-EDFC-4EB2-92D0-A9EE7460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6950"/>
            <a:ext cx="9155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 cmpd="sng">
            <a:solidFill>
              <a:srgbClr val="8C1515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38100" dist="25400" dir="2700000" algn="br" rotWithShape="0">
              <a:srgbClr val="000000">
                <a:alpha val="600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6" name="Google Shape;30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c80ae569e144a4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56450" y="4883150"/>
            <a:ext cx="1511973" cy="18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1" name="Google Shape;31;p6">
            <a:extLst xmlns:a="http://schemas.openxmlformats.org/drawingml/2006/main">
              <a:ext uri="{FF2B5EF4-FFF2-40B4-BE49-F238E27FC236}">
                <a16:creationId xmlns:a16="http://schemas.microsoft.com/office/drawing/2014/main" id="{0D5B7992-4E6A-450A-B229-FF4401FBB3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03377" y="1538765"/>
            <a:ext cx="2954400" cy="92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32" name="Google Shape;32;p6">
            <a:extLst xmlns:a="http://schemas.openxmlformats.org/drawingml/2006/main">
              <a:ext uri="{FF2B5EF4-FFF2-40B4-BE49-F238E27FC236}">
                <a16:creationId xmlns:a16="http://schemas.microsoft.com/office/drawing/2014/main" id="{A6C4FBE0-E4FF-4FED-A002-D4AA57FBD1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03377" y="2571750"/>
            <a:ext cx="2954400" cy="9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r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rgbClr val="A4001D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20"/>
              <a:buFont typeface="Source Sans Pro"/>
              <a:buNone/>
              <a:defRPr sz="10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sz="9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Font typeface="Source Sans Pro"/>
              <a:buNone/>
              <a:defRPr sz="9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pic>
        <p:nvPicPr>
          <p:cNvPr id="39" name="Google Shape;33;p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4656ca0e0453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5651" y="1596299"/>
            <a:ext cx="1950900" cy="1950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6.xml><?xml version="1.0" encoding="utf-8"?>
<p:sldLayout xmlns:p="http://schemas.openxmlformats.org/presentationml/2006/main" matchingName="Two Content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Google Shape;35;p7">
            <a:extLst xmlns:a="http://schemas.openxmlformats.org/drawingml/2006/main">
              <a:ext uri="{FF2B5EF4-FFF2-40B4-BE49-F238E27FC236}">
                <a16:creationId xmlns:a16="http://schemas.microsoft.com/office/drawing/2014/main" id="{241906BA-5045-4D71-9648-822B9C71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5" y="793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0" rIns="4570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000" b="0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‹#›</a:t>
            </a:fld>
            <a:endParaRPr sz="1000" b="0" i="0" u="none" cap="none">
              <a:solidFill>
                <a:srgbClr val="7F7F7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Google Shape;36;p7">
            <a:extLst xmlns:a="http://schemas.openxmlformats.org/drawingml/2006/main">
              <a:ext uri="{FF2B5EF4-FFF2-40B4-BE49-F238E27FC236}">
                <a16:creationId xmlns:a16="http://schemas.microsoft.com/office/drawing/2014/main" id="{F02104D9-E640-4D5B-8FF2-8FC793A0E3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37" name="Google Shape;37;p7">
            <a:extLst xmlns:a="http://schemas.openxmlformats.org/drawingml/2006/main">
              <a:ext uri="{FF2B5EF4-FFF2-40B4-BE49-F238E27FC236}">
                <a16:creationId xmlns:a16="http://schemas.microsoft.com/office/drawing/2014/main" id="{C91C9CFC-45E0-4DAF-8426-157B3AF369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9327" y="908685"/>
            <a:ext cx="37878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38" name="Google Shape;38;p7">
            <a:extLst xmlns:a="http://schemas.openxmlformats.org/drawingml/2006/main">
              <a:ext uri="{FF2B5EF4-FFF2-40B4-BE49-F238E27FC236}">
                <a16:creationId xmlns:a16="http://schemas.microsoft.com/office/drawing/2014/main" id="{6A61A2D0-E60E-4920-8535-C42A2271C5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76800" y="908685"/>
            <a:ext cx="37797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matchingName="Four Content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Google Shape;40;p8">
            <a:extLst xmlns:a="http://schemas.openxmlformats.org/drawingml/2006/main">
              <a:ext uri="{FF2B5EF4-FFF2-40B4-BE49-F238E27FC236}">
                <a16:creationId xmlns:a16="http://schemas.microsoft.com/office/drawing/2014/main" id="{375C0E8E-DE97-4536-B71E-D890671641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1" name="Google Shape;41;p8">
            <a:extLst xmlns:a="http://schemas.openxmlformats.org/drawingml/2006/main">
              <a:ext uri="{FF2B5EF4-FFF2-40B4-BE49-F238E27FC236}">
                <a16:creationId xmlns:a16="http://schemas.microsoft.com/office/drawing/2014/main" id="{A199C750-D1E3-4DE1-9299-BC85986EC6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9327" y="908686"/>
            <a:ext cx="3787800" cy="18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2" name="Google Shape;42;p8">
            <a:extLst xmlns:a="http://schemas.openxmlformats.org/drawingml/2006/main">
              <a:ext uri="{FF2B5EF4-FFF2-40B4-BE49-F238E27FC236}">
                <a16:creationId xmlns:a16="http://schemas.microsoft.com/office/drawing/2014/main" id="{4DEE480F-7EC7-4009-9FC6-8BB8B12DC9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55677" y="2840613"/>
            <a:ext cx="3781500" cy="18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3" name="Google Shape;43;p8">
            <a:extLst xmlns:a="http://schemas.openxmlformats.org/drawingml/2006/main">
              <a:ext uri="{FF2B5EF4-FFF2-40B4-BE49-F238E27FC236}">
                <a16:creationId xmlns:a16="http://schemas.microsoft.com/office/drawing/2014/main" id="{1CDB7F96-6C80-44F2-939A-D010CA3518C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876800" y="908686"/>
            <a:ext cx="3779700" cy="18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4" name="Google Shape;44;p8">
            <a:extLst xmlns:a="http://schemas.openxmlformats.org/drawingml/2006/main">
              <a:ext uri="{FF2B5EF4-FFF2-40B4-BE49-F238E27FC236}">
                <a16:creationId xmlns:a16="http://schemas.microsoft.com/office/drawing/2014/main" id="{2152BCB3-2D84-49C6-859E-CA05093C463F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876800" y="2840613"/>
            <a:ext cx="3779700" cy="18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matchingName="1_Title and Content">
  <p:cSld name="1_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Google Shape;46;p9">
            <a:extLst xmlns:a="http://schemas.openxmlformats.org/drawingml/2006/main">
              <a:ext uri="{FF2B5EF4-FFF2-40B4-BE49-F238E27FC236}">
                <a16:creationId xmlns:a16="http://schemas.microsoft.com/office/drawing/2014/main" id="{C2E56178-2F2E-430D-86A6-89E0348808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7" name="Google Shape;47;p9">
            <a:extLst xmlns:a="http://schemas.openxmlformats.org/drawingml/2006/main">
              <a:ext uri="{FF2B5EF4-FFF2-40B4-BE49-F238E27FC236}">
                <a16:creationId xmlns:a16="http://schemas.microsoft.com/office/drawing/2014/main" id="{06AE47A0-06C5-4218-8AA9-96511C1CF7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5677" y="908685"/>
            <a:ext cx="77010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matchingName="Two Content Horizontal">
  <p:cSld name="Two Content Horizont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0">
            <a:extLst xmlns:a="http://schemas.openxmlformats.org/drawingml/2006/main">
              <a:ext uri="{FF2B5EF4-FFF2-40B4-BE49-F238E27FC236}">
                <a16:creationId xmlns:a16="http://schemas.microsoft.com/office/drawing/2014/main" id="{654DA749-54BA-4FC0-8AA5-720E9FB44C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0" name="Google Shape;50;p10">
            <a:extLst xmlns:a="http://schemas.openxmlformats.org/drawingml/2006/main">
              <a:ext uri="{FF2B5EF4-FFF2-40B4-BE49-F238E27FC236}">
                <a16:creationId xmlns:a16="http://schemas.microsoft.com/office/drawing/2014/main" id="{C2BD19E9-EED1-4E36-9AFC-76ACF7DE9E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8777" y="908685"/>
            <a:ext cx="7707900" cy="18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1" name="Google Shape;51;p10">
            <a:extLst xmlns:a="http://schemas.openxmlformats.org/drawingml/2006/main">
              <a:ext uri="{FF2B5EF4-FFF2-40B4-BE49-F238E27FC236}">
                <a16:creationId xmlns:a16="http://schemas.microsoft.com/office/drawing/2014/main" id="{BD4D1088-1CCA-4D3D-BB20-0CACFBB4E2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49327" y="2841313"/>
            <a:ext cx="7707300" cy="18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matchingName="Three Content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11">
            <a:extLst xmlns:a="http://schemas.openxmlformats.org/drawingml/2006/main">
              <a:ext uri="{FF2B5EF4-FFF2-40B4-BE49-F238E27FC236}">
                <a16:creationId xmlns:a16="http://schemas.microsoft.com/office/drawing/2014/main" id="{6775C3C5-888D-47F9-86F7-5AF3D022FF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4" name="Google Shape;54;p11">
            <a:extLst xmlns:a="http://schemas.openxmlformats.org/drawingml/2006/main">
              <a:ext uri="{FF2B5EF4-FFF2-40B4-BE49-F238E27FC236}">
                <a16:creationId xmlns:a16="http://schemas.microsoft.com/office/drawing/2014/main" id="{7D0490D3-ADE1-4130-B787-706FEBC693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9327" y="908685"/>
            <a:ext cx="37878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5" name="Google Shape;55;p11">
            <a:extLst xmlns:a="http://schemas.openxmlformats.org/drawingml/2006/main">
              <a:ext uri="{FF2B5EF4-FFF2-40B4-BE49-F238E27FC236}">
                <a16:creationId xmlns:a16="http://schemas.microsoft.com/office/drawing/2014/main" id="{9BAE188C-DF95-4510-A468-CFBFACDE446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76800" y="908686"/>
            <a:ext cx="3779700" cy="18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6" name="Google Shape;56;p11">
            <a:extLst xmlns:a="http://schemas.openxmlformats.org/drawingml/2006/main">
              <a:ext uri="{FF2B5EF4-FFF2-40B4-BE49-F238E27FC236}">
                <a16:creationId xmlns:a16="http://schemas.microsoft.com/office/drawing/2014/main" id="{469291E7-AA86-42D1-BB3C-CE77CF678D9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876800" y="2837497"/>
            <a:ext cx="3779700" cy="183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matchingNam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Google Shape;58;p12">
            <a:extLst xmlns:a="http://schemas.openxmlformats.org/drawingml/2006/main">
              <a:ext uri="{FF2B5EF4-FFF2-40B4-BE49-F238E27FC236}">
                <a16:creationId xmlns:a16="http://schemas.microsoft.com/office/drawing/2014/main" id="{6DAFF9C5-32A5-411B-A27B-594B6E7C81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10113"/>
            <a:ext cx="2895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12">
            <a:extLst xmlns:a="http://schemas.openxmlformats.org/drawingml/2006/main">
              <a:ext uri="{FF2B5EF4-FFF2-40B4-BE49-F238E27FC236}">
                <a16:creationId xmlns:a16="http://schemas.microsoft.com/office/drawing/2014/main" id="{58A6AEEE-E086-4236-A237-752511A72F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526125" y="4744988"/>
            <a:ext cx="7032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Standard Layout">
  <p:cSld name="Standard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Google Shape;61;p13">
            <a:extLst xmlns:a="http://schemas.openxmlformats.org/drawingml/2006/main">
              <a:ext uri="{FF2B5EF4-FFF2-40B4-BE49-F238E27FC236}">
                <a16:creationId xmlns:a16="http://schemas.microsoft.com/office/drawing/2014/main" id="{CD1D7AFB-238A-48BD-9A3C-56333BA4C3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78250" y="206125"/>
            <a:ext cx="6427500" cy="5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 sz="2800">
                <a:latin typeface="Open Sans"/>
                <a:ea typeface="Open Sans"/>
                <a:cs typeface="Open Sans"/>
              </a:defRPr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2" name="Google Shape;62;p13">
            <a:extLst xmlns:a="http://schemas.openxmlformats.org/drawingml/2006/main">
              <a:ext uri="{FF2B5EF4-FFF2-40B4-BE49-F238E27FC236}">
                <a16:creationId xmlns:a16="http://schemas.microsoft.com/office/drawing/2014/main" id="{DEB9189A-9D3F-4ADF-BAC5-AB7AED070B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5760" y="1097280"/>
            <a:ext cx="8538000" cy="338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Open Sans"/>
              <a:buNone/>
              <a:defRPr i="0">
                <a:latin typeface="Open Sans"/>
                <a:ea typeface="Open Sans"/>
                <a:cs typeface="Open Sans"/>
              </a:defRPr>
            </a:lvl1pPr>
            <a:lvl2pPr marL="91440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Char char="▪"/>
              <a:defRPr i="0">
                <a:latin typeface="Open Sans"/>
                <a:ea typeface="Open Sans"/>
                <a:cs typeface="Open Sans"/>
              </a:defRPr>
            </a:lvl2pPr>
            <a:lvl3pPr marL="1371600" indent="-3200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40"/>
              <a:buFont typeface="Open Sans"/>
              <a:buChar char="›"/>
              <a:defRPr sz="1800" i="0">
                <a:latin typeface="Open Sans"/>
                <a:ea typeface="Open Sans"/>
                <a:cs typeface="Open Sans"/>
              </a:defRPr>
            </a:lvl3pPr>
            <a:lvl4pPr marL="1828800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▪"/>
              <a:defRPr sz="1600" i="0">
                <a:latin typeface="Open Sans"/>
                <a:ea typeface="Open Sans"/>
                <a:cs typeface="Open Sans"/>
              </a:defRPr>
            </a:lvl4pPr>
            <a:lvl5pPr marL="22860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•"/>
              <a:defRPr sz="1600" i="0">
                <a:latin typeface="Open Sans"/>
                <a:ea typeface="Open Sans"/>
                <a:cs typeface="Open Sans"/>
              </a:defRPr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63" name="Google Shape;63;p13">
            <a:extLst xmlns:a="http://schemas.openxmlformats.org/drawingml/2006/main">
              <a:ext uri="{FF2B5EF4-FFF2-40B4-BE49-F238E27FC236}">
                <a16:creationId xmlns:a16="http://schemas.microsoft.com/office/drawing/2014/main" id="{753FAE68-7023-411A-A6D2-D0B8FC9841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10113"/>
            <a:ext cx="2895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4" name="Google Shape;64;p13">
            <a:extLst xmlns:a="http://schemas.openxmlformats.org/drawingml/2006/main">
              <a:ext uri="{FF2B5EF4-FFF2-40B4-BE49-F238E27FC236}">
                <a16:creationId xmlns:a16="http://schemas.microsoft.com/office/drawing/2014/main" id="{B67E3143-32B4-41E1-83F1-5C9578BB8B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526125" y="4744988"/>
            <a:ext cx="7032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B4D2E9D5-2BD1-4AE9-AECA-B973AFEAA3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14">
            <a:extLst xmlns:a="http://schemas.openxmlformats.org/drawingml/2006/main">
              <a:ext uri="{FF2B5EF4-FFF2-40B4-BE49-F238E27FC236}">
                <a16:creationId xmlns:a16="http://schemas.microsoft.com/office/drawing/2014/main" id="{3E77BD24-1987-4CB5-8E7F-2A6E4F983B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28600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indent="-342900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indent="-345186"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marL="1828800" indent="-34290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68" name="Google Shape;68;p14">
            <a:extLst xmlns:a="http://schemas.openxmlformats.org/drawingml/2006/main">
              <a:ext uri="{FF2B5EF4-FFF2-40B4-BE49-F238E27FC236}">
                <a16:creationId xmlns:a16="http://schemas.microsoft.com/office/drawing/2014/main" id="{BC8C41BF-30C8-4ACE-9958-2A6BCAC5DF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7216A8C8-0A8C-4C33-83A2-34F86E02404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71" name="Google Shape;71;p15">
            <a:extLst xmlns:a="http://schemas.openxmlformats.org/drawingml/2006/main">
              <a:ext uri="{FF2B5EF4-FFF2-40B4-BE49-F238E27FC236}">
                <a16:creationId xmlns:a16="http://schemas.microsoft.com/office/drawing/2014/main" id="{AD66D82F-9423-48E3-9312-D0967B722B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72" name="Google Shape;72;p15">
            <a:extLst xmlns:a="http://schemas.openxmlformats.org/drawingml/2006/main">
              <a:ext uri="{FF2B5EF4-FFF2-40B4-BE49-F238E27FC236}">
                <a16:creationId xmlns:a16="http://schemas.microsoft.com/office/drawing/2014/main" id="{8751826A-B6F7-4473-AB5A-A4DBF008EE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221c6acf5bfb4ab9" /><Relationship Type="http://schemas.openxmlformats.org/officeDocument/2006/relationships/theme" Target="/ppt/slideMasters/theme/theme2.xml" Id="R31951c54e52d4949" /><Relationship Type="http://schemas.openxmlformats.org/officeDocument/2006/relationships/slideLayout" Target="/ppt/slideLayouts/slideLayout1.xml" Id="R3252bfb82d3c465e" /><Relationship Type="http://schemas.openxmlformats.org/officeDocument/2006/relationships/slideLayout" Target="/ppt/slideLayouts/slideLayout2.xml" Id="R28a44647e3844950" /><Relationship Type="http://schemas.openxmlformats.org/officeDocument/2006/relationships/slideLayout" Target="/ppt/slideLayouts/slideLayout3.xml" Id="R2fd69bb458834963" /><Relationship Type="http://schemas.openxmlformats.org/officeDocument/2006/relationships/slideLayout" Target="/ppt/slideLayouts/slideLayout4.xml" Id="Ra23e9be6a09b4e9c" /><Relationship Type="http://schemas.openxmlformats.org/officeDocument/2006/relationships/slideLayout" Target="/ppt/slideLayouts/slideLayout5.xml" Id="R45b2441d62c44a93" /><Relationship Type="http://schemas.openxmlformats.org/officeDocument/2006/relationships/slideLayout" Target="/ppt/slideLayouts/slideLayout6.xml" Id="R6581f5e180124b04" /><Relationship Type="http://schemas.openxmlformats.org/officeDocument/2006/relationships/slideLayout" Target="/ppt/slideLayouts/slideLayout7.xml" Id="R602b8eb9fd384884" /><Relationship Type="http://schemas.openxmlformats.org/officeDocument/2006/relationships/slideLayout" Target="/ppt/slideLayouts/slideLayout8.xml" Id="Ra42fc47448ef4c23" /><Relationship Type="http://schemas.openxmlformats.org/officeDocument/2006/relationships/slideLayout" Target="/ppt/slideLayouts/slideLayout9.xml" Id="R37dff74f739441f8" /><Relationship Type="http://schemas.openxmlformats.org/officeDocument/2006/relationships/slideLayout" Target="/ppt/slideLayouts/slideLayout10.xml" Id="R97cf805f78284979" /><Relationship Type="http://schemas.openxmlformats.org/officeDocument/2006/relationships/slideLayout" Target="/ppt/slideLayouts/slideLayout11.xml" Id="R9e473b2fca894c2a" /><Relationship Type="http://schemas.openxmlformats.org/officeDocument/2006/relationships/slideLayout" Target="/ppt/slideLayouts/slideLayout12.xml" Id="R0b5c193587454489" /><Relationship Type="http://schemas.openxmlformats.org/officeDocument/2006/relationships/slideLayout" Target="/ppt/slideLayouts/slideLayout13.xml" Id="R89816266f14d45bf" /><Relationship Type="http://schemas.openxmlformats.org/officeDocument/2006/relationships/slideLayout" Target="/ppt/slideLayouts/slideLayout14.xml" Id="R4cc27e82f432482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AE0D60E7-0E79-4F09-AC3C-83E67EC7E0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9325" y="358775"/>
            <a:ext cx="7707300" cy="4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8D989767-8E5B-4674-A8E9-24E389902C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9325" y="903288"/>
            <a:ext cx="7707300" cy="376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0493AFF1-60B2-403C-98A6-9E7408B1ED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538" y="4811713"/>
            <a:ext cx="846000" cy="2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A43306F6-9AC0-4120-807F-DB2F974C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57200" cy="514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 cmpd="sng">
            <a:solidFill>
              <a:srgbClr val="8C151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5" name="Google Shape;10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21c6acf5bfb4ab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21525" y="4856163"/>
            <a:ext cx="1541281" cy="1900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52bfb82d3c465e"/>
    <p:sldLayoutId xmlns:r="http://schemas.openxmlformats.org/officeDocument/2006/relationships" id="2147483650" r:id="R28a44647e3844950"/>
    <p:sldLayoutId xmlns:r="http://schemas.openxmlformats.org/officeDocument/2006/relationships" id="2147483651" r:id="R2fd69bb458834963"/>
    <p:sldLayoutId xmlns:r="http://schemas.openxmlformats.org/officeDocument/2006/relationships" id="2147483652" r:id="Ra23e9be6a09b4e9c"/>
    <p:sldLayoutId xmlns:r="http://schemas.openxmlformats.org/officeDocument/2006/relationships" id="2147483653" r:id="R45b2441d62c44a93"/>
    <p:sldLayoutId xmlns:r="http://schemas.openxmlformats.org/officeDocument/2006/relationships" id="2147483654" r:id="R6581f5e180124b04"/>
    <p:sldLayoutId xmlns:r="http://schemas.openxmlformats.org/officeDocument/2006/relationships" id="2147483655" r:id="R602b8eb9fd384884"/>
    <p:sldLayoutId xmlns:r="http://schemas.openxmlformats.org/officeDocument/2006/relationships" id="2147483656" r:id="Ra42fc47448ef4c23"/>
    <p:sldLayoutId xmlns:r="http://schemas.openxmlformats.org/officeDocument/2006/relationships" id="2147483657" r:id="R37dff74f739441f8"/>
    <p:sldLayoutId xmlns:r="http://schemas.openxmlformats.org/officeDocument/2006/relationships" id="2147483658" r:id="R97cf805f78284979"/>
    <p:sldLayoutId xmlns:r="http://schemas.openxmlformats.org/officeDocument/2006/relationships" id="2147483659" r:id="R9e473b2fca894c2a"/>
    <p:sldLayoutId xmlns:r="http://schemas.openxmlformats.org/officeDocument/2006/relationships" id="2147483660" r:id="R0b5c193587454489"/>
    <p:sldLayoutId xmlns:r="http://schemas.openxmlformats.org/officeDocument/2006/relationships" id="2147483661" r:id="R89816266f14d45bf"/>
    <p:sldLayoutId xmlns:r="http://schemas.openxmlformats.org/officeDocument/2006/relationships" id="2147483662" r:id="R4cc27e82f4324824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U_Preso_16x9_v6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ford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75cad1fa5ec040eb" /><Relationship Type="http://schemas.openxmlformats.org/officeDocument/2006/relationships/image" Target="/ppt/media/image4.png" Id="R4385431f87094b4a" /><Relationship Type="http://schemas.openxmlformats.org/officeDocument/2006/relationships/notesSlide" Target="/ppt/notesSlides/notesSlide1.xml" Id="Rf2d1895533614b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e1f4efee9b774b7f" /><Relationship Type="http://schemas.openxmlformats.org/officeDocument/2006/relationships/notesSlide" Target="/ppt/notesSlides/notesSlide2.xml" Id="Rde776058d22a4c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5b405c8c96ba4014" /><Relationship Type="http://schemas.openxmlformats.org/officeDocument/2006/relationships/notesSlide" Target="/ppt/notesSlides/notesSlide3.xml" Id="R6c0ea517ed7f49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8d3cb8da934840af" /><Relationship Type="http://schemas.openxmlformats.org/officeDocument/2006/relationships/notesSlide" Target="/ppt/notesSlides/notesSlide4.xml" Id="R728d9e7558d247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527f63f6dfdc49ec" /><Relationship Type="http://schemas.openxmlformats.org/officeDocument/2006/relationships/image" Target="/ppt/media/image5.png" Id="R95f550f5ad7043a9" /><Relationship Type="http://schemas.openxmlformats.org/officeDocument/2006/relationships/notesSlide" Target="/ppt/notesSlides/notesSlide5.xml" Id="R0e8b44e9e41a4a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b18c93e30d224137" /><Relationship Type="http://schemas.openxmlformats.org/officeDocument/2006/relationships/notesSlide" Target="/ppt/notesSlides/notesSlide6.xml" Id="R5d117d56340f45d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85431f87094b4a"/>
          <a:stretch xmlns:a="http://schemas.openxmlformats.org/drawingml/2006/main"/>
        </p:blipFill>
        <p:spPr>
          <a:xfrm xmlns:a="http://schemas.openxmlformats.org/drawingml/2006/main">
            <a:off x="6115050" y="588950"/>
            <a:ext cx="2190750" cy="269900"/>
          </a:xfrm>
          <a:prstGeom xmlns:a="http://schemas.openxmlformats.org/drawingml/2006/main" prst="rect">
            <a:avLst/>
          </a:prstGeom>
        </p:spPr>
      </p:pic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80D9479F-4A30-4DDA-8D04-2D7306FC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733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MetaboTyping Agentic Workbench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49B6E7F2-6256-4C16-BF08-D4A520CA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Evidence-gated discovery, curation, and harmonization</a:t>
            </a:r>
          </a:p>
          <a:p xmlns:a="http://schemas.openxmlformats.org/drawingml/2006/main">
            <a:pPr algn="l">
              <a:buNone/>
              <a:defRPr sz="18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for metabolomics reuse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A0F3583D-08B1-45D3-A6C6-CD54A120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81325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esenter-name">
            <a:extLst xmlns:a="http://schemas.openxmlformats.org/drawingml/2006/main">
              <a:ext uri="{FF2B5EF4-FFF2-40B4-BE49-F238E27FC236}">
                <a16:creationId xmlns:a16="http://schemas.microsoft.com/office/drawing/2014/main" id="{1F2726EC-A177-4C51-9576-B553F662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Samuel Montalvo, Ph.D.</a:t>
            </a:r>
          </a:p>
        </p:txBody>
      </p:sp>
      <p:sp>
        <p:nvSpPr>
          <p:cNvPr id="7" name="presenter-block">
            <a:extLst xmlns:a="http://schemas.openxmlformats.org/drawingml/2006/main">
              <a:ext uri="{FF2B5EF4-FFF2-40B4-BE49-F238E27FC236}">
                <a16:creationId xmlns:a16="http://schemas.microsoft.com/office/drawing/2014/main" id="{37CA8E02-309A-45DD-8A80-967FD688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Bioinformatics Center | Molecular Transducers of Physical Activity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Wu Tsai Human Performance Alliance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Division of Cardiovascular Medicine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Stanford University</a:t>
            </a:r>
          </a:p>
        </p:txBody>
      </p:sp>
      <p:sp>
        <p:nvSpPr>
          <p:cNvPr id="8" name="presentation-date">
            <a:extLst xmlns:a="http://schemas.openxmlformats.org/drawingml/2006/main">
              <a:ext uri="{FF2B5EF4-FFF2-40B4-BE49-F238E27FC236}">
                <a16:creationId xmlns:a16="http://schemas.microsoft.com/office/drawing/2014/main" id="{FF53D475-4AD4-4245-93C6-55C9E4FD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August 2026</a:t>
            </a:r>
          </a:p>
        </p:txBody>
      </p:sp>
    </p:spTree>
    <p:extLst>
      <p:ext uri="{BB962C8B-B14F-4D97-AF65-F5344CB8AC3E}">
        <p14:creationId xmlns:p14="http://schemas.microsoft.com/office/powerpoint/2010/main" val="3778692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D3CEA9CA-83EB-4DD4-8992-BF4F753F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METABOTYPING AGENTIC WORKBENCH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CD9776-88AF-4589-A936-575D6407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Evidence gaps are the bottleneck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B9DA24A-CD9E-4139-9A95-8237CC96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blem-thesis">
            <a:extLst xmlns:a="http://schemas.openxmlformats.org/drawingml/2006/main">
              <a:ext uri="{FF2B5EF4-FFF2-40B4-BE49-F238E27FC236}">
                <a16:creationId xmlns:a16="http://schemas.microsoft.com/office/drawing/2014/main" id="{5F6E9762-EA65-4F20-A379-B4E248DC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71575"/>
            <a:ext cx="7620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Before studies can be combined, investigators must establish what was measured, when, how, and with what identity and assay evidence.</a:t>
            </a:r>
          </a:p>
        </p:txBody>
      </p:sp>
      <p:sp>
        <p:nvSpPr>
          <p:cNvPr id="5" name="process-baseline">
            <a:extLst xmlns:a="http://schemas.openxmlformats.org/drawingml/2006/main">
              <a:ext uri="{FF2B5EF4-FFF2-40B4-BE49-F238E27FC236}">
                <a16:creationId xmlns:a16="http://schemas.microsoft.com/office/drawing/2014/main" id="{E250E40E-D8C8-4331-A93C-EACA3D0E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33600"/>
            <a:ext cx="6153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age-node-1">
            <a:extLst xmlns:a="http://schemas.openxmlformats.org/drawingml/2006/main">
              <a:ext uri="{FF2B5EF4-FFF2-40B4-BE49-F238E27FC236}">
                <a16:creationId xmlns:a16="http://schemas.microsoft.com/office/drawing/2014/main" id="{3BE31AAA-5732-46B8-8562-DAA3AF77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ge-number-1">
            <a:extLst xmlns:a="http://schemas.openxmlformats.org/drawingml/2006/main">
              <a:ext uri="{FF2B5EF4-FFF2-40B4-BE49-F238E27FC236}">
                <a16:creationId xmlns:a16="http://schemas.microsoft.com/office/drawing/2014/main" id="{6588D83F-4C23-446F-A44D-4A0FB87E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99BC42B1-787B-47F9-99DF-AA0704DD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Find usable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studies</a:t>
            </a:r>
          </a:p>
        </p:txBody>
      </p:sp>
      <p:sp>
        <p:nvSpPr>
          <p:cNvPr id="9" name="stage-node-2">
            <a:extLst xmlns:a="http://schemas.openxmlformats.org/drawingml/2006/main">
              <a:ext uri="{FF2B5EF4-FFF2-40B4-BE49-F238E27FC236}">
                <a16:creationId xmlns:a16="http://schemas.microsoft.com/office/drawing/2014/main" id="{16E4B153-C329-4B0A-8F19-A8F744C3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ge-number-2">
            <a:extLst xmlns:a="http://schemas.openxmlformats.org/drawingml/2006/main">
              <a:ext uri="{FF2B5EF4-FFF2-40B4-BE49-F238E27FC236}">
                <a16:creationId xmlns:a16="http://schemas.microsoft.com/office/drawing/2014/main" id="{744D768F-0787-4FC9-BBBD-066CCC73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51495A93-ABDA-4F65-AC80-5D763157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Verify metadata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and access</a:t>
            </a:r>
          </a:p>
        </p:txBody>
      </p:sp>
      <p:sp>
        <p:nvSpPr>
          <p:cNvPr id="12" name="stage-node-3">
            <a:extLst xmlns:a="http://schemas.openxmlformats.org/drawingml/2006/main">
              <a:ext uri="{FF2B5EF4-FFF2-40B4-BE49-F238E27FC236}">
                <a16:creationId xmlns:a16="http://schemas.microsoft.com/office/drawing/2014/main" id="{B023B693-0F6B-48B6-B34E-BFFE4221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2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ge-number-3">
            <a:extLst xmlns:a="http://schemas.openxmlformats.org/drawingml/2006/main">
              <a:ext uri="{FF2B5EF4-FFF2-40B4-BE49-F238E27FC236}">
                <a16:creationId xmlns:a16="http://schemas.microsoft.com/office/drawing/2014/main" id="{3C0A3693-8620-48BD-927F-23A30AC5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age-label-3">
            <a:extLst xmlns:a="http://schemas.openxmlformats.org/drawingml/2006/main">
              <a:ext uri="{FF2B5EF4-FFF2-40B4-BE49-F238E27FC236}">
                <a16:creationId xmlns:a16="http://schemas.microsoft.com/office/drawing/2014/main" id="{64A864EC-B0C5-4953-B5CA-552ACF51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Reconcile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variables + assays</a:t>
            </a:r>
          </a:p>
        </p:txBody>
      </p:sp>
      <p:sp>
        <p:nvSpPr>
          <p:cNvPr id="15" name="stage-node-4">
            <a:extLst xmlns:a="http://schemas.openxmlformats.org/drawingml/2006/main">
              <a:ext uri="{FF2B5EF4-FFF2-40B4-BE49-F238E27FC236}">
                <a16:creationId xmlns:a16="http://schemas.microsoft.com/office/drawing/2014/main" id="{0CF1BDED-A9AC-4179-8CAE-2A9DF19E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E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age-number-4">
            <a:extLst xmlns:a="http://schemas.openxmlformats.org/drawingml/2006/main">
              <a:ext uri="{FF2B5EF4-FFF2-40B4-BE49-F238E27FC236}">
                <a16:creationId xmlns:a16="http://schemas.microsoft.com/office/drawing/2014/main" id="{906D21B1-A8E5-4845-B2E8-2A9FB1CE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stage-label-4">
            <a:extLst xmlns:a="http://schemas.openxmlformats.org/drawingml/2006/main">
              <a:ext uri="{FF2B5EF4-FFF2-40B4-BE49-F238E27FC236}">
                <a16:creationId xmlns:a16="http://schemas.microsoft.com/office/drawing/2014/main" id="{94333F37-EE8B-4FD0-B89C-9644548E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Send uncertainty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to expert review</a:t>
            </a:r>
          </a:p>
        </p:txBody>
      </p:sp>
      <p:sp>
        <p:nvSpPr>
          <p:cNvPr id="18" name="problem-divider">
            <a:extLst xmlns:a="http://schemas.openxmlformats.org/drawingml/2006/main">
              <a:ext uri="{FF2B5EF4-FFF2-40B4-BE49-F238E27FC236}">
                <a16:creationId xmlns:a16="http://schemas.microsoft.com/office/drawing/2014/main" id="{DD0C1C05-1857-4C10-9780-69B650E7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aution-rule-1">
            <a:extLst xmlns:a="http://schemas.openxmlformats.org/drawingml/2006/main">
              <a:ext uri="{FF2B5EF4-FFF2-40B4-BE49-F238E27FC236}">
                <a16:creationId xmlns:a16="http://schemas.microsoft.com/office/drawing/2014/main" id="{BA8BC908-D330-4F78-87EC-EE080D1D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476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ution-1">
            <a:extLst xmlns:a="http://schemas.openxmlformats.org/drawingml/2006/main">
              <a:ext uri="{FF2B5EF4-FFF2-40B4-BE49-F238E27FC236}">
                <a16:creationId xmlns:a16="http://schemas.microsoft.com/office/drawing/2014/main" id="{392D012F-AD8E-4D49-8039-78C08A2A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21336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Name similarity is not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chemical identity.</a:t>
            </a:r>
          </a:p>
        </p:txBody>
      </p:sp>
      <p:sp>
        <p:nvSpPr>
          <p:cNvPr id="21" name="caution-rule-2">
            <a:extLst xmlns:a="http://schemas.openxmlformats.org/drawingml/2006/main">
              <a:ext uri="{FF2B5EF4-FFF2-40B4-BE49-F238E27FC236}">
                <a16:creationId xmlns:a16="http://schemas.microsoft.com/office/drawing/2014/main" id="{99F7453D-5E5C-4D39-97E2-CB61550E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495675"/>
            <a:ext cx="476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ution-2">
            <a:extLst xmlns:a="http://schemas.openxmlformats.org/drawingml/2006/main">
              <a:ext uri="{FF2B5EF4-FFF2-40B4-BE49-F238E27FC236}">
                <a16:creationId xmlns:a16="http://schemas.microsoft.com/office/drawing/2014/main" id="{CD9E5F80-1526-4A3E-96EC-A8CD5C57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495675"/>
            <a:ext cx="21336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VO₂peak is not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automatically VO₂max.</a:t>
            </a:r>
          </a:p>
        </p:txBody>
      </p:sp>
      <p:sp>
        <p:nvSpPr>
          <p:cNvPr id="23" name="caution-rule-3">
            <a:extLst xmlns:a="http://schemas.openxmlformats.org/drawingml/2006/main">
              <a:ext uri="{FF2B5EF4-FFF2-40B4-BE49-F238E27FC236}">
                <a16:creationId xmlns:a16="http://schemas.microsoft.com/office/drawing/2014/main" id="{1BC6A8DE-1B8E-47D6-B535-2B5C4F9A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95675"/>
            <a:ext cx="476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aution-3">
            <a:extLst xmlns:a="http://schemas.openxmlformats.org/drawingml/2006/main">
              <a:ext uri="{FF2B5EF4-FFF2-40B4-BE49-F238E27FC236}">
                <a16:creationId xmlns:a16="http://schemas.microsoft.com/office/drawing/2014/main" id="{B60E27F7-FF99-4F47-8A64-9E26D9B0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95675"/>
            <a:ext cx="2228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Relative intensities are not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automatically poolable.</a:t>
            </a:r>
          </a:p>
        </p:txBody>
      </p:sp>
      <p:sp>
        <p:nvSpPr>
          <p:cNvPr id="25" name="problem-consequence">
            <a:extLst xmlns:a="http://schemas.openxmlformats.org/drawingml/2006/main">
              <a:ext uri="{FF2B5EF4-FFF2-40B4-BE49-F238E27FC236}">
                <a16:creationId xmlns:a16="http://schemas.microsoft.com/office/drawing/2014/main" id="{5701C23B-373B-4E0A-B58F-95C4A5B1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762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1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B6770"/>
                </a:solidFill>
                <a:latin typeface="Arial"/>
                <a:ea typeface="Arial"/>
                <a:cs typeface="Arial"/>
              </a:rPr>
              <a:t>Without explicit evidence states, confident automation can silently convert uncertainty into analysis-ready data.</a:t>
            </a:r>
          </a:p>
        </p:txBody>
      </p:sp>
    </p:spTree>
    <p:extLst>
      <p:ext uri="{BB962C8B-B14F-4D97-AF65-F5344CB8AC3E}">
        <p14:creationId xmlns:p14="http://schemas.microsoft.com/office/powerpoint/2010/main" val="3778692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D3CEA9CA-83EB-4DD4-8992-BF4F753F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METABOTYPING AGENTIC WORKBENCH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CD9776-88AF-4589-A936-575D6407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Metabolites reveal how exercise changes biology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B9DA24A-CD9E-4139-9A95-8237CC96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blem-thesis">
            <a:extLst xmlns:a="http://schemas.openxmlformats.org/drawingml/2006/main">
              <a:ext uri="{FF2B5EF4-FFF2-40B4-BE49-F238E27FC236}">
                <a16:creationId xmlns:a16="http://schemas.microsoft.com/office/drawing/2014/main" id="{5F6E9762-EA65-4F20-A379-B4E248DC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71575"/>
            <a:ext cx="7620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Exercise rapidly shifts fuels, amino acids, lipids, and signaling molecules, while training reshapes metabolism across tissues.</a:t>
            </a:r>
          </a:p>
        </p:txBody>
      </p:sp>
      <p:sp>
        <p:nvSpPr>
          <p:cNvPr id="5" name="process-baseline">
            <a:extLst xmlns:a="http://schemas.openxmlformats.org/drawingml/2006/main">
              <a:ext uri="{FF2B5EF4-FFF2-40B4-BE49-F238E27FC236}">
                <a16:creationId xmlns:a16="http://schemas.microsoft.com/office/drawing/2014/main" id="{E250E40E-D8C8-4331-A93C-EACA3D0E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33600"/>
            <a:ext cx="6153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age-node-1">
            <a:extLst xmlns:a="http://schemas.openxmlformats.org/drawingml/2006/main">
              <a:ext uri="{FF2B5EF4-FFF2-40B4-BE49-F238E27FC236}">
                <a16:creationId xmlns:a16="http://schemas.microsoft.com/office/drawing/2014/main" id="{3BE31AAA-5732-46B8-8562-DAA3AF77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ge-number-1">
            <a:extLst xmlns:a="http://schemas.openxmlformats.org/drawingml/2006/main">
              <a:ext uri="{FF2B5EF4-FFF2-40B4-BE49-F238E27FC236}">
                <a16:creationId xmlns:a16="http://schemas.microsoft.com/office/drawing/2014/main" id="{6588D83F-4C23-446F-A44D-4A0FB87E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99BC42B1-787B-47F9-99DF-AA0704DD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Capture rapid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responses</a:t>
            </a:r>
          </a:p>
        </p:txBody>
      </p:sp>
      <p:sp>
        <p:nvSpPr>
          <p:cNvPr id="9" name="stage-node-2">
            <a:extLst xmlns:a="http://schemas.openxmlformats.org/drawingml/2006/main">
              <a:ext uri="{FF2B5EF4-FFF2-40B4-BE49-F238E27FC236}">
                <a16:creationId xmlns:a16="http://schemas.microsoft.com/office/drawing/2014/main" id="{16E4B153-C329-4B0A-8F19-A8F744C3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C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ge-number-2">
            <a:extLst xmlns:a="http://schemas.openxmlformats.org/drawingml/2006/main">
              <a:ext uri="{FF2B5EF4-FFF2-40B4-BE49-F238E27FC236}">
                <a16:creationId xmlns:a16="http://schemas.microsoft.com/office/drawing/2014/main" id="{744D768F-0787-4FC9-BBBD-066CCC73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51495A93-ABDA-4F65-AC80-5D763157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Map tissue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communication</a:t>
            </a:r>
          </a:p>
        </p:txBody>
      </p:sp>
      <p:sp>
        <p:nvSpPr>
          <p:cNvPr id="12" name="stage-node-3">
            <a:extLst xmlns:a="http://schemas.openxmlformats.org/drawingml/2006/main">
              <a:ext uri="{FF2B5EF4-FFF2-40B4-BE49-F238E27FC236}">
                <a16:creationId xmlns:a16="http://schemas.microsoft.com/office/drawing/2014/main" id="{B023B693-0F6B-48B6-B34E-BFFE4221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2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ge-number-3">
            <a:extLst xmlns:a="http://schemas.openxmlformats.org/drawingml/2006/main">
              <a:ext uri="{FF2B5EF4-FFF2-40B4-BE49-F238E27FC236}">
                <a16:creationId xmlns:a16="http://schemas.microsoft.com/office/drawing/2014/main" id="{3C0A3693-8620-48BD-927F-23A30AC5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age-label-3">
            <a:extLst xmlns:a="http://schemas.openxmlformats.org/drawingml/2006/main">
              <a:ext uri="{FF2B5EF4-FFF2-40B4-BE49-F238E27FC236}">
                <a16:creationId xmlns:a16="http://schemas.microsoft.com/office/drawing/2014/main" id="{64A864EC-B0C5-4953-B5CA-552ACF51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Explain response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variation</a:t>
            </a:r>
          </a:p>
        </p:txBody>
      </p:sp>
      <p:sp>
        <p:nvSpPr>
          <p:cNvPr id="15" name="stage-node-4">
            <a:extLst xmlns:a="http://schemas.openxmlformats.org/drawingml/2006/main">
              <a:ext uri="{FF2B5EF4-FFF2-40B4-BE49-F238E27FC236}">
                <a16:creationId xmlns:a16="http://schemas.microsoft.com/office/drawing/2014/main" id="{0CF1BDED-A9AC-4179-8CAE-2A9DF19E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335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5E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age-number-4">
            <a:extLst xmlns:a="http://schemas.openxmlformats.org/drawingml/2006/main">
              <a:ext uri="{FF2B5EF4-FFF2-40B4-BE49-F238E27FC236}">
                <a16:creationId xmlns:a16="http://schemas.microsoft.com/office/drawing/2014/main" id="{906D21B1-A8E5-4845-B2E8-2A9FB1CE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0977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stage-label-4">
            <a:extLst xmlns:a="http://schemas.openxmlformats.org/drawingml/2006/main">
              <a:ext uri="{FF2B5EF4-FFF2-40B4-BE49-F238E27FC236}">
                <a16:creationId xmlns:a16="http://schemas.microsoft.com/office/drawing/2014/main" id="{94333F37-EE8B-4FD0-B89C-9644548E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66975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Find testable</a:t>
            </a:r>
          </a:p>
          <a:p xmlns:a="http://schemas.openxmlformats.org/drawingml/2006/main">
            <a:pPr algn="ctr">
              <a:buNone/>
              <a:defRPr sz="12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biomarkers</a:t>
            </a:r>
          </a:p>
        </p:txBody>
      </p:sp>
      <p:sp>
        <p:nvSpPr>
          <p:cNvPr id="18" name="problem-divider">
            <a:extLst xmlns:a="http://schemas.openxmlformats.org/drawingml/2006/main">
              <a:ext uri="{FF2B5EF4-FFF2-40B4-BE49-F238E27FC236}">
                <a16:creationId xmlns:a16="http://schemas.microsoft.com/office/drawing/2014/main" id="{DD0C1C05-1857-4C10-9780-69B650E7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aution-rule-1">
            <a:extLst xmlns:a="http://schemas.openxmlformats.org/drawingml/2006/main">
              <a:ext uri="{FF2B5EF4-FFF2-40B4-BE49-F238E27FC236}">
                <a16:creationId xmlns:a16="http://schemas.microsoft.com/office/drawing/2014/main" id="{BA8BC908-D330-4F78-87EC-EE080D1D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476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ution-1">
            <a:extLst xmlns:a="http://schemas.openxmlformats.org/drawingml/2006/main">
              <a:ext uri="{FF2B5EF4-FFF2-40B4-BE49-F238E27FC236}">
                <a16:creationId xmlns:a16="http://schemas.microsoft.com/office/drawing/2014/main" id="{392D012F-AD8E-4D49-8039-78C08A2A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21336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Timing and intensity change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the observed signature.</a:t>
            </a:r>
          </a:p>
        </p:txBody>
      </p:sp>
      <p:sp>
        <p:nvSpPr>
          <p:cNvPr id="21" name="caution-rule-2">
            <a:extLst xmlns:a="http://schemas.openxmlformats.org/drawingml/2006/main">
              <a:ext uri="{FF2B5EF4-FFF2-40B4-BE49-F238E27FC236}">
                <a16:creationId xmlns:a16="http://schemas.microsoft.com/office/drawing/2014/main" id="{99F7453D-5E5C-4D39-97E2-CB61550E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495675"/>
            <a:ext cx="476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ution-2">
            <a:extLst xmlns:a="http://schemas.openxmlformats.org/drawingml/2006/main">
              <a:ext uri="{FF2B5EF4-FFF2-40B4-BE49-F238E27FC236}">
                <a16:creationId xmlns:a16="http://schemas.microsoft.com/office/drawing/2014/main" id="{CD9E5F80-1526-4A3E-96EC-A8CD5C57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495675"/>
            <a:ext cx="21336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Sex, fitness, diet, and assay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design can shift results.</a:t>
            </a:r>
          </a:p>
        </p:txBody>
      </p:sp>
      <p:sp>
        <p:nvSpPr>
          <p:cNvPr id="23" name="caution-rule-3">
            <a:extLst xmlns:a="http://schemas.openxmlformats.org/drawingml/2006/main">
              <a:ext uri="{FF2B5EF4-FFF2-40B4-BE49-F238E27FC236}">
                <a16:creationId xmlns:a16="http://schemas.microsoft.com/office/drawing/2014/main" id="{1BC6A8DE-1B8E-47D6-B535-2B5C4F9A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95675"/>
            <a:ext cx="476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aution-3">
            <a:extLst xmlns:a="http://schemas.openxmlformats.org/drawingml/2006/main">
              <a:ext uri="{FF2B5EF4-FFF2-40B4-BE49-F238E27FC236}">
                <a16:creationId xmlns:a16="http://schemas.microsoft.com/office/drawing/2014/main" id="{B60E27F7-FF99-4F47-8A64-9E26D9B0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95675"/>
            <a:ext cx="2228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Many studies are small,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single-tissue, or sparsely sampled.</a:t>
            </a:r>
          </a:p>
        </p:txBody>
      </p:sp>
      <p:sp>
        <p:nvSpPr>
          <p:cNvPr id="25" name="problem-consequence">
            <a:extLst xmlns:a="http://schemas.openxmlformats.org/drawingml/2006/main">
              <a:ext uri="{FF2B5EF4-FFF2-40B4-BE49-F238E27FC236}">
                <a16:creationId xmlns:a16="http://schemas.microsoft.com/office/drawing/2014/main" id="{5701C23B-373B-4E0A-B58F-95C4A5B1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762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1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B6770"/>
                </a:solidFill>
                <a:latin typeface="Arial"/>
                <a:ea typeface="Arial"/>
                <a:cs typeface="Arial"/>
              </a:rPr>
              <a:t>Larger, harmonized studies can separate reproducible biology from context-specific signals and support precision-exercise hypotheses.</a:t>
            </a:r>
          </a:p>
        </p:txBody>
      </p:sp>
    </p:spTree>
    <p:extLst>
      <p:ext uri="{BB962C8B-B14F-4D97-AF65-F5344CB8AC3E}">
        <p14:creationId xmlns:p14="http://schemas.microsoft.com/office/powerpoint/2010/main" val="37786921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1D52EC6A-B942-4F25-8AEC-455BEB58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METABOTYPING AGENTIC WORKBENCH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53E5CB-077D-488E-A281-53FE6F4F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Every decision stays traceable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E47BE07-D455-486B-B87D-51318D70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orkflow-intro">
            <a:extLst xmlns:a="http://schemas.openxmlformats.org/drawingml/2006/main">
              <a:ext uri="{FF2B5EF4-FFF2-40B4-BE49-F238E27FC236}">
                <a16:creationId xmlns:a16="http://schemas.microsoft.com/office/drawing/2014/main" id="{90F12842-A7AE-4A3E-9C0F-EB7FA361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04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13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Heterogeneous records become explicit evidence models before any decision moves downstream.</a:t>
            </a:r>
          </a:p>
        </p:txBody>
      </p:sp>
      <p:sp>
        <p:nvSpPr>
          <p:cNvPr id="5" name="workflow-arrow-1">
            <a:extLst xmlns:a="http://schemas.openxmlformats.org/drawingml/2006/main">
              <a:ext uri="{FF2B5EF4-FFF2-40B4-BE49-F238E27FC236}">
                <a16:creationId xmlns:a16="http://schemas.microsoft.com/office/drawing/2014/main" id="{EEE30941-5134-424C-B1DC-88F925AC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8122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C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orkflow-arrow-2">
            <a:extLst xmlns:a="http://schemas.openxmlformats.org/drawingml/2006/main">
              <a:ext uri="{FF2B5EF4-FFF2-40B4-BE49-F238E27FC236}">
                <a16:creationId xmlns:a16="http://schemas.microsoft.com/office/drawing/2014/main" id="{CEFFEF0A-A61B-4AD2-BA4B-CDE9B645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8122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C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workflow-arrow-3">
            <a:extLst xmlns:a="http://schemas.openxmlformats.org/drawingml/2006/main">
              <a:ext uri="{FF2B5EF4-FFF2-40B4-BE49-F238E27FC236}">
                <a16:creationId xmlns:a16="http://schemas.microsoft.com/office/drawing/2014/main" id="{2A7B4882-25EC-49F0-BD55-0FF597A8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8122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C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orkflow-node-01">
            <a:extLst xmlns:a="http://schemas.openxmlformats.org/drawingml/2006/main">
              <a:ext uri="{FF2B5EF4-FFF2-40B4-BE49-F238E27FC236}">
                <a16:creationId xmlns:a16="http://schemas.microsoft.com/office/drawing/2014/main" id="{15C7A6D0-897C-4D17-A1B6-7A4D0DD6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57325"/>
            <a:ext cx="1619250" cy="20383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3F4F5"/>
          </a:solidFill>
          <a:ln xmlns:a="http://schemas.openxmlformats.org/drawingml/2006/main" w="11430">
            <a:solidFill>
              <a:srgbClr val="7A8A99"/>
            </a:solidFill>
            <a:prstDash val="solid"/>
          </a:ln>
        </p:spPr>
      </p:sp>
      <p:sp>
        <p:nvSpPr>
          <p:cNvPr id="9" name="workflow-step-01">
            <a:extLst xmlns:a="http://schemas.openxmlformats.org/drawingml/2006/main">
              <a:ext uri="{FF2B5EF4-FFF2-40B4-BE49-F238E27FC236}">
                <a16:creationId xmlns:a16="http://schemas.microsoft.com/office/drawing/2014/main" id="{FEAE22BE-E06A-4940-B6D9-7D42BB0A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90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workflow-title-01">
            <a:extLst xmlns:a="http://schemas.openxmlformats.org/drawingml/2006/main">
              <a:ext uri="{FF2B5EF4-FFF2-40B4-BE49-F238E27FC236}">
                <a16:creationId xmlns:a16="http://schemas.microsoft.com/office/drawing/2014/main" id="{4C2CC8D4-2D7D-4492-8A3C-8B699A1A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1314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11" name="workflow-body-01">
            <a:extLst xmlns:a="http://schemas.openxmlformats.org/drawingml/2006/main">
              <a:ext uri="{FF2B5EF4-FFF2-40B4-BE49-F238E27FC236}">
                <a16:creationId xmlns:a16="http://schemas.microsoft.com/office/drawing/2014/main" id="{CBCBDFBB-0D1B-4252-923A-77CCF57C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13144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Research question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Publication + repository records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Variable dictionaries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Assay + effect tables</a:t>
            </a:r>
          </a:p>
        </p:txBody>
      </p:sp>
      <p:sp>
        <p:nvSpPr>
          <p:cNvPr id="12" name="workflow-node-02">
            <a:extLst xmlns:a="http://schemas.openxmlformats.org/drawingml/2006/main">
              <a:ext uri="{FF2B5EF4-FFF2-40B4-BE49-F238E27FC236}">
                <a16:creationId xmlns:a16="http://schemas.microsoft.com/office/drawing/2014/main" id="{7B522B91-4D09-49A6-B799-F8B10E23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57325"/>
            <a:ext cx="1619250" cy="20383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11430">
            <a:solidFill>
              <a:srgbClr val="7A8A99"/>
            </a:solidFill>
            <a:prstDash val="solid"/>
          </a:ln>
        </p:spPr>
      </p:sp>
      <p:sp>
        <p:nvSpPr>
          <p:cNvPr id="13" name="workflow-step-02">
            <a:extLst xmlns:a="http://schemas.openxmlformats.org/drawingml/2006/main">
              <a:ext uri="{FF2B5EF4-FFF2-40B4-BE49-F238E27FC236}">
                <a16:creationId xmlns:a16="http://schemas.microsoft.com/office/drawing/2014/main" id="{35E3851D-CC1B-4D02-B2D0-C27AFB39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90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workflow-title-02">
            <a:extLst xmlns:a="http://schemas.openxmlformats.org/drawingml/2006/main">
              <a:ext uri="{FF2B5EF4-FFF2-40B4-BE49-F238E27FC236}">
                <a16:creationId xmlns:a16="http://schemas.microsoft.com/office/drawing/2014/main" id="{AD019DBE-8C6D-4C64-B3C9-DEEB697F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47850"/>
            <a:ext cx="1314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Evidence models</a:t>
            </a:r>
          </a:p>
        </p:txBody>
      </p:sp>
      <p:sp>
        <p:nvSpPr>
          <p:cNvPr id="15" name="workflow-body-02">
            <a:extLst xmlns:a="http://schemas.openxmlformats.org/drawingml/2006/main">
              <a:ext uri="{FF2B5EF4-FFF2-40B4-BE49-F238E27FC236}">
                <a16:creationId xmlns:a16="http://schemas.microsoft.com/office/drawing/2014/main" id="{9DF8156B-27EF-4FDA-8465-000C3576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13144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Inclusion criteria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Source retrieval plan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Study + dataset cards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Chemical + QA/QC fields</a:t>
            </a:r>
          </a:p>
        </p:txBody>
      </p:sp>
      <p:sp>
        <p:nvSpPr>
          <p:cNvPr id="16" name="workflow-node-03">
            <a:extLst xmlns:a="http://schemas.openxmlformats.org/drawingml/2006/main">
              <a:ext uri="{FF2B5EF4-FFF2-40B4-BE49-F238E27FC236}">
                <a16:creationId xmlns:a16="http://schemas.microsoft.com/office/drawing/2014/main" id="{10D195ED-DF15-4248-B3EB-FB377D64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457325"/>
            <a:ext cx="1619250" cy="20383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3EF"/>
          </a:solidFill>
          <a:ln xmlns:a="http://schemas.openxmlformats.org/drawingml/2006/main" w="11430">
            <a:solidFill>
              <a:srgbClr val="7A8A99"/>
            </a:solidFill>
            <a:prstDash val="solid"/>
          </a:ln>
        </p:spPr>
      </p:sp>
      <p:sp>
        <p:nvSpPr>
          <p:cNvPr id="17" name="workflow-step-03">
            <a:extLst xmlns:a="http://schemas.openxmlformats.org/drawingml/2006/main">
              <a:ext uri="{FF2B5EF4-FFF2-40B4-BE49-F238E27FC236}">
                <a16:creationId xmlns:a16="http://schemas.microsoft.com/office/drawing/2014/main" id="{E2CBCD6B-83EB-4F3C-8C24-5F42BAB3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590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workflow-title-03">
            <a:extLst xmlns:a="http://schemas.openxmlformats.org/drawingml/2006/main">
              <a:ext uri="{FF2B5EF4-FFF2-40B4-BE49-F238E27FC236}">
                <a16:creationId xmlns:a16="http://schemas.microsoft.com/office/drawing/2014/main" id="{50309A41-BFAC-4E24-BAAD-86BBBE79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47850"/>
            <a:ext cx="1314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Deterministic decisions</a:t>
            </a:r>
          </a:p>
        </p:txBody>
      </p:sp>
      <p:sp>
        <p:nvSpPr>
          <p:cNvPr id="19" name="workflow-body-03">
            <a:extLst xmlns:a="http://schemas.openxmlformats.org/drawingml/2006/main">
              <a:ext uri="{FF2B5EF4-FFF2-40B4-BE49-F238E27FC236}">
                <a16:creationId xmlns:a16="http://schemas.microsoft.com/office/drawing/2014/main" id="{6BF6578D-277A-469D-897B-724D9114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81250"/>
            <a:ext cx="13144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Eligibility + gaps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Variable crosswalks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Identity + assay checks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MoTrPAC readiness</a:t>
            </a:r>
          </a:p>
        </p:txBody>
      </p:sp>
      <p:sp>
        <p:nvSpPr>
          <p:cNvPr id="20" name="workflow-node-04">
            <a:extLst xmlns:a="http://schemas.openxmlformats.org/drawingml/2006/main">
              <a:ext uri="{FF2B5EF4-FFF2-40B4-BE49-F238E27FC236}">
                <a16:creationId xmlns:a16="http://schemas.microsoft.com/office/drawing/2014/main" id="{2684D8F7-67C8-4F69-8CB6-475B38AB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457325"/>
            <a:ext cx="1619250" cy="20383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2F5E9"/>
          </a:solidFill>
          <a:ln xmlns:a="http://schemas.openxmlformats.org/drawingml/2006/main" w="11430">
            <a:solidFill>
              <a:srgbClr val="7A8A99"/>
            </a:solidFill>
            <a:prstDash val="solid"/>
          </a:ln>
        </p:spPr>
      </p:sp>
      <p:sp>
        <p:nvSpPr>
          <p:cNvPr id="21" name="workflow-step-04">
            <a:extLst xmlns:a="http://schemas.openxmlformats.org/drawingml/2006/main">
              <a:ext uri="{FF2B5EF4-FFF2-40B4-BE49-F238E27FC236}">
                <a16:creationId xmlns:a16="http://schemas.microsoft.com/office/drawing/2014/main" id="{D57ADE1B-D51E-46C7-A78A-B5679BA5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90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workflow-title-04">
            <a:extLst xmlns:a="http://schemas.openxmlformats.org/drawingml/2006/main">
              <a:ext uri="{FF2B5EF4-FFF2-40B4-BE49-F238E27FC236}">
                <a16:creationId xmlns:a16="http://schemas.microsoft.com/office/drawing/2014/main" id="{6DB62E00-423A-43AF-93EB-686A2E36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47850"/>
            <a:ext cx="1314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Reviewable outputs</a:t>
            </a:r>
          </a:p>
        </p:txBody>
      </p:sp>
      <p:sp>
        <p:nvSpPr>
          <p:cNvPr id="23" name="workflow-body-04">
            <a:extLst xmlns:a="http://schemas.openxmlformats.org/drawingml/2006/main">
              <a:ext uri="{FF2B5EF4-FFF2-40B4-BE49-F238E27FC236}">
                <a16:creationId xmlns:a16="http://schemas.microsoft.com/office/drawing/2014/main" id="{BA610752-E7D1-4548-9EC8-DB554E96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13144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Ranked candidates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Provenance-bearing cards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Approved transforms</a:t>
            </a:r>
          </a:p>
          <a:p xmlns:a="http://schemas.openxmlformats.org/drawingml/2006/main">
            <a:pPr algn="l">
              <a:buNone/>
              <a:defRPr sz="111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11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Review queue + plot manifest</a:t>
            </a:r>
          </a:p>
        </p:txBody>
      </p:sp>
      <p:sp>
        <p:nvSpPr>
          <p:cNvPr id="24" name="review-state-band">
            <a:extLst xmlns:a="http://schemas.openxmlformats.org/drawingml/2006/main">
              <a:ext uri="{FF2B5EF4-FFF2-40B4-BE49-F238E27FC236}">
                <a16:creationId xmlns:a16="http://schemas.microsoft.com/office/drawing/2014/main" id="{68B7570A-CD21-49D2-A9DD-4070D933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74485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BF2E5"/>
          </a:solidFill>
          <a:ln xmlns:a="http://schemas.openxmlformats.org/drawingml/2006/main" w="11430">
            <a:solidFill>
              <a:srgbClr val="C87924"/>
            </a:solidFill>
            <a:prstDash val="solid"/>
          </a:ln>
        </p:spPr>
      </p:sp>
      <p:sp>
        <p:nvSpPr>
          <p:cNvPr id="25" name="review-state-label">
            <a:extLst xmlns:a="http://schemas.openxmlformats.org/drawingml/2006/main">
              <a:ext uri="{FF2B5EF4-FFF2-40B4-BE49-F238E27FC236}">
                <a16:creationId xmlns:a16="http://schemas.microsoft.com/office/drawing/2014/main" id="{738B7881-5EC9-4B91-B262-E2900EA9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290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A85B1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85B10"/>
                </a:solidFill>
                <a:latin typeface="Arial"/>
                <a:ea typeface="Arial"/>
                <a:cs typeface="Arial"/>
              </a:rPr>
              <a:t>REVIEW STATES</a:t>
            </a:r>
          </a:p>
        </p:txBody>
      </p:sp>
      <p:sp>
        <p:nvSpPr>
          <p:cNvPr id="26" name="review-state-values">
            <a:extLst xmlns:a="http://schemas.openxmlformats.org/drawingml/2006/main">
              <a:ext uri="{FF2B5EF4-FFF2-40B4-BE49-F238E27FC236}">
                <a16:creationId xmlns:a16="http://schemas.microsoft.com/office/drawing/2014/main" id="{DD3012DD-3476-4C2B-9595-BF12EA2F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800475"/>
            <a:ext cx="565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accepted     |     requires human review     |     non-combinable</a:t>
            </a:r>
          </a:p>
        </p:txBody>
      </p:sp>
      <p:sp>
        <p:nvSpPr>
          <p:cNvPr id="27" name="workflow-provenance">
            <a:extLst xmlns:a="http://schemas.openxmlformats.org/drawingml/2006/main">
              <a:ext uri="{FF2B5EF4-FFF2-40B4-BE49-F238E27FC236}">
                <a16:creationId xmlns:a16="http://schemas.microsoft.com/office/drawing/2014/main" id="{0089607D-26B6-4B98-AA46-BF62128E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52925"/>
            <a:ext cx="7448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Every artifact records source location, rule version, rationale, and unresolved evidence.</a:t>
            </a:r>
          </a:p>
        </p:txBody>
      </p:sp>
    </p:spTree>
    <p:extLst>
      <p:ext uri="{BB962C8B-B14F-4D97-AF65-F5344CB8AC3E}">
        <p14:creationId xmlns:p14="http://schemas.microsoft.com/office/powerpoint/2010/main" val="3778692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DD791C8E-0C4A-4803-93BF-1058736E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METABOTYPING AGENTIC WORKBENCH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D8456A-FBDB-4D7A-BBE1-3CC02ECD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Human review is a hard boundary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6E14C0D-C49F-43CE-A111-FF3B86BA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afety-number-01">
            <a:extLst xmlns:a="http://schemas.openxmlformats.org/drawingml/2006/main">
              <a:ext uri="{FF2B5EF4-FFF2-40B4-BE49-F238E27FC236}">
                <a16:creationId xmlns:a16="http://schemas.microsoft.com/office/drawing/2014/main" id="{A7CFBBB0-1343-4A34-BECA-AB9EC73A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200"/>
            <a:ext cx="323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safety-heading-01">
            <a:extLst xmlns:a="http://schemas.openxmlformats.org/drawingml/2006/main">
              <a:ext uri="{FF2B5EF4-FFF2-40B4-BE49-F238E27FC236}">
                <a16:creationId xmlns:a16="http://schemas.microsoft.com/office/drawing/2014/main" id="{4C479E61-36A9-4614-BC57-E049793F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2001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88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Contracts propose—never decide</a:t>
            </a:r>
          </a:p>
        </p:txBody>
      </p:sp>
      <p:sp>
        <p:nvSpPr>
          <p:cNvPr id="6" name="safety-body-01">
            <a:extLst xmlns:a="http://schemas.openxmlformats.org/drawingml/2006/main">
              <a:ext uri="{FF2B5EF4-FFF2-40B4-BE49-F238E27FC236}">
                <a16:creationId xmlns:a16="http://schemas.microsoft.com/office/drawing/2014/main" id="{36B0B096-20F5-4496-A546-C1A5FEA9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04950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Agent and skill interfaces assemble evidence and frame questions for review.</a:t>
            </a:r>
          </a:p>
        </p:txBody>
      </p:sp>
      <p:sp>
        <p:nvSpPr>
          <p:cNvPr id="7" name="safety-number-02">
            <a:extLst xmlns:a="http://schemas.openxmlformats.org/drawingml/2006/main">
              <a:ext uri="{FF2B5EF4-FFF2-40B4-BE49-F238E27FC236}">
                <a16:creationId xmlns:a16="http://schemas.microsoft.com/office/drawing/2014/main" id="{86D36A93-CC9F-4C66-A00F-52C7E81F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323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safety-heading-02">
            <a:extLst xmlns:a="http://schemas.openxmlformats.org/drawingml/2006/main">
              <a:ext uri="{FF2B5EF4-FFF2-40B4-BE49-F238E27FC236}">
                <a16:creationId xmlns:a16="http://schemas.microsoft.com/office/drawing/2014/main" id="{0F189EE2-8F9E-4050-829D-28E5A76A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95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88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Schemas enforce advisory output</a:t>
            </a:r>
          </a:p>
        </p:txBody>
      </p:sp>
      <p:sp>
        <p:nvSpPr>
          <p:cNvPr id="9" name="safety-body-02">
            <a:extLst xmlns:a="http://schemas.openxmlformats.org/drawingml/2006/main">
              <a:ext uri="{FF2B5EF4-FFF2-40B4-BE49-F238E27FC236}">
                <a16:creationId xmlns:a16="http://schemas.microsoft.com/office/drawing/2014/main" id="{7C90571D-541E-4FFE-AC85-2E9AF634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00300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Typed packets require human adjudication and contain no executable actions.</a:t>
            </a:r>
          </a:p>
        </p:txBody>
      </p:sp>
      <p:sp>
        <p:nvSpPr>
          <p:cNvPr id="10" name="safety-number-03">
            <a:extLst xmlns:a="http://schemas.openxmlformats.org/drawingml/2006/main">
              <a:ext uri="{FF2B5EF4-FFF2-40B4-BE49-F238E27FC236}">
                <a16:creationId xmlns:a16="http://schemas.microsoft.com/office/drawing/2014/main" id="{91898AFC-F1AC-488F-9E3D-8A357271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323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afety-heading-03">
            <a:extLst xmlns:a="http://schemas.openxmlformats.org/drawingml/2006/main">
              <a:ext uri="{FF2B5EF4-FFF2-40B4-BE49-F238E27FC236}">
                <a16:creationId xmlns:a16="http://schemas.microsoft.com/office/drawing/2014/main" id="{86EAEA31-0AC3-451A-9A9A-03CA8BEA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908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88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Code blocks unsafe merges</a:t>
            </a:r>
          </a:p>
        </p:txBody>
      </p:sp>
      <p:sp>
        <p:nvSpPr>
          <p:cNvPr id="12" name="safety-body-03">
            <a:extLst xmlns:a="http://schemas.openxmlformats.org/drawingml/2006/main">
              <a:ext uri="{FF2B5EF4-FFF2-40B4-BE49-F238E27FC236}">
                <a16:creationId xmlns:a16="http://schemas.microsoft.com/office/drawing/2014/main" id="{3CD4A491-5733-441B-BEB5-F93C89B2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314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238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Only approved mappings and transforms can reach ETL or plotting artifacts.</a:t>
            </a:r>
          </a:p>
        </p:txBody>
      </p:sp>
      <p:sp>
        <p:nvSpPr>
          <p:cNvPr id="15" name="heatmap-frame">
            <a:extLst xmlns:a="http://schemas.openxmlformats.org/drawingml/2006/main">
              <a:ext uri="{FF2B5EF4-FFF2-40B4-BE49-F238E27FC236}">
                <a16:creationId xmlns:a16="http://schemas.microsoft.com/office/drawing/2014/main" id="{68C06BEE-A29F-4838-8C42-3C7352FD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190625"/>
            <a:ext cx="36195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7CB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550f5ad7043a9"/>
          <a:stretch xmlns:a="http://schemas.openxmlformats.org/drawingml/2006/main"/>
        </p:blipFill>
        <p:spPr>
          <a:xfrm xmlns:a="http://schemas.openxmlformats.org/drawingml/2006/main">
            <a:off x="4743450" y="1397494"/>
            <a:ext cx="3467100" cy="2310411"/>
          </a:xfrm>
          <a:prstGeom xmlns:a="http://schemas.openxmlformats.org/drawingml/2006/main" prst="rect">
            <a:avLst/>
          </a:prstGeom>
        </p:spPr>
      </p:pic>
      <p:sp>
        <p:nvSpPr>
          <p:cNvPr id="17" name="heatmap-caption">
            <a:extLst xmlns:a="http://schemas.openxmlformats.org/drawingml/2006/main">
              <a:ext uri="{FF2B5EF4-FFF2-40B4-BE49-F238E27FC236}">
                <a16:creationId xmlns:a16="http://schemas.microsoft.com/office/drawing/2014/main" id="{9E5B2F44-E00B-4509-808B-EAFCB661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48125"/>
            <a:ext cx="3390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Synthetic, contrast-explicit output. Unreviewed harmonization remains visible; visual similarity is not replication evidence.</a:t>
            </a:r>
          </a:p>
        </p:txBody>
      </p:sp>
    </p:spTree>
    <p:extLst>
      <p:ext uri="{BB962C8B-B14F-4D97-AF65-F5344CB8AC3E}">
        <p14:creationId xmlns:p14="http://schemas.microsoft.com/office/powerpoint/2010/main" val="37786921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C514DC7E-81F7-461C-9A1E-7FF432D8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METABOTYPING AGENTIC WORKBENCH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B465E2-B10A-4BB6-A517-F1C91664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The MVP passes its synthetic gate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499F795-3583-48A4-B8DA-1144F1C4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2025"/>
            <a:ext cx="7667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validation-metric">
            <a:extLst xmlns:a="http://schemas.openxmlformats.org/drawingml/2006/main">
              <a:ext uri="{FF2B5EF4-FFF2-40B4-BE49-F238E27FC236}">
                <a16:creationId xmlns:a16="http://schemas.microsoft.com/office/drawing/2014/main" id="{BE2AAA1D-E5E4-4304-A214-2530D0E9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47775"/>
            <a:ext cx="2905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1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128 / 128</a:t>
            </a:r>
          </a:p>
        </p:txBody>
      </p:sp>
      <p:sp>
        <p:nvSpPr>
          <p:cNvPr id="5" name="validation-caption">
            <a:extLst xmlns:a="http://schemas.openxmlformats.org/drawingml/2006/main">
              <a:ext uri="{FF2B5EF4-FFF2-40B4-BE49-F238E27FC236}">
                <a16:creationId xmlns:a16="http://schemas.microsoft.com/office/drawing/2014/main" id="{7E2316F7-294A-4AA9-935A-94C71ACB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offline synthetic tests passed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5B67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770"/>
                </a:solidFill>
                <a:latin typeface="Arial"/>
                <a:ea typeface="Arial"/>
                <a:cs typeface="Arial"/>
              </a:rPr>
              <a:t>verified 19 August 2026</a:t>
            </a:r>
          </a:p>
        </p:txBody>
      </p:sp>
      <p:sp>
        <p:nvSpPr>
          <p:cNvPr id="6" name="metric-divider">
            <a:extLst xmlns:a="http://schemas.openxmlformats.org/drawingml/2006/main">
              <a:ext uri="{FF2B5EF4-FFF2-40B4-BE49-F238E27FC236}">
                <a16:creationId xmlns:a16="http://schemas.microsoft.com/office/drawing/2014/main" id="{49CE0C40-818B-41A4-BF9C-7084F3EE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nventory-summary">
            <a:extLst xmlns:a="http://schemas.openxmlformats.org/drawingml/2006/main">
              <a:ext uri="{FF2B5EF4-FFF2-40B4-BE49-F238E27FC236}">
                <a16:creationId xmlns:a16="http://schemas.microsoft.com/office/drawing/2014/main" id="{ADCE7BE8-DA57-4A07-A513-905F6158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28925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21 paired agent roles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23 paired skill contracts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Network-free offline core</a:t>
            </a:r>
          </a:p>
        </p:txBody>
      </p:sp>
      <p:sp>
        <p:nvSpPr>
          <p:cNvPr id="8" name="proves-heading">
            <a:extLst xmlns:a="http://schemas.openxmlformats.org/drawingml/2006/main">
              <a:ext uri="{FF2B5EF4-FFF2-40B4-BE49-F238E27FC236}">
                <a16:creationId xmlns:a16="http://schemas.microsoft.com/office/drawing/2014/main" id="{7C112055-52F0-4225-A49E-E904F25C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257300"/>
            <a:ext cx="3905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75E5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5E54"/>
                </a:solidFill>
                <a:latin typeface="Arial"/>
                <a:ea typeface="Arial"/>
                <a:cs typeface="Arial"/>
              </a:rPr>
              <a:t>What this demonstrates</a:t>
            </a:r>
          </a:p>
        </p:txBody>
      </p:sp>
      <p:sp>
        <p:nvSpPr>
          <p:cNvPr id="9" name="proves-body">
            <a:extLst xmlns:a="http://schemas.openxmlformats.org/drawingml/2006/main">
              <a:ext uri="{FF2B5EF4-FFF2-40B4-BE49-F238E27FC236}">
                <a16:creationId xmlns:a16="http://schemas.microsoft.com/office/drawing/2014/main" id="{11CF250D-673E-4E9A-A8C0-8418996F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19250"/>
            <a:ext cx="3905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Reproducible, deterministic rule behavior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Provenance retention across evidence artifacts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Enforcement of review and network boundaries</a:t>
            </a:r>
          </a:p>
        </p:txBody>
      </p:sp>
      <p:sp>
        <p:nvSpPr>
          <p:cNvPr id="10" name="limits-heading">
            <a:extLst xmlns:a="http://schemas.openxmlformats.org/drawingml/2006/main">
              <a:ext uri="{FF2B5EF4-FFF2-40B4-BE49-F238E27FC236}">
                <a16:creationId xmlns:a16="http://schemas.microsoft.com/office/drawing/2014/main" id="{73A862FD-F6C8-4B55-9853-1B8CA1E9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3905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8C1515"/>
                </a:solidFill>
                <a:latin typeface="Arial"/>
                <a:ea typeface="Arial"/>
                <a:cs typeface="Arial"/>
              </a:rPr>
              <a:t>What this does not demonstrate</a:t>
            </a:r>
          </a:p>
        </p:txBody>
      </p:sp>
      <p:sp>
        <p:nvSpPr>
          <p:cNvPr id="11" name="limits-body">
            <a:extLst xmlns:a="http://schemas.openxmlformats.org/drawingml/2006/main">
              <a:ext uri="{FF2B5EF4-FFF2-40B4-BE49-F238E27FC236}">
                <a16:creationId xmlns:a16="http://schemas.microsoft.com/office/drawing/2014/main" id="{9925B5FE-6F97-4BC9-9B84-ED2FA7BF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33700"/>
            <a:ext cx="390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Accuracy on independent studies or cohorts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Cross-platform assay commutability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F2D3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D3D"/>
                </a:solidFill>
                <a:latin typeface="Arial"/>
                <a:ea typeface="Arial"/>
                <a:cs typeface="Arial"/>
              </a:rPr>
              <a:t>• Biological replication or causal inference</a:t>
            </a:r>
          </a:p>
        </p:txBody>
      </p:sp>
      <p:sp>
        <p:nvSpPr>
          <p:cNvPr id="12" name="next-milestone-band">
            <a:extLst xmlns:a="http://schemas.openxmlformats.org/drawingml/2006/main">
              <a:ext uri="{FF2B5EF4-FFF2-40B4-BE49-F238E27FC236}">
                <a16:creationId xmlns:a16="http://schemas.microsoft.com/office/drawing/2014/main" id="{FACE8CE2-854A-48DC-9539-655D0D83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74485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8C1515"/>
          </a:solidFill>
          <a:ln xmlns:a="http://schemas.openxmlformats.org/drawingml/2006/main" w="9525">
            <a:solidFill>
              <a:srgbClr val="8C1515"/>
            </a:solidFill>
            <a:prstDash val="solid"/>
          </a:ln>
        </p:spPr>
      </p:sp>
      <p:sp>
        <p:nvSpPr>
          <p:cNvPr id="13" name="next-milestone-label">
            <a:extLst xmlns:a="http://schemas.openxmlformats.org/drawingml/2006/main">
              <a:ext uri="{FF2B5EF4-FFF2-40B4-BE49-F238E27FC236}">
                <a16:creationId xmlns:a16="http://schemas.microsoft.com/office/drawing/2014/main" id="{6E769E5A-AAC5-46A6-BD8B-8C54F9CE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5DAD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5DADF"/>
                </a:solidFill>
                <a:latin typeface="Arial"/>
                <a:ea typeface="Arial"/>
                <a:cs typeface="Arial"/>
              </a:rPr>
              <a:t>NEXT MILESTONE</a:t>
            </a:r>
          </a:p>
        </p:txBody>
      </p:sp>
      <p:sp>
        <p:nvSpPr>
          <p:cNvPr id="14" name="next-milestone-text">
            <a:extLst xmlns:a="http://schemas.openxmlformats.org/drawingml/2006/main">
              <a:ext uri="{FF2B5EF4-FFF2-40B4-BE49-F238E27FC236}">
                <a16:creationId xmlns:a16="http://schemas.microsoft.com/office/drawing/2014/main" id="{26332660-606F-49CE-9DC5-D35B7AFB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00525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1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Frozen public-record benchmark across diverse assay platforms</a:t>
            </a:r>
          </a:p>
          <a:p xmlns:a="http://schemas.openxmlformats.org/drawingml/2006/main">
            <a:pPr algn="l">
              <a:buNone/>
              <a:defRPr sz="1313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13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≥2 blinded curators + adjudication</a:t>
            </a:r>
          </a:p>
        </p:txBody>
      </p:sp>
    </p:spTree>
    <p:extLst>
      <p:ext uri="{BB962C8B-B14F-4D97-AF65-F5344CB8AC3E}">
        <p14:creationId xmlns:p14="http://schemas.microsoft.com/office/powerpoint/2010/main" val="377869218"/>
      </p:ext>
    </p:extLst>
  </p:cSld>
</p:sld>
</file>

<file path=ppt/theme/theme1.xml><?xml version="1.0" encoding="utf-8"?>
<a:theme xmlns:a="http://schemas.openxmlformats.org/drawingml/2006/main" name="SU_Preso_16x9_v6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ford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2026-08-19T22:25:11.0930000Z</dcterms:created>
  <dcterms:modified xsi:type="dcterms:W3CDTF">2026-08-19T22:25:11.0930000Z</dcterms:modified>
</coreProperties>
</file>