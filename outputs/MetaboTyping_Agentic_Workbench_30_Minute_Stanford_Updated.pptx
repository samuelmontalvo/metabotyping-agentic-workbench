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4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1d44cfb15f49be" /><Relationship Type="http://schemas.openxmlformats.org/officeDocument/2006/relationships/extended-properties" Target="/docProps/app.xml" Id="R132e0b6a2dc94af1" /><Relationship Type="http://schemas.openxmlformats.org/officeDocument/2006/relationships/officeDocument" Target="/ppt/presentation.xml" Id="R6e5e4f10a6f1446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b8bf15f7e744467"/>
  </p:sldMasterIdLst>
  <p:notesMasterIdLst>
    <p:notesMasterId xmlns:r="http://schemas.openxmlformats.org/officeDocument/2006/relationships" r:id="R03842d9a481e465a"/>
  </p:notesMasterIdLst>
  <p:sldIdLst>
    <p:sldId xmlns:r="http://schemas.openxmlformats.org/officeDocument/2006/relationships" id="256" r:id="Rac081b0ffad341b3"/>
    <p:sldId xmlns:r="http://schemas.openxmlformats.org/officeDocument/2006/relationships" id="257" r:id="Rbd917676ecba487d"/>
    <p:sldId xmlns:r="http://schemas.openxmlformats.org/officeDocument/2006/relationships" id="258" r:id="R23a801d60e614ef7"/>
    <p:sldId xmlns:r="http://schemas.openxmlformats.org/officeDocument/2006/relationships" id="259" r:id="R904c272da52040dc"/>
    <p:sldId xmlns:r="http://schemas.openxmlformats.org/officeDocument/2006/relationships" id="260" r:id="R5a242a86483a4386"/>
    <p:sldId xmlns:r="http://schemas.openxmlformats.org/officeDocument/2006/relationships" id="261" r:id="Rc7b0315010dd467d"/>
    <p:sldId xmlns:r="http://schemas.openxmlformats.org/officeDocument/2006/relationships" id="262" r:id="Ra67e0ad5468540a1"/>
    <p:sldId xmlns:r="http://schemas.openxmlformats.org/officeDocument/2006/relationships" id="263" r:id="Rfb702be2256749f6"/>
    <p:sldId xmlns:r="http://schemas.openxmlformats.org/officeDocument/2006/relationships" id="264" r:id="Re892ea26c8d24f14"/>
    <p:sldId xmlns:r="http://schemas.openxmlformats.org/officeDocument/2006/relationships" id="265" r:id="Rcda7f9adc6464342"/>
    <p:sldId xmlns:r="http://schemas.openxmlformats.org/officeDocument/2006/relationships" id="266" r:id="Re1ba1978c9b3460e"/>
    <p:sldId xmlns:r="http://schemas.openxmlformats.org/officeDocument/2006/relationships" id="267" r:id="R3b6f5e19a16d4a24"/>
    <p:sldId xmlns:r="http://schemas.openxmlformats.org/officeDocument/2006/relationships" id="268" r:id="Rabc9a06e27004ad2"/>
    <p:sldId xmlns:r="http://schemas.openxmlformats.org/officeDocument/2006/relationships" id="269" r:id="R50753d3cfc1344da"/>
  </p:sldIdLst>
  <p:sldSz cx="9144000" cy="5143500"/>
  <p:notesSz cx="6858000" cy="9144000"/>
  <p:embeddedFontLst>
    <p:embeddedFont>
      <p:font typeface="Helvetica Neue Light"/>
      <p:regular xmlns:r="http://schemas.openxmlformats.org/officeDocument/2006/relationships" r:id="R8fa64bb7e6ff4b78"/>
      <p:bold xmlns:r="http://schemas.openxmlformats.org/officeDocument/2006/relationships" r:id="Re640e2ed232d4f6a"/>
      <p:italic xmlns:r="http://schemas.openxmlformats.org/officeDocument/2006/relationships" r:id="Rd6bd6286cfc54c37"/>
      <p:boldItalic xmlns:r="http://schemas.openxmlformats.org/officeDocument/2006/relationships" r:id="Rf6d8c20ef42f4ac1"/>
    </p:embeddedFont>
    <p:embeddedFont>
      <p:font typeface="Open Sans"/>
      <p:regular xmlns:r="http://schemas.openxmlformats.org/officeDocument/2006/relationships" r:id="R4945eeeff0fc4a38"/>
      <p:bold xmlns:r="http://schemas.openxmlformats.org/officeDocument/2006/relationships" r:id="Rb183c629a21d4c4a"/>
      <p:italic xmlns:r="http://schemas.openxmlformats.org/officeDocument/2006/relationships" r:id="Ra844ac4804f248c0"/>
      <p:boldItalic xmlns:r="http://schemas.openxmlformats.org/officeDocument/2006/relationships" r:id="R70883127cdf043ce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12ba0742c04c05" /><Relationship Type="http://schemas.openxmlformats.org/officeDocument/2006/relationships/slideMaster" Target="/ppt/slideMasters/slideMaster1.xml" Id="Rfb8bf15f7e744467" /><Relationship Type="http://schemas.openxmlformats.org/officeDocument/2006/relationships/notesMaster" Target="/ppt/notesMasters/notesMaster1.xml" Id="R03842d9a481e465a" /><Relationship Type="http://schemas.openxmlformats.org/officeDocument/2006/relationships/presProps" Target="/ppt/presProps.xml" Id="Re9c604750090443f" /><Relationship Type="http://schemas.openxmlformats.org/officeDocument/2006/relationships/viewProps" Target="/ppt/viewProps.xml" Id="Rd921e3728c07437e" /><Relationship Type="http://schemas.openxmlformats.org/officeDocument/2006/relationships/tableStyles" Target="/ppt/tableStyles.xml" Id="Rab4405dc5dec4dd9" /><Relationship Type="http://schemas.openxmlformats.org/officeDocument/2006/relationships/font" Target="/ppt/fonts/font.dat" Id="R8fa64bb7e6ff4b78" /><Relationship Type="http://schemas.openxmlformats.org/officeDocument/2006/relationships/font" Target="/ppt/fonts/font2.dat" Id="Re640e2ed232d4f6a" /><Relationship Type="http://schemas.openxmlformats.org/officeDocument/2006/relationships/font" Target="/ppt/fonts/font3.dat" Id="Rd6bd6286cfc54c37" /><Relationship Type="http://schemas.openxmlformats.org/officeDocument/2006/relationships/font" Target="/ppt/fonts/font4.dat" Id="Rf6d8c20ef42f4ac1" /><Relationship Type="http://schemas.openxmlformats.org/officeDocument/2006/relationships/font" Target="/ppt/fonts/font5.dat" Id="R4945eeeff0fc4a38" /><Relationship Type="http://schemas.openxmlformats.org/officeDocument/2006/relationships/font" Target="/ppt/fonts/font6.dat" Id="Rb183c629a21d4c4a" /><Relationship Type="http://schemas.openxmlformats.org/officeDocument/2006/relationships/font" Target="/ppt/fonts/font7.dat" Id="Ra844ac4804f248c0" /><Relationship Type="http://schemas.openxmlformats.org/officeDocument/2006/relationships/font" Target="/ppt/fonts/font8.dat" Id="R70883127cdf043ce" /><Relationship Type="http://schemas.openxmlformats.org/officeDocument/2006/relationships/slide" Target="/ppt/slides/slide1.xml" Id="Rac081b0ffad341b3" /><Relationship Type="http://schemas.openxmlformats.org/officeDocument/2006/relationships/slide" Target="/ppt/slides/slide2.xml" Id="Rbd917676ecba487d" /><Relationship Type="http://schemas.openxmlformats.org/officeDocument/2006/relationships/slide" Target="/ppt/slides/slide3.xml" Id="R23a801d60e614ef7" /><Relationship Type="http://schemas.openxmlformats.org/officeDocument/2006/relationships/slide" Target="/ppt/slides/slide4.xml" Id="R904c272da52040dc" /><Relationship Type="http://schemas.openxmlformats.org/officeDocument/2006/relationships/slide" Target="/ppt/slides/slide5.xml" Id="R5a242a86483a4386" /><Relationship Type="http://schemas.openxmlformats.org/officeDocument/2006/relationships/slide" Target="/ppt/slides/slide6.xml" Id="Rc7b0315010dd467d" /><Relationship Type="http://schemas.openxmlformats.org/officeDocument/2006/relationships/slide" Target="/ppt/slides/slide7.xml" Id="Ra67e0ad5468540a1" /><Relationship Type="http://schemas.openxmlformats.org/officeDocument/2006/relationships/slide" Target="/ppt/slides/slide8.xml" Id="Rfb702be2256749f6" /><Relationship Type="http://schemas.openxmlformats.org/officeDocument/2006/relationships/slide" Target="/ppt/slides/slide9.xml" Id="Re892ea26c8d24f14" /><Relationship Type="http://schemas.openxmlformats.org/officeDocument/2006/relationships/slide" Target="/ppt/slides/slide10.xml" Id="Rcda7f9adc6464342" /><Relationship Type="http://schemas.openxmlformats.org/officeDocument/2006/relationships/slide" Target="/ppt/slides/slide11.xml" Id="Re1ba1978c9b3460e" /><Relationship Type="http://schemas.openxmlformats.org/officeDocument/2006/relationships/slide" Target="/ppt/slides/slide12.xml" Id="R3b6f5e19a16d4a24" /><Relationship Type="http://schemas.openxmlformats.org/officeDocument/2006/relationships/slide" Target="/ppt/slides/slide13.xml" Id="Rabc9a06e27004ad2" /><Relationship Type="http://schemas.openxmlformats.org/officeDocument/2006/relationships/slide" Target="/ppt/slides/slide14.xml" Id="R50753d3cfc1344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c20322e12aa44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ef6a7111d841b6" /><Relationship Type="http://schemas.openxmlformats.org/officeDocument/2006/relationships/notesMaster" Target="/ppt/notesMasters/notesMaster1.xml" Id="R3f9ec4d72fe444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06454bdd3e84af3" /><Relationship Type="http://schemas.openxmlformats.org/officeDocument/2006/relationships/notesMaster" Target="/ppt/notesMasters/notesMaster1.xml" Id="R038b3d3e3c4a40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8cb5fb62184a64" /><Relationship Type="http://schemas.openxmlformats.org/officeDocument/2006/relationships/notesMaster" Target="/ppt/notesMasters/notesMaster1.xml" Id="Re44791c17c6c4a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d696d1d3fa4a13" /><Relationship Type="http://schemas.openxmlformats.org/officeDocument/2006/relationships/notesMaster" Target="/ppt/notesMasters/notesMaster1.xml" Id="R9e37d7eec75440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6f6577bdce41c5" /><Relationship Type="http://schemas.openxmlformats.org/officeDocument/2006/relationships/notesMaster" Target="/ppt/notesMasters/notesMaster1.xml" Id="R821f513c48ac43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f08742de404fc9" /><Relationship Type="http://schemas.openxmlformats.org/officeDocument/2006/relationships/notesMaster" Target="/ppt/notesMasters/notesMaster1.xml" Id="R551da1e8c090424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3aed6757a84c57" /><Relationship Type="http://schemas.openxmlformats.org/officeDocument/2006/relationships/notesMaster" Target="/ppt/notesMasters/notesMaster1.xml" Id="R910d0838a59746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9bbfc2a3174a54" /><Relationship Type="http://schemas.openxmlformats.org/officeDocument/2006/relationships/notesMaster" Target="/ppt/notesMasters/notesMaster1.xml" Id="R00efa13f2b11431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e611c9c024c429a" /><Relationship Type="http://schemas.openxmlformats.org/officeDocument/2006/relationships/notesMaster" Target="/ppt/notesMasters/notesMaster1.xml" Id="R558f3abee76940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effd36f04d4736" /><Relationship Type="http://schemas.openxmlformats.org/officeDocument/2006/relationships/notesMaster" Target="/ppt/notesMasters/notesMaster1.xml" Id="R185ec65d7ad540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8dc28dad2b943e6" /><Relationship Type="http://schemas.openxmlformats.org/officeDocument/2006/relationships/notesMaster" Target="/ppt/notesMasters/notesMaster1.xml" Id="Rd412f33d76b0438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97ffe069f014cbe" /><Relationship Type="http://schemas.openxmlformats.org/officeDocument/2006/relationships/notesMaster" Target="/ppt/notesMasters/notesMaster1.xml" Id="R4e333918542545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cf56347d544016" /><Relationship Type="http://schemas.openxmlformats.org/officeDocument/2006/relationships/notesMaster" Target="/ppt/notesMasters/notesMaster1.xml" Id="R76ef73bb9a5341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7b65a28bb8443c" /><Relationship Type="http://schemas.openxmlformats.org/officeDocument/2006/relationships/notesMaster" Target="/ppt/notesMasters/notesMaster1.xml" Id="Ra6c0126672ad4d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1 minute.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 with the expanded scope: the workbench can now start from a gene, metabolite, study, paper, or variable, but every path still ends in reviewable evidence rather than an autonomous scientific claim.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Preview the throughline: allowlisted retrieval, offline appraisal, explicit uncertainty states, human gates, and executable regression tests.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/Users/samuelmontalvo/Documents/GitHub/metabotyping-agentic-workbench/docs/skill_evaluation_report.md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/Users/samuelmontalvo/.codex/skills/stanford-presentation-template/assets/stanford-slide-template.pptx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frozen public corpus shows abundance, not immediate comparability.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Emphasize the different denominators: study summaries, analyses, feature incidences, and reference nomenclature cannot be treated as one count.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scientific bottleneck is proving identity, assay, timing, phenotype, and estimand compatibility before combining results.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/Users/samuelmontalvo/Documents/GitHub/metabotyping-agentic-workbench/reports_live/final_workbench_report/figures/corpus_landscape.png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/Users/samuelmontalvo/Documents/GitHub/metabotyping-agentic-workbench/reports_live/final_workbench_report/final_report.html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/Users/samuelmontalvo/Documents/GitHub/metabotyping-agentic-workbench/data/live/mw_corpus_snapshot/manifest.json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Aim 1 discovers and ranks candidate studies while detecting mirages.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Aim 2 extracts evidence cards, proposes variable and assay mappings, and routes uncertain decisions to review.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Aim 3 scores metadata readiness and supports MoTrPAC-like comparison planning without asserting equivalence.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/Users/samuelmontalvo/Documents/GitHub/metabotyping-agentic-workbench/docs/manuscript/figures/metabotyping_agentic_workbench_aims.png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/Users/samuelmontalvo/Documents/GitHub/metabotyping-agentic-workbench/README.md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2.5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update is not another free-form agent layer. It adds explicit entry points and keeps retrieval separate from appraisal.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gene route uses MetGENE and Metabolomics Workbench contexts; metabolite, study, effect, and literature routes use their own allowlisted adapters.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Retrieved records are appraised offline into typed inference, coverage, evidence-card, and review artifacts.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Licence, chemical identity, protocol, and estimand decisions remain named human gates. Unavailable, no-hit, unresolved, server-error, empty-body, and not-requested states are not collapsed.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/Users/samuelmontalvo/Documents/GitHub/metabotyping-agentic-workbench/AGENTS.md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/Users/samuelmontalvo/Documents/GitHub/metabotyping-agentic-workbench/src/metabotyping_agentic/knowledge/source_registry.py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/Users/samuelmontalvo/Documents/GitHub/metabotyping-agentic-workbench/src/metabotyping_agentic/live_sources/literature_search.py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/Users/samuelmontalvo/Documents/GitHub/metabotyping-agentic-workbench/src/metabotyping_agentic/discovery/gene_metabolite_evidence.py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synthetic ranking rewards direct exercise/activity evidence, genetics, CPET, body composition, diet, and usable repository assets.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Two superficially relevant studies remain mirages because repository data or a codebook is missing.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animal study is excluded by the human-participant criterion even though some metadata fields are complete.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/Users/samuelmontalvo/Documents/GitHub/metabotyping-agentic-workbench/reports/aim1_catalog_report.md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/Users/samuelmontalvo/Documents/GitHub/metabotyping-agentic-workbench/data/extracted/recommendations.csv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screenshot to show what human-in-the-loop means operationally: reviewers see the source variable, candidate target, context, rationale, and provenance together.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highlighted VO2peak example is intentionally not auto-collapsed to vo2max without protocol evidence.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training interface uses synthetic data and public resource names only as instructional context.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/Users/samuelmontalvo/Documents/GitHub/metabotyping-agentic-workbench/docs/metabo-diet-training-app/index.html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/Users/samuelmontalvo/Documents/GitHub/metabotyping-agentic-workbench/tmp/stanford_30min_deck/metabo_app_screenshot.png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/Users/samuelmontalvo/Documents/GitHub/metabotyping-agentic-workbench/reports/aim2_harmonization_report.md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Three examples show why label similarity is not a decision rule.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Exact identity with compatible unit and endpoint evidence can be accepted.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VO2peak to VO2max stays review-required until the exercise protocol and endpoint criteria are documented.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 unsupported diet score remains not mapped rather than being forced into a convenient category.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/Users/samuelmontalvo/Documents/GitHub/metabotyping-agentic-workbench/reports/aim2_harmonization_report.md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/Users/samuelmontalvo/Documents/GitHub/metabotyping-agentic-workbench/data/extracted/crosswalk.csv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score combines study-design rigor, metadata completeness, metabolomics quality, and harmonization feasibility.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animal fixture to explain the separation between readiness and eligibility: a record can be well described yet still outside the target population.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score is a curation triage signal, not validated overall study quality or risk of bias.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/Users/samuelmontalvo/Documents/GitHub/metabotyping-agentic-workbench/reports/aim3_evaluation_report.md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/Users/samuelmontalvo/Documents/GitHub/metabotyping-agentic-workbench/data/extracted/quality_scores.json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alignment score records whether metadata contain prerequisites for a MoTrPAC-style comparison plan.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High readiness means the planning fields are present; it does not establish protocol equivalence, biological replication, or pooling permission.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lowest score is driven by missing repository assets and core metadata, not a biological conclusion.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/Users/samuelmontalvo/Documents/GitHub/metabotyping-agentic-workbench/reports/motrpac_alignment_report.md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/Users/samuelmontalvo/Documents/GitHub/metabotyping-agentic-workbench/reports/motrpac_alignment.json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2.5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This synthetic demonstration retains four distinct contrasts: MoTrPAC acute, MoTrPAC eight-week, MW acute, and MW trained versus baseline.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shared heatmap is restricted to reviewed canonical labels; each value remains tied to its original study contrast.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visual is a planning and review artifact. Similarity across panels is not evidence of harmonized replication.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/Users/samuelmontalvo/Documents/GitHub/metabotyping-agentic-workbench/reports/synthetic_four_study_figure/motrpac_mw_four_study_multiplot.png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/Users/samuelmontalvo/Documents/GitHub/metabotyping-agentic-workbench/reports/synthetic_four_study_figure/study_contrast_metadata.csv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/Users/samuelmontalvo/Documents/GitHub/metabotyping-agentic-workbench/reports/synthetic_four_study_figure/four_study_differential_results.csv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2.5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Walk the chain one hop at a time: queried gene to annotated reaction, reaction to compound, compound to standardized name, and standardized name to a repository study candidate.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Each hop explicitly states what it establishes and what it does not establish. The ledger writes measurement_established=not_established throughout.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MetGENE rows are KEGG-derived and are withheld unless a reviewer acknowledges the personal, non-commercial licence posture; provenance and escalation records are written either way.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candidate study accession must be re-fetched directly from Metabolomics Workbench before describing its matrix, platform, measurement, or result.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/Users/samuelmontalvo/Documents/GitHub/metabotyping-agentic-workbench/.agents/skills/gene-centric-metabolite-lookup/SKILL.md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/Users/samuelmontalvo/Documents/GitHub/metabotyping-agentic-workbench/src/metabotyping_agentic/live_sources/metgene.py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/Users/samuelmontalvo/Documents/GitHub/metabotyping-agentic-workbench/src/metabotyping_agentic/discovery/gene_metabolite_evidence.py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/Users/samuelmontalvo/Documents/GitHub/metabotyping-agentic-workbench/src/metabotyping_agentic/live_sources/metabolomics_workbench.py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strict offline synthetic release gate now reports 210 passed tests with no failures, errors, or skips.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new gene-centric integrity gate contributes 54 tests covering licence withholding, annotation-versus-measurement semantics, distinct failure and no-hit states, adduct echo validation, and review routing.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deterministic contract audit now covers 25 paired skill names and 23 paired canonical agent roles with no inventory issues.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benchmark chart remains unchanged: the visible 80% quality-score agreement is still the imperfection to discuss. All of these are synthetic regression results, not independent scientific validation.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/Users/samuelmontalvo/Documents/GitHub/metabotyping-agentic-workbench/docs/scientific_readiness_report.md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/Users/samuelmontalvo/Documents/GitHub/metabotyping-agentic-workbench/docs/scientific_readiness_results.json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/Users/samuelmontalvo/Documents/GitHub/metabotyping-agentic-workbench/docs/skill_evaluation_report.md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/Users/samuelmontalvo/Documents/GitHub/metabotyping-agentic-workbench/tests/test_live_sources_metgene.py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/Users/samuelmontalvo/Documents/GitHub/metabotyping-agentic-workbench/reports/benchmark_report.md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2 minutes.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Recommend the next milestone as a frozen, blinded evaluation rather than another feature expansion.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Select external cohorts that span assay platforms and metadata quality, lock source snapshots and definitions, and keep experts blinded to the workbench output during reference adjudication.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Report both harmful and conservative errors: unsafe auto-accepts, missed review cases, unnecessary abstentions, and score drift.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/Users/samuelmontalvo/Documents/GitHub/metabotyping-agentic-workbench/docs/agent_architecture_evaluation.md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/Users/samuelmontalvo/Documents/GitHub/metabotyping-agentic-workbench/reports/benchmark_report.md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/Users/samuelmontalvo/Documents/GitHub/metabotyping-agentic-workbench/docs/scientific_readiness_report.md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Timing: approximately 4 minutes for synthesis and discussion.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Close by returning to the opening: scale creates opportunity only when comparability decisions are traceable and review-gated.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Invite discussion around the first external validation cohort, assay diversity, and adjudication team.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/Users/samuelmontalvo/Documents/GitHub/metabotyping-agentic-workbench/README.md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/Users/samuelmontalvo/Documents/GitHub/metabotyping-agentic-workbench/docs/scientific_readiness_report.md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01bf6e4c0d4325" /><Relationship Type="http://schemas.openxmlformats.org/officeDocument/2006/relationships/image" Target="/ppt/media/image2.png" Id="Re2fa8804a4bd43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6da7e54804f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a8aabbd2b41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ab26e984b74d94" /><Relationship Type="http://schemas.openxmlformats.org/officeDocument/2006/relationships/image" Target="/ppt/media/image2.png" Id="R8e06c8e7f2204b8c" /><Relationship Type="http://schemas.openxmlformats.org/officeDocument/2006/relationships/image" Target="/ppt/media/image.jpeg" Id="R53ff6c6392dc41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ace6674aa4b0e" /><Relationship Type="http://schemas.openxmlformats.org/officeDocument/2006/relationships/image" Target="/ppt/media/image2.png" Id="Raa659cb7dc8f485f" /><Relationship Type="http://schemas.openxmlformats.org/officeDocument/2006/relationships/image" Target="/ppt/media/image3.png" Id="R1fbe0017f63742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31ec4f46d94b3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dd78990cf64c8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e572a3fe747f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5aa4e59b2497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8b7c3a82d40f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86ef4d0244db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29cc88e1874ed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95317708dc41e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9c6f66cb34a21" /></Relationships>
</file>

<file path=ppt/slideLayouts/slideLayout1.xml><?xml version="1.0" encoding="utf-8"?>
<p:sldLayout xmlns:p="http://schemas.openxmlformats.org/presentationml/2006/main" showMasterSp="0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F0EE4F36-F67B-4527-B1BE-152B3224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fa8804a4bd431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2EAF26AA-32E5-418A-A82D-8B30F80DF43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57200" y="1792517"/>
            <a:ext cx="8229600" cy="61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5" name="Google Shape;15;p2">
            <a:extLst xmlns:a="http://schemas.openxmlformats.org/drawingml/2006/main">
              <a:ext uri="{FF2B5EF4-FFF2-40B4-BE49-F238E27FC236}">
                <a16:creationId xmlns:a16="http://schemas.microsoft.com/office/drawing/2014/main" id="{1B920421-4BAC-4C9D-B776-263619897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5" y="3599022"/>
            <a:ext cx="6059400" cy="20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marL="457200" marR="0" indent="-22860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16" name="Google Shape;16;p2">
            <a:extLst xmlns:a="http://schemas.openxmlformats.org/drawingml/2006/main">
              <a:ext uri="{FF2B5EF4-FFF2-40B4-BE49-F238E27FC236}">
                <a16:creationId xmlns:a16="http://schemas.microsoft.com/office/drawing/2014/main" id="{A88C6270-B3F8-4849-8835-0A2CD2A5D4AE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57200" y="2410990"/>
            <a:ext cx="8229600" cy="4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0" marR="0" indent="0" algn="ctr">
              <a:spcBef>
                <a:spcPts val="420"/>
              </a:spcBef>
              <a:spcAft>
                <a:spcPts val="0"/>
              </a:spcAft>
              <a:buClr>
                <a:schemeClr val="lt2"/>
              </a:buClr>
              <a:buSzPts val="2100"/>
              <a:buFont typeface="Noto Sans Symbols"/>
              <a:buNone/>
              <a:defRPr sz="2100" b="0" i="0" u="none" cap="small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4572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9144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13716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1828800" marR="0" indent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22860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6pPr>
            <a:lvl7pPr marL="27432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7pPr>
            <a:lvl8pPr marL="32004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8pPr>
            <a:lvl9pPr marL="3657600" marR="0" indent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cap="none">
                <a:solidFill>
                  <a:srgbClr val="888888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Title without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>
  <p:cSld name="Title and Content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89D039DA-11AE-4B77-822A-D753A2C9B4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DB4A6F2E-7B78-4499-B25D-1363E37EA1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showMasterSp="0" matchingName="Section Header Replaceable Image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21466614-A301-43B8-BC86-5B5789D7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Google Shape;24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06c8e7f2204b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" name="Google Shape;25;p5">
            <a:extLst xmlns:a="http://schemas.openxmlformats.org/drawingml/2006/main">
              <a:ext uri="{FF2B5EF4-FFF2-40B4-BE49-F238E27FC236}">
                <a16:creationId xmlns:a16="http://schemas.microsoft.com/office/drawing/2014/main" id="{2D796201-9D70-419F-AC6D-9E325FBE8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6" name="Google Shape;26;p5">
            <a:extLst xmlns:a="http://schemas.openxmlformats.org/drawingml/2006/main">
              <a:ext uri="{FF2B5EF4-FFF2-40B4-BE49-F238E27FC236}">
                <a16:creationId xmlns:a16="http://schemas.microsoft.com/office/drawing/2014/main" id="{DBE177CE-3ADE-4B9F-A862-DEE63419AE7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27" name="Google Shape;27;p5">
            <a:extLst xmlns:a="http://schemas.openxmlformats.org/drawingml/2006/main">
              <a:ext uri="{FF2B5EF4-FFF2-40B4-BE49-F238E27FC236}">
                <a16:creationId xmlns:a16="http://schemas.microsoft.com/office/drawing/2014/main" id="{0A944063-2AC1-411A-BE33-B483F2511A8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665662" y="1535112"/>
            <a:ext cx="1950900" cy="1950900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53ff6c6392dc4112">
              <a:alphaModFix/>
            </a:blip>
            <a:stretch>
              <a:fillRect l="0" t="0" r="0" b="0"/>
            </a:stretch>
          </a:blipFill>
          <a:ln xmlns:a="http://schemas.openxmlformats.org/drawingml/2006/main" w="44450" cmpd="sng">
            <a:solidFill>
              <a:schemeClr val="lt1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50800" dist="25400" dir="2700000" algn="tl" rotWithShape="0">
              <a:srgbClr val="000000">
                <a:alpha val="35690"/>
              </a:srgbClr>
            </a:outerShdw>
          </a:effectLst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342900" marR="0" indent="-3429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288925" marR="0" indent="-288925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569913" marR="0" indent="-227013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1258888" marR="0" indent="-230188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5146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29718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4290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3886200" marR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showMasterSp="0" matchingName="Section Header Stanford">
  <p:cSld name="Section Header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6">
            <a:extLst xmlns:a="http://schemas.openxmlformats.org/drawingml/2006/main">
              <a:ext uri="{FF2B5EF4-FFF2-40B4-BE49-F238E27FC236}">
                <a16:creationId xmlns:a16="http://schemas.microsoft.com/office/drawing/2014/main" id="{FB75C3A3-CD70-4CB0-B0DE-8EFB1AA8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06950"/>
            <a:ext cx="9155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blurRad="38100" dist="25400" dir="2700000" algn="br" rotWithShape="0">
              <a:srgbClr val="000000">
                <a:alpha val="60000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" name="Google Shape;30;p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659cb7dc8f48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56450" y="4883150"/>
            <a:ext cx="1511973" cy="188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p6">
            <a:extLst xmlns:a="http://schemas.openxmlformats.org/drawingml/2006/main">
              <a:ext uri="{FF2B5EF4-FFF2-40B4-BE49-F238E27FC236}">
                <a16:creationId xmlns:a16="http://schemas.microsoft.com/office/drawing/2014/main" id="{AC4A277E-3954-4AE4-9F7F-E1F791D456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603377" y="1538765"/>
            <a:ext cx="2954400" cy="92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2" name="Google Shape;32;p6">
            <a:extLst xmlns:a="http://schemas.openxmlformats.org/drawingml/2006/main">
              <a:ext uri="{FF2B5EF4-FFF2-40B4-BE49-F238E27FC236}">
                <a16:creationId xmlns:a16="http://schemas.microsoft.com/office/drawing/2014/main" id="{08DF6BBA-ACE7-4314-BF96-78F9C8F11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603377" y="2571750"/>
            <a:ext cx="2954400" cy="93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r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A4001D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24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None/>
              <a:defRPr sz="12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200"/>
              </a:spcBef>
              <a:spcAft>
                <a:spcPts val="0"/>
              </a:spcAft>
              <a:buClr>
                <a:schemeClr val="lt2"/>
              </a:buClr>
              <a:buSzPts val="1020"/>
              <a:buFont typeface="Source Sans Pro"/>
              <a:buNone/>
              <a:defRPr sz="10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Arial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180"/>
              </a:spcBef>
              <a:spcAft>
                <a:spcPts val="0"/>
              </a:spcAft>
              <a:buClr>
                <a:schemeClr val="lt2"/>
              </a:buClr>
              <a:buSzPts val="900"/>
              <a:buFont typeface="Source Sans Pro"/>
              <a:buNone/>
              <a:defRPr sz="9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pic>
        <p:nvPicPr>
          <p:cNvPr id="39" name="Google Shape;33;p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be0017f637421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5651" y="1596299"/>
            <a:ext cx="1950900" cy="1950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6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F1A99D11-69BD-4C1F-8E75-C353A69C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5" y="793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45700" tIns="0" rIns="4570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sz="1000" b="0" i="0" u="none" cap="none">
                <a:solidFill>
                  <a:srgbClr val="7F7F7F"/>
                </a:solidFill>
                <a:latin typeface="Arial"/>
                <a:ea typeface="Arial"/>
                <a:cs typeface="Arial"/>
              </a:rPr>
              <a:t>‹#›</a:t>
            </a:fld>
            <a:endParaRPr sz="1000" b="0" i="0" u="none" cap="none">
              <a:solidFill>
                <a:srgbClr val="7F7F7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62508692-C0A5-4C0E-9A6C-FA110D7E27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402F539F-4155-4A46-ADD4-CDEECB9F4EA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38" name="Google Shape;38;p7">
            <a:extLst xmlns:a="http://schemas.openxmlformats.org/drawingml/2006/main">
              <a:ext uri="{FF2B5EF4-FFF2-40B4-BE49-F238E27FC236}">
                <a16:creationId xmlns:a16="http://schemas.microsoft.com/office/drawing/2014/main" id="{F3C212B9-C304-43F6-9216-CB4A56575CA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5"/>
            <a:ext cx="37797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Four Content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Google Shape;40;p8">
            <a:extLst xmlns:a="http://schemas.openxmlformats.org/drawingml/2006/main">
              <a:ext uri="{FF2B5EF4-FFF2-40B4-BE49-F238E27FC236}">
                <a16:creationId xmlns:a16="http://schemas.microsoft.com/office/drawing/2014/main" id="{D1525A59-BE9D-4754-AFD4-74DC97C5E5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1" name="Google Shape;41;p8">
            <a:extLst xmlns:a="http://schemas.openxmlformats.org/drawingml/2006/main">
              <a:ext uri="{FF2B5EF4-FFF2-40B4-BE49-F238E27FC236}">
                <a16:creationId xmlns:a16="http://schemas.microsoft.com/office/drawing/2014/main" id="{9A9BC7A7-D23E-4D43-9161-451A782824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6"/>
            <a:ext cx="37878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2" name="Google Shape;42;p8">
            <a:extLst xmlns:a="http://schemas.openxmlformats.org/drawingml/2006/main">
              <a:ext uri="{FF2B5EF4-FFF2-40B4-BE49-F238E27FC236}">
                <a16:creationId xmlns:a16="http://schemas.microsoft.com/office/drawing/2014/main" id="{82ED2339-A50A-464E-9B0D-E223512638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55677" y="2840613"/>
            <a:ext cx="37815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3" name="Google Shape;43;p8">
            <a:extLst xmlns:a="http://schemas.openxmlformats.org/drawingml/2006/main">
              <a:ext uri="{FF2B5EF4-FFF2-40B4-BE49-F238E27FC236}">
                <a16:creationId xmlns:a16="http://schemas.microsoft.com/office/drawing/2014/main" id="{905AB1B5-5AF2-4236-BF49-B7125D0B366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4" name="Google Shape;44;p8">
            <a:extLst xmlns:a="http://schemas.openxmlformats.org/drawingml/2006/main">
              <a:ext uri="{FF2B5EF4-FFF2-40B4-BE49-F238E27FC236}">
                <a16:creationId xmlns:a16="http://schemas.microsoft.com/office/drawing/2014/main" id="{B5230000-5869-40E7-B326-457E11E7E9D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876800" y="2840613"/>
            <a:ext cx="3779700" cy="18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1_Title and Content">
  <p:cSld name="1_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9F8E5D6F-8CB5-4209-9D43-3531A3DD57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BAD049E5-03F4-40DF-A2A7-91222EBF5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5677" y="908685"/>
            <a:ext cx="77010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2286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None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Two Content Horizontal">
  <p:cSld name="Two Content Horizonta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0">
            <a:extLst xmlns:a="http://schemas.openxmlformats.org/drawingml/2006/main">
              <a:ext uri="{FF2B5EF4-FFF2-40B4-BE49-F238E27FC236}">
                <a16:creationId xmlns:a16="http://schemas.microsoft.com/office/drawing/2014/main" id="{403547DD-41C1-492C-B6E1-B82EA97D64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0" name="Google Shape;50;p10">
            <a:extLst xmlns:a="http://schemas.openxmlformats.org/drawingml/2006/main">
              <a:ext uri="{FF2B5EF4-FFF2-40B4-BE49-F238E27FC236}">
                <a16:creationId xmlns:a16="http://schemas.microsoft.com/office/drawing/2014/main" id="{235778D7-838F-4199-B940-0C7823A230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8777" y="908685"/>
            <a:ext cx="77079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1" name="Google Shape;51;p10">
            <a:extLst xmlns:a="http://schemas.openxmlformats.org/drawingml/2006/main">
              <a:ext uri="{FF2B5EF4-FFF2-40B4-BE49-F238E27FC236}">
                <a16:creationId xmlns:a16="http://schemas.microsoft.com/office/drawing/2014/main" id="{EEE3E6A0-819A-4015-956F-6A14C35145B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49327" y="2841313"/>
            <a:ext cx="7707300" cy="181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Three Content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11">
            <a:extLst xmlns:a="http://schemas.openxmlformats.org/drawingml/2006/main">
              <a:ext uri="{FF2B5EF4-FFF2-40B4-BE49-F238E27FC236}">
                <a16:creationId xmlns:a16="http://schemas.microsoft.com/office/drawing/2014/main" id="{E0062D95-B163-4603-A63C-707394F345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8776" y="359541"/>
            <a:ext cx="7707900" cy="48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4" name="Google Shape;54;p11">
            <a:extLst xmlns:a="http://schemas.openxmlformats.org/drawingml/2006/main">
              <a:ext uri="{FF2B5EF4-FFF2-40B4-BE49-F238E27FC236}">
                <a16:creationId xmlns:a16="http://schemas.microsoft.com/office/drawing/2014/main" id="{E90F37DD-3005-452E-8C01-2EDD7C9B20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7" y="908685"/>
            <a:ext cx="3787800" cy="37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5" name="Google Shape;55;p11">
            <a:extLst xmlns:a="http://schemas.openxmlformats.org/drawingml/2006/main">
              <a:ext uri="{FF2B5EF4-FFF2-40B4-BE49-F238E27FC236}">
                <a16:creationId xmlns:a16="http://schemas.microsoft.com/office/drawing/2014/main" id="{137BAC4F-9B46-43A5-8275-7DF66E13B9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76800" y="908686"/>
            <a:ext cx="3779700" cy="18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56" name="Google Shape;56;p11">
            <a:extLst xmlns:a="http://schemas.openxmlformats.org/drawingml/2006/main">
              <a:ext uri="{FF2B5EF4-FFF2-40B4-BE49-F238E27FC236}">
                <a16:creationId xmlns:a16="http://schemas.microsoft.com/office/drawing/2014/main" id="{EB628254-D8CC-4A79-A65F-5E9EFFA5502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876800" y="2837497"/>
            <a:ext cx="3779700" cy="18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matchingNam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12">
            <a:extLst xmlns:a="http://schemas.openxmlformats.org/drawingml/2006/main">
              <a:ext uri="{FF2B5EF4-FFF2-40B4-BE49-F238E27FC236}">
                <a16:creationId xmlns:a16="http://schemas.microsoft.com/office/drawing/2014/main" id="{2360149A-0FFC-4BAF-99F1-749B28BF55C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12">
            <a:extLst xmlns:a="http://schemas.openxmlformats.org/drawingml/2006/main">
              <a:ext uri="{FF2B5EF4-FFF2-40B4-BE49-F238E27FC236}">
                <a16:creationId xmlns:a16="http://schemas.microsoft.com/office/drawing/2014/main" id="{36C3C08C-C729-4AD2-8750-89CC0CD291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Standard Layout">
  <p:cSld name="Standard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Google Shape;61;p13">
            <a:extLst xmlns:a="http://schemas.openxmlformats.org/drawingml/2006/main">
              <a:ext uri="{FF2B5EF4-FFF2-40B4-BE49-F238E27FC236}">
                <a16:creationId xmlns:a16="http://schemas.microsoft.com/office/drawing/2014/main" id="{3F505B9B-7C0C-488B-ADB1-3FAE0D7494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78250" y="206125"/>
            <a:ext cx="6427500" cy="51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Open Sans"/>
              <a:buNone/>
              <a:defRPr sz="2800">
                <a:latin typeface="Open Sans"/>
                <a:ea typeface="Open Sans"/>
                <a:cs typeface="Open Sans"/>
              </a:defRPr>
            </a:lvl1pPr>
            <a:lvl2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C1027DE9-2184-42EA-8E77-954F683EC9F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760" y="1097280"/>
            <a:ext cx="8538000" cy="338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Open Sans"/>
              <a:buNone/>
              <a:defRPr i="0">
                <a:latin typeface="Open Sans"/>
                <a:ea typeface="Open Sans"/>
                <a:cs typeface="Open Sans"/>
              </a:defRPr>
            </a:lvl1pPr>
            <a:lvl2pPr marL="914400" indent="-3429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800"/>
              <a:buFont typeface="Open Sans"/>
              <a:buChar char="▪"/>
              <a:defRPr i="0">
                <a:latin typeface="Open Sans"/>
                <a:ea typeface="Open Sans"/>
                <a:cs typeface="Open Sans"/>
              </a:defRPr>
            </a:lvl2pPr>
            <a:lvl3pPr marL="1371600" indent="-3200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262626"/>
              </a:buClr>
              <a:buSzPts val="1440"/>
              <a:buFont typeface="Open Sans"/>
              <a:buChar char="›"/>
              <a:defRPr sz="1800" i="0">
                <a:latin typeface="Open Sans"/>
                <a:ea typeface="Open Sans"/>
                <a:cs typeface="Open Sans"/>
              </a:defRPr>
            </a:lvl3pPr>
            <a:lvl4pPr marL="1828800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▪"/>
              <a:defRPr sz="1600" i="0">
                <a:latin typeface="Open Sans"/>
                <a:ea typeface="Open Sans"/>
                <a:cs typeface="Open Sans"/>
              </a:defRPr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Char char="•"/>
              <a:defRPr sz="1600" i="0">
                <a:latin typeface="Open Sans"/>
                <a:ea typeface="Open Sans"/>
                <a:cs typeface="Open Sans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E928DE46-4263-4260-9385-3A4EA9C198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4710113"/>
            <a:ext cx="28956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4" name="Google Shape;64;p13">
            <a:extLst xmlns:a="http://schemas.openxmlformats.org/drawingml/2006/main">
              <a:ext uri="{FF2B5EF4-FFF2-40B4-BE49-F238E27FC236}">
                <a16:creationId xmlns:a16="http://schemas.microsoft.com/office/drawing/2014/main" id="{70363A74-799F-4A91-AE6D-096D3815B63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526125" y="4744988"/>
            <a:ext cx="703200" cy="27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98989"/>
                </a:solidFill>
                <a:latin typeface="Helvetica Neue Light"/>
                <a:ea typeface="Helvetica Neue Light"/>
                <a:cs typeface="Helvetica Neue Light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58342549-36B8-4E54-BA33-2E901D2797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4">
            <a:extLst xmlns:a="http://schemas.openxmlformats.org/drawingml/2006/main">
              <a:ext uri="{FF2B5EF4-FFF2-40B4-BE49-F238E27FC236}">
                <a16:creationId xmlns:a16="http://schemas.microsoft.com/office/drawing/2014/main" id="{6534C163-2AA2-4A9B-882E-F01CE47800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228600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indent="-342900">
              <a:spcBef>
                <a:spcPts val="36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indent="-345186">
              <a:spcBef>
                <a:spcPts val="360"/>
              </a:spcBef>
              <a:spcAft>
                <a:spcPts val="0"/>
              </a:spcAft>
              <a:buSzPts val="1836"/>
              <a:buChar char="›"/>
              <a:defRPr/>
            </a:lvl3pPr>
            <a:lvl4pPr marL="1828800" indent="-342900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indent="-342900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5pPr>
            <a:lvl6pPr marL="27432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indent="-355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68" name="Google Shape;68;p14">
            <a:extLst xmlns:a="http://schemas.openxmlformats.org/drawingml/2006/main">
              <a:ext uri="{FF2B5EF4-FFF2-40B4-BE49-F238E27FC236}">
                <a16:creationId xmlns:a16="http://schemas.microsoft.com/office/drawing/2014/main" id="{031350E3-689F-4252-B3B1-5130923B74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69C8C013-E882-4E51-BF0C-DE6D6ACCCE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71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DE1F1796-7EAB-482B-9E82-D37E9B2CD6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72" name="Google Shape;72;p15">
            <a:extLst xmlns:a="http://schemas.openxmlformats.org/drawingml/2006/main">
              <a:ext uri="{FF2B5EF4-FFF2-40B4-BE49-F238E27FC236}">
                <a16:creationId xmlns:a16="http://schemas.microsoft.com/office/drawing/2014/main" id="{51255FBE-97F1-42D4-A28B-E868C92B16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699c0d9b28a94257" /><Relationship Type="http://schemas.openxmlformats.org/officeDocument/2006/relationships/theme" Target="/ppt/slideMasters/theme/theme2.xml" Id="Rdf3af4b42f5b4de7" /><Relationship Type="http://schemas.openxmlformats.org/officeDocument/2006/relationships/slideLayout" Target="/ppt/slideLayouts/slideLayout1.xml" Id="R187933b614bf4c61" /><Relationship Type="http://schemas.openxmlformats.org/officeDocument/2006/relationships/slideLayout" Target="/ppt/slideLayouts/slideLayout2.xml" Id="R9b2980ac61804bee" /><Relationship Type="http://schemas.openxmlformats.org/officeDocument/2006/relationships/slideLayout" Target="/ppt/slideLayouts/slideLayout3.xml" Id="R58283ad80c3c4335" /><Relationship Type="http://schemas.openxmlformats.org/officeDocument/2006/relationships/slideLayout" Target="/ppt/slideLayouts/slideLayout4.xml" Id="R789a6f096367478e" /><Relationship Type="http://schemas.openxmlformats.org/officeDocument/2006/relationships/slideLayout" Target="/ppt/slideLayouts/slideLayout5.xml" Id="Redcd8111f356440e" /><Relationship Type="http://schemas.openxmlformats.org/officeDocument/2006/relationships/slideLayout" Target="/ppt/slideLayouts/slideLayout6.xml" Id="R4e34f6472a0c4685" /><Relationship Type="http://schemas.openxmlformats.org/officeDocument/2006/relationships/slideLayout" Target="/ppt/slideLayouts/slideLayout7.xml" Id="R37748460b8b745aa" /><Relationship Type="http://schemas.openxmlformats.org/officeDocument/2006/relationships/slideLayout" Target="/ppt/slideLayouts/slideLayout8.xml" Id="R97f105f5704047d4" /><Relationship Type="http://schemas.openxmlformats.org/officeDocument/2006/relationships/slideLayout" Target="/ppt/slideLayouts/slideLayout9.xml" Id="R4b6fd80d2c5f4d5d" /><Relationship Type="http://schemas.openxmlformats.org/officeDocument/2006/relationships/slideLayout" Target="/ppt/slideLayouts/slideLayout10.xml" Id="R817a9592ef314c3d" /><Relationship Type="http://schemas.openxmlformats.org/officeDocument/2006/relationships/slideLayout" Target="/ppt/slideLayouts/slideLayout11.xml" Id="R7c825e4565cd429b" /><Relationship Type="http://schemas.openxmlformats.org/officeDocument/2006/relationships/slideLayout" Target="/ppt/slideLayouts/slideLayout12.xml" Id="Rc6b6807f56a14316" /><Relationship Type="http://schemas.openxmlformats.org/officeDocument/2006/relationships/slideLayout" Target="/ppt/slideLayouts/slideLayout13.xml" Id="R175a5b1d0234433c" /><Relationship Type="http://schemas.openxmlformats.org/officeDocument/2006/relationships/slideLayout" Target="/ppt/slideLayouts/slideLayout14.xml" Id="Rf6f78c9ddba94e6c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709AE253-A993-4D90-89A2-1F63E04A7E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49325" y="358775"/>
            <a:ext cx="7707300" cy="4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5CC0A6B0-09DE-4565-B89E-8C0DE6410F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9325" y="903288"/>
            <a:ext cx="7707300" cy="376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marR="0" indent="-228600" algn="l">
              <a:spcBef>
                <a:spcPts val="360"/>
              </a:spcBef>
              <a:spcAft>
                <a:spcPts val="0"/>
              </a:spcAft>
              <a:buSzPts val="1400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2pPr>
            <a:lvl3pPr marL="1371600" marR="0" indent="-345186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36"/>
              <a:buFont typeface="Source Sans Pro"/>
              <a:buChar char="›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3pPr>
            <a:lvl4pPr marL="18288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4pPr>
            <a:lvl5pPr marL="2286000" marR="0" indent="-342900" algn="l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Source Sans Pro"/>
              <a:buChar char="–"/>
              <a:defRPr sz="1800" b="0" i="0" u="none" cap="none">
                <a:solidFill>
                  <a:srgbClr val="595959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6pPr>
            <a:lvl7pPr marL="32004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7pPr>
            <a:lvl8pPr marL="36576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8pPr>
            <a:lvl9pPr marL="4114800" marR="0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6C414856-2C35-4D85-889B-B4EF6503D4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09538" y="4811713"/>
            <a:ext cx="846000" cy="2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spcBef>
                <a:spcPts val="0"/>
              </a:spcBef>
              <a:spcAft>
                <a:spcPts val="0"/>
              </a:spcAft>
              <a:buNone/>
              <a:defRPr sz="10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ECCDB8A1-A8E6-4E01-8074-3E12C10E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57200" cy="514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C1515"/>
          </a:solidFill>
          <a:ln xmlns:a="http://schemas.openxmlformats.org/drawingml/2006/main" w="9525" cmpd="sng">
            <a:solidFill>
              <a:srgbClr val="8C1515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5" name="Google Shape;10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9c0d9b28a9425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21525" y="4856163"/>
            <a:ext cx="1541281" cy="1900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7933b614bf4c61"/>
    <p:sldLayoutId xmlns:r="http://schemas.openxmlformats.org/officeDocument/2006/relationships" id="2147483650" r:id="R9b2980ac61804bee"/>
    <p:sldLayoutId xmlns:r="http://schemas.openxmlformats.org/officeDocument/2006/relationships" id="2147483651" r:id="R58283ad80c3c4335"/>
    <p:sldLayoutId xmlns:r="http://schemas.openxmlformats.org/officeDocument/2006/relationships" id="2147483652" r:id="R789a6f096367478e"/>
    <p:sldLayoutId xmlns:r="http://schemas.openxmlformats.org/officeDocument/2006/relationships" id="2147483653" r:id="Redcd8111f356440e"/>
    <p:sldLayoutId xmlns:r="http://schemas.openxmlformats.org/officeDocument/2006/relationships" id="2147483654" r:id="R4e34f6472a0c4685"/>
    <p:sldLayoutId xmlns:r="http://schemas.openxmlformats.org/officeDocument/2006/relationships" id="2147483655" r:id="R37748460b8b745aa"/>
    <p:sldLayoutId xmlns:r="http://schemas.openxmlformats.org/officeDocument/2006/relationships" id="2147483656" r:id="R97f105f5704047d4"/>
    <p:sldLayoutId xmlns:r="http://schemas.openxmlformats.org/officeDocument/2006/relationships" id="2147483657" r:id="R4b6fd80d2c5f4d5d"/>
    <p:sldLayoutId xmlns:r="http://schemas.openxmlformats.org/officeDocument/2006/relationships" id="2147483658" r:id="R817a9592ef314c3d"/>
    <p:sldLayoutId xmlns:r="http://schemas.openxmlformats.org/officeDocument/2006/relationships" id="2147483659" r:id="R7c825e4565cd429b"/>
    <p:sldLayoutId xmlns:r="http://schemas.openxmlformats.org/officeDocument/2006/relationships" id="2147483660" r:id="Rc6b6807f56a14316"/>
    <p:sldLayoutId xmlns:r="http://schemas.openxmlformats.org/officeDocument/2006/relationships" id="2147483661" r:id="R175a5b1d0234433c"/>
    <p:sldLayoutId xmlns:r="http://schemas.openxmlformats.org/officeDocument/2006/relationships" id="2147483662" r:id="Rf6f78c9ddba94e6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ford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abecbcada964775" /><Relationship Type="http://schemas.openxmlformats.org/officeDocument/2006/relationships/notesSlide" Target="/ppt/notesSlides/notesSlide1.xml" Id="R5fcb77af754f42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572f6764944a4d" /><Relationship Type="http://schemas.openxmlformats.org/officeDocument/2006/relationships/image" Target="/ppt/media/image4.png" Id="R14c451dbe4544ef5" /><Relationship Type="http://schemas.openxmlformats.org/officeDocument/2006/relationships/notesSlide" Target="/ppt/notesSlides/notesSlide2.xml" Id="Rd52abd4b38104ee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b1f0f434ad4c18" /><Relationship Type="http://schemas.openxmlformats.org/officeDocument/2006/relationships/image" Target="/ppt/media/image5.png" Id="R62b5d11a19db4e31" /><Relationship Type="http://schemas.openxmlformats.org/officeDocument/2006/relationships/notesSlide" Target="/ppt/notesSlides/notesSlide3.xml" Id="R2b2c6905bc1344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f931e4d8d2469f" /><Relationship Type="http://schemas.openxmlformats.org/officeDocument/2006/relationships/notesSlide" Target="/ppt/notesSlides/notesSlide4.xml" Id="R82a9d5f2bde049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2ca83100ca4072" /><Relationship Type="http://schemas.openxmlformats.org/officeDocument/2006/relationships/chart" Target="/ppt/slides/charts/chart1.xml" Id="R70abfe94dd1a420a" /><Relationship Type="http://schemas.openxmlformats.org/officeDocument/2006/relationships/notesSlide" Target="/ppt/notesSlides/notesSlide5.xml" Id="R00b0a79d891846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5cba9124754769" /><Relationship Type="http://schemas.openxmlformats.org/officeDocument/2006/relationships/image" Target="/ppt/media/image6.png" Id="R8d37c02c773e4a1e" /><Relationship Type="http://schemas.openxmlformats.org/officeDocument/2006/relationships/notesSlide" Target="/ppt/notesSlides/notesSlide6.xml" Id="R6d78fdd9cb444b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1d78fe911f47eb" /><Relationship Type="http://schemas.openxmlformats.org/officeDocument/2006/relationships/notesSlide" Target="/ppt/notesSlides/notesSlide7.xml" Id="Red7c0e0b55c84b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fcba725f2bb4bd1" /><Relationship Type="http://schemas.openxmlformats.org/officeDocument/2006/relationships/chart" Target="/ppt/slides/charts/chart2.xml" Id="Rb4379f310a094f2c" /><Relationship Type="http://schemas.openxmlformats.org/officeDocument/2006/relationships/notesSlide" Target="/ppt/notesSlides/notesSlide8.xml" Id="R5727069846d347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db3f1f13604c26" /><Relationship Type="http://schemas.openxmlformats.org/officeDocument/2006/relationships/chart" Target="/ppt/slides/charts/chart3.xml" Id="R2c62be64ce1d41c5" /><Relationship Type="http://schemas.openxmlformats.org/officeDocument/2006/relationships/notesSlide" Target="/ppt/notesSlides/notesSlide9.xml" Id="Re2e5fae2f65a48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ecfd2ece5e4144" /><Relationship Type="http://schemas.openxmlformats.org/officeDocument/2006/relationships/image" Target="/ppt/media/image7.png" Id="R95248752534e41d0" /><Relationship Type="http://schemas.openxmlformats.org/officeDocument/2006/relationships/notesSlide" Target="/ppt/notesSlides/notesSlide10.xml" Id="R5062319fa1a943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323f9abee04b88" /><Relationship Type="http://schemas.openxmlformats.org/officeDocument/2006/relationships/notesSlide" Target="/ppt/notesSlides/notesSlide11.xml" Id="R7f8241ae055b45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aa2170306445d4" /><Relationship Type="http://schemas.openxmlformats.org/officeDocument/2006/relationships/chart" Target="/ppt/slides/charts/chart4.xml" Id="Ra1f41934f87e40e6" /><Relationship Type="http://schemas.openxmlformats.org/officeDocument/2006/relationships/notesSlide" Target="/ppt/notesSlides/notesSlide12.xml" Id="R9f4bb5ba0eaf43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b142983c354711" /><Relationship Type="http://schemas.openxmlformats.org/officeDocument/2006/relationships/notesSlide" Target="/ppt/notesSlides/notesSlide13.xml" Id="R94b89e91988b4c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f495bac7321b4708" /><Relationship Type="http://schemas.openxmlformats.org/officeDocument/2006/relationships/notesSlide" Target="/ppt/notesSlides/notesSlide14.xml" Id="R4316c85e88374aa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00505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7A7D8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00505C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00505C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00505C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8C1515"/>
              </a:solidFill>
            </c:spPr>
          </c:dPt>
          <c:cat>
            <c:strLit>
              <c:ptCount val="10"/>
              <c:pt idx="0">
                <c:v>ANIMAL</c:v>
              </c:pt>
              <c:pt idx="1">
                <c:v>NO CODEBOOK</c:v>
              </c:pt>
              <c:pt idx="2">
                <c:v>NO DATA</c:v>
              </c:pt>
              <c:pt idx="3">
                <c:v>DIET + BODY</c:v>
              </c:pt>
              <c:pt idx="4">
                <c:v>RESTRICTED</c:v>
              </c:pt>
              <c:pt idx="5">
                <c:v>OMICS + GEN</c:v>
              </c:pt>
              <c:pt idx="6">
                <c:v>ACTIVITY + MET</c:v>
              </c:pt>
              <c:pt idx="7">
                <c:v>CPET-RICH</c:v>
              </c:pt>
              <c:pt idx="8">
                <c:v>MET + EX + GEN</c:v>
              </c:pt>
              <c:pt idx="9">
                <c:v>MOTRPAC-LIKE</c:v>
              </c:pt>
            </c:strLit>
          </c:cat>
          <c:val>
            <c:numLit>
              <c:formatCode>0%</c:formatCode>
              <c:ptCount val="10"/>
              <c:pt idx="0">
                <c:v>0</c:v>
              </c:pt>
              <c:pt idx="1">
                <c:v>0.54</c:v>
              </c:pt>
              <c:pt idx="2">
                <c:v>0.54</c:v>
              </c:pt>
              <c:pt idx="3">
                <c:v>0.57</c:v>
              </c:pt>
              <c:pt idx="4">
                <c:v>0.65</c:v>
              </c:pt>
              <c:pt idx="5">
                <c:v>0.65</c:v>
              </c:pt>
              <c:pt idx="6">
                <c:v>0.69</c:v>
              </c:pt>
              <c:pt idx="7">
                <c:v>0.69</c:v>
              </c:pt>
              <c:pt idx="8">
                <c:v>0.79</c:v>
              </c:pt>
              <c:pt idx="9">
                <c:v>0.95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B6B1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F5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F293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00505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7A7D80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00505C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8C1515"/>
              </a:solidFill>
            </c:spPr>
          </c:dPt>
          <c:cat>
            <c:strLit>
              <c:ptCount val="10"/>
              <c:pt idx="0">
                <c:v>NO DATA</c:v>
              </c:pt>
              <c:pt idx="1">
                <c:v>NO CODEBOOK</c:v>
              </c:pt>
              <c:pt idx="2">
                <c:v>RESTRICTED</c:v>
              </c:pt>
              <c:pt idx="3">
                <c:v>OMICS + GEN</c:v>
              </c:pt>
              <c:pt idx="4">
                <c:v>DIET + BODY</c:v>
              </c:pt>
              <c:pt idx="5">
                <c:v>ANIMAL*</c:v>
              </c:pt>
              <c:pt idx="6">
                <c:v>ACTIVITY + MET</c:v>
              </c:pt>
              <c:pt idx="7">
                <c:v>CPET-RICH</c:v>
              </c:pt>
              <c:pt idx="8">
                <c:v>MET + EX + GEN</c:v>
              </c:pt>
              <c:pt idx="9">
                <c:v>MOTRPAC-LIKE</c:v>
              </c:pt>
            </c:strLit>
          </c:cat>
          <c:val>
            <c:numLit>
              <c:formatCode>0%</c:formatCode>
              <c:ptCount val="10"/>
              <c:pt idx="0">
                <c:v>0.484</c:v>
              </c:pt>
              <c:pt idx="1">
                <c:v>0.546</c:v>
              </c:pt>
              <c:pt idx="2">
                <c:v>0.606</c:v>
              </c:pt>
              <c:pt idx="3">
                <c:v>0.629</c:v>
              </c:pt>
              <c:pt idx="4">
                <c:v>0.66</c:v>
              </c:pt>
              <c:pt idx="5">
                <c:v>0.688</c:v>
              </c:pt>
              <c:pt idx="6">
                <c:v>0.772</c:v>
              </c:pt>
              <c:pt idx="7">
                <c:v>0.818</c:v>
              </c:pt>
              <c:pt idx="8">
                <c:v>0.885</c:v>
              </c:pt>
              <c:pt idx="9">
                <c:v>0.9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B6B1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F5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F293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00505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D4F5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D4F53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2E6F9E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8C1515"/>
              </a:solidFill>
            </c:spPr>
          </c:dPt>
          <c:dPt>
            <c:idx val="9"/>
            <c:invertIfNegative val="0"/>
            <c:spPr>
              <a:solidFill xmlns:a="http://schemas.openxmlformats.org/drawingml/2006/main">
                <a:srgbClr val="8C1515"/>
              </a:solidFill>
            </c:spPr>
          </c:dPt>
          <c:cat>
            <c:strLit>
              <c:ptCount val="10"/>
              <c:pt idx="0">
                <c:v>NO DATA</c:v>
              </c:pt>
              <c:pt idx="1">
                <c:v>NO CODEBOOK</c:v>
              </c:pt>
              <c:pt idx="2">
                <c:v>ANIMAL</c:v>
              </c:pt>
              <c:pt idx="3">
                <c:v>RESTRICTED</c:v>
              </c:pt>
              <c:pt idx="4">
                <c:v>OMICS + GEN</c:v>
              </c:pt>
              <c:pt idx="5">
                <c:v>ACTIVITY + MET</c:v>
              </c:pt>
              <c:pt idx="6">
                <c:v>DIET + BODY</c:v>
              </c:pt>
              <c:pt idx="7">
                <c:v>CPET-RICH</c:v>
              </c:pt>
              <c:pt idx="8">
                <c:v>MET + EX + GEN</c:v>
              </c:pt>
              <c:pt idx="9">
                <c:v>MOTRPAC-LIKE</c:v>
              </c:pt>
            </c:strLit>
          </c:cat>
          <c:val>
            <c:numLit>
              <c:formatCode>0%</c:formatCode>
              <c:ptCount val="10"/>
              <c:pt idx="0">
                <c:v>0.364</c:v>
              </c:pt>
              <c:pt idx="1">
                <c:v>0.545</c:v>
              </c:pt>
              <c:pt idx="2">
                <c:v>0.636</c:v>
              </c:pt>
              <c:pt idx="3">
                <c:v>0.636</c:v>
              </c:pt>
              <c:pt idx="4">
                <c:v>0.727</c:v>
              </c:pt>
              <c:pt idx="5">
                <c:v>0.818</c:v>
              </c:pt>
              <c:pt idx="6">
                <c:v>0.818</c:v>
              </c:pt>
              <c:pt idx="7">
                <c:v>0.909</c:v>
              </c:pt>
              <c:pt idx="8">
                <c:v>1</c:v>
              </c:pt>
              <c:pt idx="9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F29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B6B1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F5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1F293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 xmlns:a="http://schemas.openxmlformats.org/drawingml/2006/main">
              <a:srgbClr val="00505C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98300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505C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75E54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C1515"/>
              </a:solidFill>
            </c:spPr>
          </c:dPt>
          <c:cat>
            <c:strLit>
              <c:ptCount val="4"/>
              <c:pt idx="0">
                <c:v>QUALITY SCORE AGREEMENT</c:v>
              </c:pt>
              <c:pt idx="1">
                <c:v>REVIEW-STATUS ACCURACY</c:v>
              </c:pt>
              <c:pt idx="2">
                <c:v>REVIEW CAPTURE</c:v>
              </c:pt>
              <c:pt idx="3">
                <c:v>CANDIDATE PRECISION</c:v>
              </c:pt>
            </c:strLit>
          </c:cat>
          <c:val>
            <c:numLit>
              <c:formatCode>0%</c:formatCode>
              <c:ptCount val="4"/>
              <c:pt idx="0">
                <c:v>0.8</c:v>
              </c:pt>
              <c:pt idx="1">
                <c:v>1</c:v>
              </c:pt>
              <c:pt idx="2">
                <c:v>1</c:v>
              </c:pt>
              <c:pt idx="3">
                <c:v>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B6B1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4D4F5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1F2933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69C8C013-E882-4E51-BF0C-DE6D6ACCCE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r>
              <a:t>MetaboTyping Agentic Workbench</a:t>
            </a:r>
          </a:p>
        </p:txBody>
      </p:sp>
      <p:sp>
        <p:nvSpPr>
          <p:cNvPr id="2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DE1F1796-7EAB-482B-9E82-D37E9B2CD6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r>
              <a:t>Gene-, metabolite-, study-, and variable-led evidence reuse</a:t>
            </a:r>
          </a:p>
          <a:p xmlns:a="http://schemas.openxmlformats.org/drawingml/2006/main">
            <a:r>
              <a:t>Samuel Montalvo, Ph.D. | Stanford University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Scale amplifies the comparability problem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c451dbe4544ef5"/>
          <a:stretch xmlns:a="http://schemas.openxmlformats.org/drawingml/2006/main"/>
        </p:blipFill>
        <p:spPr>
          <a:xfrm xmlns:a="http://schemas.openxmlformats.org/drawingml/2006/main">
            <a:off x="932655" y="1028700"/>
            <a:ext cx="4983165" cy="3429000"/>
          </a:xfrm>
          <a:prstGeom xmlns:a="http://schemas.openxmlformats.org/drawingml/2006/main" prst="rect">
            <a:avLst/>
          </a:prstGeom>
        </p:spPr>
      </p:pic>
      <p:sp>
        <p:nvSpPr>
          <p:cNvPr id="3" name="corpus-metric-1">
            <a:extLst xmlns:a="http://schemas.openxmlformats.org/drawingml/2006/main">
              <a:ext uri="{FF2B5EF4-FFF2-40B4-BE49-F238E27FC236}">
                <a16:creationId xmlns:a16="http://schemas.microsoft.com/office/drawing/2014/main" id="{47EA82CA-FC65-44E5-8643-D76B3293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144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4,499</a:t>
            </a:r>
          </a:p>
        </p:txBody>
      </p:sp>
      <p:sp>
        <p:nvSpPr>
          <p:cNvPr id="4" name="corpus-label-1">
            <a:extLst xmlns:a="http://schemas.openxmlformats.org/drawingml/2006/main">
              <a:ext uri="{FF2B5EF4-FFF2-40B4-BE49-F238E27FC236}">
                <a16:creationId xmlns:a16="http://schemas.microsoft.com/office/drawing/2014/main" id="{97033025-7B78-4A52-9ED7-C1497C2C8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D4F53"/>
                </a:solidFill>
                <a:latin typeface="Arial"/>
                <a:ea typeface="Arial"/>
                <a:cs typeface="Arial"/>
              </a:rPr>
              <a:t>study summaries</a:t>
            </a:r>
          </a:p>
        </p:txBody>
      </p:sp>
      <p:sp>
        <p:nvSpPr>
          <p:cNvPr id="5" name="corpus-metric-2">
            <a:extLst xmlns:a="http://schemas.openxmlformats.org/drawingml/2006/main">
              <a:ext uri="{FF2B5EF4-FFF2-40B4-BE49-F238E27FC236}">
                <a16:creationId xmlns:a16="http://schemas.microsoft.com/office/drawing/2014/main" id="{D7228A40-3798-42C4-AE83-D4EFB992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00505C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505C"/>
                </a:solidFill>
                <a:latin typeface="Arial"/>
                <a:ea typeface="Arial"/>
                <a:cs typeface="Arial"/>
              </a:rPr>
              <a:t>7,367</a:t>
            </a:r>
          </a:p>
        </p:txBody>
      </p:sp>
      <p:sp>
        <p:nvSpPr>
          <p:cNvPr id="6" name="corpus-label-2">
            <a:extLst xmlns:a="http://schemas.openxmlformats.org/drawingml/2006/main">
              <a:ext uri="{FF2B5EF4-FFF2-40B4-BE49-F238E27FC236}">
                <a16:creationId xmlns:a16="http://schemas.microsoft.com/office/drawing/2014/main" id="{57FC2633-2071-4589-8B7A-1FA6F3AD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860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4D4F53"/>
                </a:solidFill>
                <a:latin typeface="Arial"/>
                <a:ea typeface="Arial"/>
                <a:cs typeface="Arial"/>
              </a:rPr>
              <a:t>analysis records</a:t>
            </a:r>
          </a:p>
        </p:txBody>
      </p:sp>
      <p:sp>
        <p:nvSpPr>
          <p:cNvPr id="7" name="corpus-takeaway">
            <a:extLst xmlns:a="http://schemas.openxmlformats.org/drawingml/2006/main">
              <a:ext uri="{FF2B5EF4-FFF2-40B4-BE49-F238E27FC236}">
                <a16:creationId xmlns:a16="http://schemas.microsoft.com/office/drawing/2014/main" id="{2FA3076E-1FEF-427B-8F33-0FF875EF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7662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More records create more opportunities for hidden incompatibility.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Three aims turn records into reviewable decisions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b5d11a19db4e31"/>
          <a:stretch xmlns:a="http://schemas.openxmlformats.org/drawingml/2006/main"/>
        </p:blipFill>
        <p:spPr>
          <a:xfrm xmlns:a="http://schemas.openxmlformats.org/drawingml/2006/main">
            <a:off x="1504799" y="1047750"/>
            <a:ext cx="6229652" cy="3476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Every evidence path stays traceable</a:t>
            </a:r>
          </a:p>
        </p:txBody>
      </p:sp>
      <p:sp>
        <p:nvSpPr>
          <p:cNvPr id="4" name="architecture-label-entry">
            <a:extLst xmlns:a="http://schemas.openxmlformats.org/drawingml/2006/main">
              <a:ext uri="{FF2B5EF4-FFF2-40B4-BE49-F238E27FC236}">
                <a16:creationId xmlns:a16="http://schemas.microsoft.com/office/drawing/2014/main" id="{9C69249F-7669-4DBB-A2CD-512CC501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572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A7D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7D80"/>
                </a:solidFill>
                <a:latin typeface="Arial"/>
                <a:ea typeface="Arial"/>
                <a:cs typeface="Arial"/>
              </a:rPr>
              <a:t>EVIDENCE ENTRY</a:t>
            </a:r>
          </a:p>
        </p:txBody>
      </p:sp>
      <p:sp>
        <p:nvSpPr>
          <p:cNvPr id="5" name="architecture-label-retrieval">
            <a:extLst xmlns:a="http://schemas.openxmlformats.org/drawingml/2006/main">
              <a:ext uri="{FF2B5EF4-FFF2-40B4-BE49-F238E27FC236}">
                <a16:creationId xmlns:a16="http://schemas.microsoft.com/office/drawing/2014/main" id="{4F107EED-7782-4C0E-8434-4011B1E9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572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A7D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7D80"/>
                </a:solidFill>
                <a:latin typeface="Arial"/>
                <a:ea typeface="Arial"/>
                <a:cs typeface="Arial"/>
              </a:rPr>
              <a:t>ALLOWLISTED RETRIEVAL</a:t>
            </a:r>
          </a:p>
        </p:txBody>
      </p:sp>
      <p:sp>
        <p:nvSpPr>
          <p:cNvPr id="6" name="architecture-label-appraisal">
            <a:extLst xmlns:a="http://schemas.openxmlformats.org/drawingml/2006/main">
              <a:ext uri="{FF2B5EF4-FFF2-40B4-BE49-F238E27FC236}">
                <a16:creationId xmlns:a16="http://schemas.microsoft.com/office/drawing/2014/main" id="{4EAB09A2-42EA-436B-A415-6D06DEF3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572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A7D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7D80"/>
                </a:solidFill>
                <a:latin typeface="Arial"/>
                <a:ea typeface="Arial"/>
                <a:cs typeface="Arial"/>
              </a:rPr>
              <a:t>OFFLINE APPRAISAL</a:t>
            </a:r>
          </a:p>
        </p:txBody>
      </p:sp>
      <p:sp>
        <p:nvSpPr>
          <p:cNvPr id="7" name="architecture-label-review">
            <a:extLst xmlns:a="http://schemas.openxmlformats.org/drawingml/2006/main">
              <a:ext uri="{FF2B5EF4-FFF2-40B4-BE49-F238E27FC236}">
                <a16:creationId xmlns:a16="http://schemas.microsoft.com/office/drawing/2014/main" id="{68212A1E-4ED5-461D-B21E-14D1365B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057275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A7D8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A7D80"/>
                </a:solidFill>
                <a:latin typeface="Arial"/>
                <a:ea typeface="Arial"/>
                <a:cs typeface="Arial"/>
              </a:rPr>
              <a:t>HUMAN GATES</a:t>
            </a:r>
          </a:p>
        </p:txBody>
      </p:sp>
      <p:sp>
        <p:nvSpPr>
          <p:cNvPr id="8" name="entry-gene-card">
            <a:extLst xmlns:a="http://schemas.openxmlformats.org/drawingml/2006/main">
              <a:ext uri="{FF2B5EF4-FFF2-40B4-BE49-F238E27FC236}">
                <a16:creationId xmlns:a16="http://schemas.microsoft.com/office/drawing/2014/main" id="{CECD7277-6B28-45AB-AA5E-2E92F3C4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428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2EAF1"/>
          </a:solidFill>
          <a:ln xmlns:a="http://schemas.openxmlformats.org/drawingml/2006/main" w="11906">
            <a:solidFill>
              <a:srgbClr val="B998B3"/>
            </a:solidFill>
            <a:prstDash val="solid"/>
          </a:ln>
        </p:spPr>
      </p:sp>
      <p:sp>
        <p:nvSpPr>
          <p:cNvPr id="9" name="entry-gene-eyebrow">
            <a:extLst xmlns:a="http://schemas.openxmlformats.org/drawingml/2006/main">
              <a:ext uri="{FF2B5EF4-FFF2-40B4-BE49-F238E27FC236}">
                <a16:creationId xmlns:a16="http://schemas.microsoft.com/office/drawing/2014/main" id="{45AC8B8C-EB06-4A15-94EC-47510644E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284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3284F"/>
                </a:solidFill>
                <a:latin typeface="Arial"/>
                <a:ea typeface="Arial"/>
                <a:cs typeface="Arial"/>
              </a:rPr>
              <a:t>START WITH</a:t>
            </a:r>
          </a:p>
        </p:txBody>
      </p:sp>
      <p:sp>
        <p:nvSpPr>
          <p:cNvPr id="10" name="entry-gene-title">
            <a:extLst xmlns:a="http://schemas.openxmlformats.org/drawingml/2006/main">
              <a:ext uri="{FF2B5EF4-FFF2-40B4-BE49-F238E27FC236}">
                <a16:creationId xmlns:a16="http://schemas.microsoft.com/office/drawing/2014/main" id="{2433AE50-2A16-4E1B-99E8-D6401A0C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04975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Gene / protein</a:t>
            </a:r>
          </a:p>
        </p:txBody>
      </p:sp>
      <p:sp>
        <p:nvSpPr>
          <p:cNvPr id="11" name="entry-gene-detail">
            <a:extLst xmlns:a="http://schemas.openxmlformats.org/drawingml/2006/main">
              <a:ext uri="{FF2B5EF4-FFF2-40B4-BE49-F238E27FC236}">
                <a16:creationId xmlns:a16="http://schemas.microsoft.com/office/drawing/2014/main" id="{A74134C8-3859-4CDA-8AF0-7BAF5093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96686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D4F53"/>
                </a:solidFill>
                <a:latin typeface="Arial"/>
                <a:ea typeface="Arial"/>
                <a:cs typeface="Arial"/>
              </a:rPr>
              <a:t>symbol • alias • accession</a:t>
            </a:r>
          </a:p>
        </p:txBody>
      </p:sp>
      <p:sp>
        <p:nvSpPr>
          <p:cNvPr id="12" name="entry-metabolite-card">
            <a:extLst xmlns:a="http://schemas.openxmlformats.org/drawingml/2006/main">
              <a:ext uri="{FF2B5EF4-FFF2-40B4-BE49-F238E27FC236}">
                <a16:creationId xmlns:a16="http://schemas.microsoft.com/office/drawing/2014/main" id="{D5ABC203-30FD-4C36-AE89-CDC61310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428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1906">
            <a:solidFill>
              <a:srgbClr val="9AB8CC"/>
            </a:solidFill>
            <a:prstDash val="solid"/>
          </a:ln>
        </p:spPr>
      </p:sp>
      <p:sp>
        <p:nvSpPr>
          <p:cNvPr id="13" name="entry-metabolite-eyebrow">
            <a:extLst xmlns:a="http://schemas.openxmlformats.org/drawingml/2006/main">
              <a:ext uri="{FF2B5EF4-FFF2-40B4-BE49-F238E27FC236}">
                <a16:creationId xmlns:a16="http://schemas.microsoft.com/office/drawing/2014/main" id="{DAC953F2-9657-4B90-A645-4D872778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START WITH</a:t>
            </a:r>
          </a:p>
        </p:txBody>
      </p:sp>
      <p:sp>
        <p:nvSpPr>
          <p:cNvPr id="14" name="entry-metabolite-title">
            <a:extLst xmlns:a="http://schemas.openxmlformats.org/drawingml/2006/main">
              <a:ext uri="{FF2B5EF4-FFF2-40B4-BE49-F238E27FC236}">
                <a16:creationId xmlns:a16="http://schemas.microsoft.com/office/drawing/2014/main" id="{B6DE457F-CD04-498E-9CF1-F9482BCA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1200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85509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Metabolite / study</a:t>
            </a:r>
          </a:p>
        </p:txBody>
      </p:sp>
      <p:sp>
        <p:nvSpPr>
          <p:cNvPr id="15" name="entry-metabolite-detail">
            <a:extLst xmlns:a="http://schemas.openxmlformats.org/drawingml/2006/main">
              <a:ext uri="{FF2B5EF4-FFF2-40B4-BE49-F238E27FC236}">
                <a16:creationId xmlns:a16="http://schemas.microsoft.com/office/drawing/2014/main" id="{496714FA-227D-4B57-9156-4B0CB053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D4F53"/>
                </a:solidFill>
                <a:latin typeface="Arial"/>
                <a:ea typeface="Arial"/>
                <a:cs typeface="Arial"/>
              </a:rPr>
              <a:t>name • ID • m/z • paper</a:t>
            </a:r>
          </a:p>
        </p:txBody>
      </p:sp>
      <p:sp>
        <p:nvSpPr>
          <p:cNvPr id="16" name="entry-gene-arrow">
            <a:extLst xmlns:a="http://schemas.openxmlformats.org/drawingml/2006/main">
              <a:ext uri="{FF2B5EF4-FFF2-40B4-BE49-F238E27FC236}">
                <a16:creationId xmlns:a16="http://schemas.microsoft.com/office/drawing/2014/main" id="{4B6A7945-5FD5-42B5-AC86-CEB0A743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695450"/>
            <a:ext cx="1905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4763">
            <a:solidFill>
              <a:srgbClr val="D2C295"/>
            </a:solidFill>
            <a:prstDash val="solid"/>
          </a:ln>
        </p:spPr>
      </p:sp>
      <p:sp>
        <p:nvSpPr>
          <p:cNvPr id="17" name="entry-metabolite-arrow">
            <a:extLst xmlns:a="http://schemas.openxmlformats.org/drawingml/2006/main">
              <a:ext uri="{FF2B5EF4-FFF2-40B4-BE49-F238E27FC236}">
                <a16:creationId xmlns:a16="http://schemas.microsoft.com/office/drawing/2014/main" id="{21CF68A8-A127-4F2E-AED8-84808578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00375"/>
            <a:ext cx="1905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4763">
            <a:solidFill>
              <a:srgbClr val="D2C295"/>
            </a:solidFill>
            <a:prstDash val="solid"/>
          </a:ln>
        </p:spPr>
      </p:sp>
      <p:sp>
        <p:nvSpPr>
          <p:cNvPr id="18" name="retrieval-gene-card">
            <a:extLst xmlns:a="http://schemas.openxmlformats.org/drawingml/2006/main">
              <a:ext uri="{FF2B5EF4-FFF2-40B4-BE49-F238E27FC236}">
                <a16:creationId xmlns:a16="http://schemas.microsoft.com/office/drawing/2014/main" id="{4DA92E6F-BF1A-43BE-BE93-9B6A376E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381125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ECEB"/>
          </a:solidFill>
          <a:ln xmlns:a="http://schemas.openxmlformats.org/drawingml/2006/main" w="11906">
            <a:solidFill>
              <a:srgbClr val="D4A19C"/>
            </a:solidFill>
            <a:prstDash val="solid"/>
          </a:ln>
        </p:spPr>
      </p:sp>
      <p:sp>
        <p:nvSpPr>
          <p:cNvPr id="19" name="retrieval-gene-eyebrow">
            <a:extLst xmlns:a="http://schemas.openxmlformats.org/drawingml/2006/main">
              <a:ext uri="{FF2B5EF4-FFF2-40B4-BE49-F238E27FC236}">
                <a16:creationId xmlns:a16="http://schemas.microsoft.com/office/drawing/2014/main" id="{1421B9ED-2244-4CD9-B1D0-F708DD226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76375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ONLINE</a:t>
            </a:r>
          </a:p>
        </p:txBody>
      </p:sp>
      <p:sp>
        <p:nvSpPr>
          <p:cNvPr id="20" name="retrieval-gene-title">
            <a:extLst xmlns:a="http://schemas.openxmlformats.org/drawingml/2006/main">
              <a:ext uri="{FF2B5EF4-FFF2-40B4-BE49-F238E27FC236}">
                <a16:creationId xmlns:a16="http://schemas.microsoft.com/office/drawing/2014/main" id="{927D6CA6-68D6-469A-8AE3-58A9EB85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04975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94832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MetGENE + MW MGP</a:t>
            </a:r>
          </a:p>
        </p:txBody>
      </p:sp>
      <p:sp>
        <p:nvSpPr>
          <p:cNvPr id="21" name="retrieval-gene-detail">
            <a:extLst xmlns:a="http://schemas.openxmlformats.org/drawingml/2006/main">
              <a:ext uri="{FF2B5EF4-FFF2-40B4-BE49-F238E27FC236}">
                <a16:creationId xmlns:a16="http://schemas.microsoft.com/office/drawing/2014/main" id="{B19A66E9-08DA-4D7A-A8D1-1B1F4491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193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95423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D4F53"/>
                </a:solidFill>
                <a:latin typeface="Arial"/>
                <a:ea typeface="Arial"/>
                <a:cs typeface="Arial"/>
              </a:rPr>
              <a:t>annotation contexts; licence-aware</a:t>
            </a:r>
          </a:p>
        </p:txBody>
      </p:sp>
      <p:sp>
        <p:nvSpPr>
          <p:cNvPr id="22" name="retrieval-evidence-card">
            <a:extLst xmlns:a="http://schemas.openxmlformats.org/drawingml/2006/main">
              <a:ext uri="{FF2B5EF4-FFF2-40B4-BE49-F238E27FC236}">
                <a16:creationId xmlns:a16="http://schemas.microsoft.com/office/drawing/2014/main" id="{A892A25D-7E27-4D41-97C4-E5D781D9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860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1906">
            <a:solidFill>
              <a:srgbClr val="9AB8CC"/>
            </a:solidFill>
            <a:prstDash val="solid"/>
          </a:ln>
        </p:spPr>
      </p:sp>
      <p:sp>
        <p:nvSpPr>
          <p:cNvPr id="23" name="retrieval-evidence-eyebrow">
            <a:extLst xmlns:a="http://schemas.openxmlformats.org/drawingml/2006/main">
              <a:ext uri="{FF2B5EF4-FFF2-40B4-BE49-F238E27FC236}">
                <a16:creationId xmlns:a16="http://schemas.microsoft.com/office/drawing/2014/main" id="{E66FF280-E743-42C7-9022-876E9340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81300"/>
            <a:ext cx="1581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ONLINE</a:t>
            </a:r>
          </a:p>
        </p:txBody>
      </p:sp>
      <p:sp>
        <p:nvSpPr>
          <p:cNvPr id="24" name="retrieval-evidence-title">
            <a:extLst xmlns:a="http://schemas.openxmlformats.org/drawingml/2006/main">
              <a:ext uri="{FF2B5EF4-FFF2-40B4-BE49-F238E27FC236}">
                <a16:creationId xmlns:a16="http://schemas.microsoft.com/office/drawing/2014/main" id="{B1E444E8-96C8-47E4-A578-6DF29B60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099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MW + literature</a:t>
            </a:r>
          </a:p>
        </p:txBody>
      </p:sp>
      <p:sp>
        <p:nvSpPr>
          <p:cNvPr id="25" name="retrieval-evidence-detail">
            <a:extLst xmlns:a="http://schemas.openxmlformats.org/drawingml/2006/main">
              <a:ext uri="{FF2B5EF4-FFF2-40B4-BE49-F238E27FC236}">
                <a16:creationId xmlns:a16="http://schemas.microsoft.com/office/drawing/2014/main" id="{698BC3BB-DFA4-4047-9172-673E291B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24225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D4F53"/>
                </a:solidFill>
                <a:latin typeface="Arial"/>
                <a:ea typeface="Arial"/>
                <a:cs typeface="Arial"/>
              </a:rPr>
              <a:t>study, effect, and paper indices</a:t>
            </a:r>
          </a:p>
        </p:txBody>
      </p:sp>
      <p:sp>
        <p:nvSpPr>
          <p:cNvPr id="26" name="gene-to-ledger">
            <a:extLst xmlns:a="http://schemas.openxmlformats.org/drawingml/2006/main">
              <a:ext uri="{FF2B5EF4-FFF2-40B4-BE49-F238E27FC236}">
                <a16:creationId xmlns:a16="http://schemas.microsoft.com/office/drawing/2014/main" id="{4FDB2FE5-9A89-4A13-AA46-07FD8AF4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95450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4763">
            <a:solidFill>
              <a:srgbClr val="D2C295"/>
            </a:solidFill>
            <a:prstDash val="solid"/>
          </a:ln>
        </p:spPr>
      </p:sp>
      <p:sp>
        <p:nvSpPr>
          <p:cNvPr id="27" name="evidence-to-ledger">
            <a:extLst xmlns:a="http://schemas.openxmlformats.org/drawingml/2006/main">
              <a:ext uri="{FF2B5EF4-FFF2-40B4-BE49-F238E27FC236}">
                <a16:creationId xmlns:a16="http://schemas.microsoft.com/office/drawing/2014/main" id="{042FE8D4-7EC9-4B9E-A242-97E5A1C5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00375"/>
            <a:ext cx="2667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4763">
            <a:solidFill>
              <a:srgbClr val="D2C295"/>
            </a:solidFill>
            <a:prstDash val="solid"/>
          </a:ln>
        </p:spPr>
      </p:sp>
      <p:sp>
        <p:nvSpPr>
          <p:cNvPr id="28" name="typed-ledgers-card">
            <a:extLst xmlns:a="http://schemas.openxmlformats.org/drawingml/2006/main">
              <a:ext uri="{FF2B5EF4-FFF2-40B4-BE49-F238E27FC236}">
                <a16:creationId xmlns:a16="http://schemas.microsoft.com/office/drawing/2014/main" id="{29B9EA7F-A246-4531-A0CE-8305B29C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71625"/>
            <a:ext cx="1619250" cy="18669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11906">
            <a:solidFill>
              <a:srgbClr val="8CB5AA"/>
            </a:solidFill>
            <a:prstDash val="solid"/>
          </a:ln>
        </p:spPr>
      </p:sp>
      <p:sp>
        <p:nvSpPr>
          <p:cNvPr id="29" name="typed-ledgers-eyebrow">
            <a:extLst xmlns:a="http://schemas.openxmlformats.org/drawingml/2006/main">
              <a:ext uri="{FF2B5EF4-FFF2-40B4-BE49-F238E27FC236}">
                <a16:creationId xmlns:a16="http://schemas.microsoft.com/office/drawing/2014/main" id="{38EC6363-A2E6-4E3D-B2F6-AC2BA1EA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7335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5E54"/>
                </a:solidFill>
                <a:latin typeface="Arial"/>
                <a:ea typeface="Arial"/>
                <a:cs typeface="Arial"/>
              </a:rPr>
              <a:t>DETERMINISTIC</a:t>
            </a:r>
          </a:p>
        </p:txBody>
      </p:sp>
      <p:sp>
        <p:nvSpPr>
          <p:cNvPr id="30" name="typed-ledgers-title">
            <a:extLst xmlns:a="http://schemas.openxmlformats.org/drawingml/2006/main">
              <a:ext uri="{FF2B5EF4-FFF2-40B4-BE49-F238E27FC236}">
                <a16:creationId xmlns:a16="http://schemas.microsoft.com/office/drawing/2014/main" id="{F01C6302-6E02-44D0-8B8A-2DAD0E9D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002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Typed ledgers</a:t>
            </a:r>
          </a:p>
        </p:txBody>
      </p:sp>
      <p:sp>
        <p:nvSpPr>
          <p:cNvPr id="31" name="typed-ledgers-detail">
            <a:extLst xmlns:a="http://schemas.openxmlformats.org/drawingml/2006/main">
              <a:ext uri="{FF2B5EF4-FFF2-40B4-BE49-F238E27FC236}">
                <a16:creationId xmlns:a16="http://schemas.microsoft.com/office/drawing/2014/main" id="{2733C2C2-E324-4E66-9CF3-F4B96108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00300"/>
            <a:ext cx="1200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inference</a:t>
            </a:r>
          </a:p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coverage</a:t>
            </a:r>
          </a:p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evidence cards</a:t>
            </a:r>
          </a:p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review queue</a:t>
            </a:r>
          </a:p>
        </p:txBody>
      </p:sp>
      <p:sp>
        <p:nvSpPr>
          <p:cNvPr id="32" name="ledger-to-review">
            <a:extLst xmlns:a="http://schemas.openxmlformats.org/drawingml/2006/main">
              <a:ext uri="{FF2B5EF4-FFF2-40B4-BE49-F238E27FC236}">
                <a16:creationId xmlns:a16="http://schemas.microsoft.com/office/drawing/2014/main" id="{97D7E574-DC23-4338-A9B2-7A456E35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43150"/>
            <a:ext cx="228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4763">
            <a:solidFill>
              <a:srgbClr val="D2C295"/>
            </a:solidFill>
            <a:prstDash val="solid"/>
          </a:ln>
        </p:spPr>
      </p:sp>
      <p:sp>
        <p:nvSpPr>
          <p:cNvPr id="33" name="human-gates-card">
            <a:extLst xmlns:a="http://schemas.openxmlformats.org/drawingml/2006/main">
              <a:ext uri="{FF2B5EF4-FFF2-40B4-BE49-F238E27FC236}">
                <a16:creationId xmlns:a16="http://schemas.microsoft.com/office/drawing/2014/main" id="{21E9FBF3-EA69-4268-A849-3DAFD0F9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1619250" cy="186690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1906">
            <a:solidFill>
              <a:srgbClr val="D8B36A"/>
            </a:solidFill>
            <a:prstDash val="solid"/>
          </a:ln>
        </p:spPr>
      </p:sp>
      <p:sp>
        <p:nvSpPr>
          <p:cNvPr id="34" name="human-gates-eyebrow">
            <a:extLst xmlns:a="http://schemas.openxmlformats.org/drawingml/2006/main">
              <a:ext uri="{FF2B5EF4-FFF2-40B4-BE49-F238E27FC236}">
                <a16:creationId xmlns:a16="http://schemas.microsoft.com/office/drawing/2014/main" id="{7DAD9276-AAE4-483F-8715-0F2F1ABD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733550"/>
            <a:ext cx="131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830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8300"/>
                </a:solidFill>
                <a:latin typeface="Arial"/>
                <a:ea typeface="Arial"/>
                <a:cs typeface="Arial"/>
              </a:rPr>
              <a:t>REVIEW REQUIRED</a:t>
            </a:r>
          </a:p>
        </p:txBody>
      </p:sp>
      <p:sp>
        <p:nvSpPr>
          <p:cNvPr id="35" name="human-gates-title">
            <a:extLst xmlns:a="http://schemas.openxmlformats.org/drawingml/2006/main">
              <a:ext uri="{FF2B5EF4-FFF2-40B4-BE49-F238E27FC236}">
                <a16:creationId xmlns:a16="http://schemas.microsoft.com/office/drawing/2014/main" id="{8AE67DE5-494C-4A26-9976-06E58A4A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00250"/>
            <a:ext cx="1314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Decision gates</a:t>
            </a:r>
          </a:p>
        </p:txBody>
      </p:sp>
      <p:sp>
        <p:nvSpPr>
          <p:cNvPr id="36" name="human-gates-detail">
            <a:extLst xmlns:a="http://schemas.openxmlformats.org/drawingml/2006/main">
              <a:ext uri="{FF2B5EF4-FFF2-40B4-BE49-F238E27FC236}">
                <a16:creationId xmlns:a16="http://schemas.microsoft.com/office/drawing/2014/main" id="{891CCDBF-3B05-4808-AF2C-30413010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400300"/>
            <a:ext cx="1200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licence</a:t>
            </a:r>
          </a:p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identity</a:t>
            </a:r>
          </a:p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protocol</a:t>
            </a:r>
          </a:p>
          <a:p xmlns:a="http://schemas.openxmlformats.org/drawingml/2006/main">
            <a:pPr algn="ctr"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estimand</a:t>
            </a:r>
          </a:p>
        </p:txBody>
      </p:sp>
      <p:sp>
        <p:nvSpPr>
          <p:cNvPr id="37" name="architecture-output-band">
            <a:extLst xmlns:a="http://schemas.openxmlformats.org/drawingml/2006/main">
              <a:ext uri="{FF2B5EF4-FFF2-40B4-BE49-F238E27FC236}">
                <a16:creationId xmlns:a16="http://schemas.microsoft.com/office/drawing/2014/main" id="{47D90A7B-0895-4CE0-8F73-C34AB96F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38550"/>
            <a:ext cx="361950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A9AAA8"/>
            </a:solidFill>
            <a:prstDash val="solid"/>
          </a:ln>
        </p:spPr>
      </p:sp>
      <p:sp>
        <p:nvSpPr>
          <p:cNvPr id="38" name="architecture-output-text">
            <a:extLst xmlns:a="http://schemas.openxmlformats.org/drawingml/2006/main">
              <a:ext uri="{FF2B5EF4-FFF2-40B4-BE49-F238E27FC236}">
                <a16:creationId xmlns:a16="http://schemas.microsoft.com/office/drawing/2014/main" id="{9B3E7128-F8D9-4332-AF70-2797F122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33800"/>
            <a:ext cx="3314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5E54"/>
                </a:solidFill>
                <a:latin typeface="Arial"/>
                <a:ea typeface="Arial"/>
                <a:cs typeface="Arial"/>
              </a:rPr>
              <a:t>Review packet + traceable artifacts</a:t>
            </a:r>
          </a:p>
        </p:txBody>
      </p:sp>
      <p:sp>
        <p:nvSpPr>
          <p:cNvPr id="39" name="architecture-output-limit">
            <a:extLst xmlns:a="http://schemas.openxmlformats.org/drawingml/2006/main">
              <a:ext uri="{FF2B5EF4-FFF2-40B4-BE49-F238E27FC236}">
                <a16:creationId xmlns:a16="http://schemas.microsoft.com/office/drawing/2014/main" id="{ABC49792-5A2A-4A88-8E34-6A197D7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943350"/>
            <a:ext cx="33147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4D4F53"/>
                </a:solidFill>
                <a:latin typeface="Arial"/>
                <a:ea typeface="Arial"/>
                <a:cs typeface="Arial"/>
              </a:rPr>
              <a:t>No autonomous acceptance, pooling, or identity claim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Discovery preserves both candidates and mirages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952500" y="11049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abfe94dd1a420a"/>
          </a:graphicData>
        </a:graphic>
      </p:graphicFrame>
      <p:sp>
        <p:nvSpPr>
          <p:cNvPr id="3" name="candidate-legend">
            <a:extLst xmlns:a="http://schemas.openxmlformats.org/drawingml/2006/main">
              <a:ext uri="{FF2B5EF4-FFF2-40B4-BE49-F238E27FC236}">
                <a16:creationId xmlns:a16="http://schemas.microsoft.com/office/drawing/2014/main" id="{36477AC9-06D1-437F-BE13-FFB9D30D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24350"/>
            <a:ext cx="561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D4F53"/>
                </a:solidFill>
                <a:latin typeface="Arial"/>
                <a:ea typeface="Arial"/>
                <a:cs typeface="Arial"/>
              </a:rPr>
              <a:t>direct match   •   enrichment   •   mirage   •   excluded</a:t>
            </a:r>
          </a:p>
        </p:txBody>
      </p:sp>
      <p:sp>
        <p:nvSpPr>
          <p:cNvPr id="4" name="candidate-callout">
            <a:extLst xmlns:a="http://schemas.openxmlformats.org/drawingml/2006/main">
              <a:ext uri="{FF2B5EF4-FFF2-40B4-BE49-F238E27FC236}">
                <a16:creationId xmlns:a16="http://schemas.microsoft.com/office/drawing/2014/main" id="{93DF021C-7562-4293-89FB-105AC9B4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619250"/>
            <a:ext cx="8763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A plausible title is not enough: accession, metadata, codebook, assay, and timing remain visible gates.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Review happens before mappings become data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7c02c773e4a1e"/>
          <a:srcRect xmlns:a="http://schemas.openxmlformats.org/drawingml/2006/main" l="0" t="14251" r="0" b="142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028700"/>
            <a:ext cx="7886700" cy="3524250"/>
          </a:xfrm>
          <a:prstGeom xmlns:a="http://schemas.openxmlformats.org/drawingml/2006/main" prst="roundRect">
            <a:avLst>
              <a:gd name="adj" fmla="val 2703"/>
            </a:avLst>
          </a:prstGeom>
        </p:spPr>
      </p:pic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Similar labels can lead to different decisions</a:t>
            </a:r>
          </a:p>
        </p:txBody>
      </p:sp>
      <p:sp>
        <p:nvSpPr>
          <p:cNvPr id="2" name="decision-arrow-145">
            <a:extLst xmlns:a="http://schemas.openxmlformats.org/drawingml/2006/main">
              <a:ext uri="{FF2B5EF4-FFF2-40B4-BE49-F238E27FC236}">
                <a16:creationId xmlns:a16="http://schemas.microsoft.com/office/drawing/2014/main" id="{649F57E3-B19B-427C-A81A-50E476EC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619250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sp>
        <p:nvSpPr>
          <p:cNvPr id="3" name="decision-arrow-255">
            <a:extLst xmlns:a="http://schemas.openxmlformats.org/drawingml/2006/main">
              <a:ext uri="{FF2B5EF4-FFF2-40B4-BE49-F238E27FC236}">
                <a16:creationId xmlns:a16="http://schemas.microsoft.com/office/drawing/2014/main" id="{2CBF1C74-A7B1-4499-B6CC-E112C52B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667000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sp>
        <p:nvSpPr>
          <p:cNvPr id="4" name="decision-arrow-365">
            <a:extLst xmlns:a="http://schemas.openxmlformats.org/drawingml/2006/main">
              <a:ext uri="{FF2B5EF4-FFF2-40B4-BE49-F238E27FC236}">
                <a16:creationId xmlns:a16="http://schemas.microsoft.com/office/drawing/2014/main" id="{8F764BD3-C52E-4549-B176-797AE2C9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14750"/>
            <a:ext cx="857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AD7CB"/>
          </a:solidFill>
          <a:ln xmlns:a="http://schemas.openxmlformats.org/drawingml/2006/main" w="9525">
            <a:solidFill>
              <a:srgbClr val="DAD7CB"/>
            </a:solidFill>
            <a:prstDash val="solid"/>
          </a:ln>
        </p:spPr>
      </p:sp>
      <p:sp>
        <p:nvSpPr>
          <p:cNvPr id="5" name="source-0">
            <a:extLst xmlns:a="http://schemas.openxmlformats.org/drawingml/2006/main">
              <a:ext uri="{FF2B5EF4-FFF2-40B4-BE49-F238E27FC236}">
                <a16:creationId xmlns:a16="http://schemas.microsoft.com/office/drawing/2014/main" id="{EE1A8C26-51D7-4187-925D-4B3F8ED4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3825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5E54"/>
            </a:solidFill>
            <a:prstDash val="solid"/>
          </a:ln>
        </p:spPr>
      </p:sp>
      <p:sp>
        <p:nvSpPr>
          <p:cNvPr id="6" name="source-label-0">
            <a:extLst xmlns:a="http://schemas.openxmlformats.org/drawingml/2006/main">
              <a:ext uri="{FF2B5EF4-FFF2-40B4-BE49-F238E27FC236}">
                <a16:creationId xmlns:a16="http://schemas.microsoft.com/office/drawing/2014/main" id="{B4FB0316-1992-410D-B1F4-9378ACCD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52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vo2max</a:t>
            </a:r>
          </a:p>
        </p:txBody>
      </p:sp>
      <p:sp>
        <p:nvSpPr>
          <p:cNvPr id="7" name="context-0">
            <a:extLst xmlns:a="http://schemas.openxmlformats.org/drawingml/2006/main">
              <a:ext uri="{FF2B5EF4-FFF2-40B4-BE49-F238E27FC236}">
                <a16:creationId xmlns:a16="http://schemas.microsoft.com/office/drawing/2014/main" id="{02142853-4ED1-49C8-97B0-DA3CFBC4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same unit + endpoint evidence</a:t>
            </a:r>
          </a:p>
        </p:txBody>
      </p:sp>
      <p:sp>
        <p:nvSpPr>
          <p:cNvPr id="8" name="target-0">
            <a:extLst xmlns:a="http://schemas.openxmlformats.org/drawingml/2006/main">
              <a:ext uri="{FF2B5EF4-FFF2-40B4-BE49-F238E27FC236}">
                <a16:creationId xmlns:a16="http://schemas.microsoft.com/office/drawing/2014/main" id="{CCE7A7D2-924D-4000-BCB5-428D940B3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23825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4EFEA"/>
          </a:solidFill>
          <a:ln xmlns:a="http://schemas.openxmlformats.org/drawingml/2006/main" w="9525">
            <a:solidFill>
              <a:srgbClr val="175E54"/>
            </a:solidFill>
            <a:prstDash val="solid"/>
          </a:ln>
        </p:spPr>
      </p:sp>
      <p:sp>
        <p:nvSpPr>
          <p:cNvPr id="9" name="target-label-0">
            <a:extLst xmlns:a="http://schemas.openxmlformats.org/drawingml/2006/main">
              <a:ext uri="{FF2B5EF4-FFF2-40B4-BE49-F238E27FC236}">
                <a16:creationId xmlns:a16="http://schemas.microsoft.com/office/drawing/2014/main" id="{3E9CFA00-CD0A-463B-93DF-AA419D81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525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vo2max</a:t>
            </a:r>
          </a:p>
        </p:txBody>
      </p:sp>
      <p:sp>
        <p:nvSpPr>
          <p:cNvPr id="10" name="state-0">
            <a:extLst xmlns:a="http://schemas.openxmlformats.org/drawingml/2006/main">
              <a:ext uri="{FF2B5EF4-FFF2-40B4-BE49-F238E27FC236}">
                <a16:creationId xmlns:a16="http://schemas.microsoft.com/office/drawing/2014/main" id="{63EDD0DA-A887-4B32-A74A-0D47A4B7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478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5E54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11" name="source-1">
            <a:extLst xmlns:a="http://schemas.openxmlformats.org/drawingml/2006/main">
              <a:ext uri="{FF2B5EF4-FFF2-40B4-BE49-F238E27FC236}">
                <a16:creationId xmlns:a16="http://schemas.microsoft.com/office/drawing/2014/main" id="{1CD5AC77-2E65-4CC4-A778-9352AFF8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8300"/>
            </a:solidFill>
            <a:prstDash val="solid"/>
          </a:ln>
        </p:spPr>
      </p:sp>
      <p:sp>
        <p:nvSpPr>
          <p:cNvPr id="12" name="source-label-1">
            <a:extLst xmlns:a="http://schemas.openxmlformats.org/drawingml/2006/main">
              <a:ext uri="{FF2B5EF4-FFF2-40B4-BE49-F238E27FC236}">
                <a16:creationId xmlns:a16="http://schemas.microsoft.com/office/drawing/2014/main" id="{A00FCB87-8726-4276-804E-D5CD3359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vo2peak</a:t>
            </a:r>
          </a:p>
        </p:txBody>
      </p:sp>
      <p:sp>
        <p:nvSpPr>
          <p:cNvPr id="13" name="context-1">
            <a:extLst xmlns:a="http://schemas.openxmlformats.org/drawingml/2006/main">
              <a:ext uri="{FF2B5EF4-FFF2-40B4-BE49-F238E27FC236}">
                <a16:creationId xmlns:a16="http://schemas.microsoft.com/office/drawing/2014/main" id="{DCF72DE9-2827-4B18-8387-F888FE55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related endpoint; protocol needed</a:t>
            </a:r>
          </a:p>
        </p:txBody>
      </p:sp>
      <p:sp>
        <p:nvSpPr>
          <p:cNvPr id="14" name="target-1">
            <a:extLst xmlns:a="http://schemas.openxmlformats.org/drawingml/2006/main">
              <a:ext uri="{FF2B5EF4-FFF2-40B4-BE49-F238E27FC236}">
                <a16:creationId xmlns:a16="http://schemas.microsoft.com/office/drawing/2014/main" id="{13ABAA4D-40B7-4B58-B9DB-DA8E1945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2D8"/>
          </a:solidFill>
          <a:ln xmlns:a="http://schemas.openxmlformats.org/drawingml/2006/main" w="9525">
            <a:solidFill>
              <a:srgbClr val="D98300"/>
            </a:solidFill>
            <a:prstDash val="solid"/>
          </a:ln>
        </p:spPr>
      </p:sp>
      <p:sp>
        <p:nvSpPr>
          <p:cNvPr id="15" name="target-label-1">
            <a:extLst xmlns:a="http://schemas.openxmlformats.org/drawingml/2006/main">
              <a:ext uri="{FF2B5EF4-FFF2-40B4-BE49-F238E27FC236}">
                <a16:creationId xmlns:a16="http://schemas.microsoft.com/office/drawing/2014/main" id="{547B5144-5611-45FC-9CA0-47B35C39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003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vo2max</a:t>
            </a:r>
          </a:p>
        </p:txBody>
      </p:sp>
      <p:sp>
        <p:nvSpPr>
          <p:cNvPr id="16" name="state-1">
            <a:extLst xmlns:a="http://schemas.openxmlformats.org/drawingml/2006/main">
              <a:ext uri="{FF2B5EF4-FFF2-40B4-BE49-F238E27FC236}">
                <a16:creationId xmlns:a16="http://schemas.microsoft.com/office/drawing/2014/main" id="{EED90CBD-824C-4127-AEB2-8910EFF4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95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983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98300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17" name="source-2">
            <a:extLst xmlns:a="http://schemas.openxmlformats.org/drawingml/2006/main">
              <a:ext uri="{FF2B5EF4-FFF2-40B4-BE49-F238E27FC236}">
                <a16:creationId xmlns:a16="http://schemas.microsoft.com/office/drawing/2014/main" id="{896D87BD-6CCE-47F5-B666-2532B8ECC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3375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4F53"/>
            </a:solidFill>
            <a:prstDash val="solid"/>
          </a:ln>
        </p:spPr>
      </p:sp>
      <p:sp>
        <p:nvSpPr>
          <p:cNvPr id="18" name="source-label-2">
            <a:extLst xmlns:a="http://schemas.openxmlformats.org/drawingml/2006/main">
              <a:ext uri="{FF2B5EF4-FFF2-40B4-BE49-F238E27FC236}">
                <a16:creationId xmlns:a16="http://schemas.microsoft.com/office/drawing/2014/main" id="{E29E1564-7162-410B-ACC8-57C378D2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diet_score</a:t>
            </a:r>
          </a:p>
        </p:txBody>
      </p:sp>
      <p:sp>
        <p:nvSpPr>
          <p:cNvPr id="19" name="context-2">
            <a:extLst xmlns:a="http://schemas.openxmlformats.org/drawingml/2006/main">
              <a:ext uri="{FF2B5EF4-FFF2-40B4-BE49-F238E27FC236}">
                <a16:creationId xmlns:a16="http://schemas.microsoft.com/office/drawing/2014/main" id="{E3F118D8-FC8A-45E7-97C3-1ABB6E959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71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no supported common variable</a:t>
            </a:r>
          </a:p>
        </p:txBody>
      </p:sp>
      <p:sp>
        <p:nvSpPr>
          <p:cNvPr id="20" name="target-2">
            <a:extLst xmlns:a="http://schemas.openxmlformats.org/drawingml/2006/main">
              <a:ext uri="{FF2B5EF4-FFF2-40B4-BE49-F238E27FC236}">
                <a16:creationId xmlns:a16="http://schemas.microsoft.com/office/drawing/2014/main" id="{13771CC6-CC92-455D-9CC5-7CF45E34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33750"/>
            <a:ext cx="20002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1F1EF"/>
          </a:solidFill>
          <a:ln xmlns:a="http://schemas.openxmlformats.org/drawingml/2006/main" w="9525">
            <a:solidFill>
              <a:srgbClr val="4D4F53"/>
            </a:solidFill>
            <a:prstDash val="solid"/>
          </a:ln>
        </p:spPr>
      </p:sp>
      <p:sp>
        <p:nvSpPr>
          <p:cNvPr id="21" name="target-label-2">
            <a:extLst xmlns:a="http://schemas.openxmlformats.org/drawingml/2006/main">
              <a:ext uri="{FF2B5EF4-FFF2-40B4-BE49-F238E27FC236}">
                <a16:creationId xmlns:a16="http://schemas.microsoft.com/office/drawing/2014/main" id="{FF4228E6-7D82-48F6-B4D6-65CDCF07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480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not_mapped</a:t>
            </a:r>
          </a:p>
        </p:txBody>
      </p:sp>
      <p:sp>
        <p:nvSpPr>
          <p:cNvPr id="22" name="state-2">
            <a:extLst xmlns:a="http://schemas.openxmlformats.org/drawingml/2006/main">
              <a:ext uri="{FF2B5EF4-FFF2-40B4-BE49-F238E27FC236}">
                <a16:creationId xmlns:a16="http://schemas.microsoft.com/office/drawing/2014/main" id="{61A7E3E7-F4E8-4B6C-8BD0-9C86B7AD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4D4F53"/>
                </a:solidFill>
                <a:latin typeface="Arial"/>
                <a:ea typeface="Arial"/>
                <a:cs typeface="Arial"/>
              </a:rPr>
              <a:t>NON-COMBINABLE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Readiness scoring separates strong from fragile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904875" y="1095375"/>
          <a:ext xmlns:a="http://schemas.openxmlformats.org/drawingml/2006/main" cx="66675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379f310a094f2c"/>
          </a:graphicData>
        </a:graphic>
      </p:graphicFrame>
      <p:sp>
        <p:nvSpPr>
          <p:cNvPr id="3" name="readiness-callout">
            <a:extLst xmlns:a="http://schemas.openxmlformats.org/drawingml/2006/main">
              <a:ext uri="{FF2B5EF4-FFF2-40B4-BE49-F238E27FC236}">
                <a16:creationId xmlns:a16="http://schemas.microsoft.com/office/drawing/2014/main" id="{5B1A9B59-2108-402B-9BB6-3D464F08E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19250"/>
            <a:ext cx="857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4F53"/>
                </a:solidFill>
                <a:latin typeface="Arial"/>
                <a:ea typeface="Arial"/>
                <a:cs typeface="Arial"/>
              </a:rPr>
              <a:t>*Readiness does not replace eligibility. The animal fixture remains excluded from the human scope.</a:t>
            </a:r>
          </a:p>
        </p:txBody>
      </p:sp>
      <p:sp>
        <p:nvSpPr>
          <p:cNvPr id="4" name="readiness-limit">
            <a:extLst xmlns:a="http://schemas.openxmlformats.org/drawingml/2006/main">
              <a:ext uri="{FF2B5EF4-FFF2-40B4-BE49-F238E27FC236}">
                <a16:creationId xmlns:a16="http://schemas.microsoft.com/office/drawing/2014/main" id="{BDD15205-11F8-48FF-8AEB-CB547330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434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4D4F53"/>
                </a:solidFill>
                <a:latin typeface="Arial"/>
                <a:ea typeface="Arial"/>
                <a:cs typeface="Arial"/>
              </a:rPr>
              <a:t>Transparent metadata-backed triage score — not a risk-of-bias or assay-validity judgment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MoTrPAC alignment is a planning signal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mlns:a="http://schemas.openxmlformats.org/drawingml/2006/main" x="904875" y="1095375"/>
          <a:ext xmlns:a="http://schemas.openxmlformats.org/drawingml/2006/main" cx="66675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62be64ce1d41c5"/>
          </a:graphicData>
        </a:graphic>
      </p:graphicFrame>
      <p:sp>
        <p:nvSpPr>
          <p:cNvPr id="3" name="motrpac-callout">
            <a:extLst xmlns:a="http://schemas.openxmlformats.org/drawingml/2006/main">
              <a:ext uri="{FF2B5EF4-FFF2-40B4-BE49-F238E27FC236}">
                <a16:creationId xmlns:a16="http://schemas.microsoft.com/office/drawing/2014/main" id="{9F588E42-0DC4-41E6-B08C-198C04EE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66850"/>
            <a:ext cx="95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Metadata readiness answers: can we plan the comparison?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It does not answer: are the protocols equivalent?</a:t>
            </a:r>
          </a:p>
        </p:txBody>
      </p:sp>
      <p:sp>
        <p:nvSpPr>
          <p:cNvPr id="4" name="motrpac-limit">
            <a:extLst xmlns:a="http://schemas.openxmlformats.org/drawingml/2006/main">
              <a:ext uri="{FF2B5EF4-FFF2-40B4-BE49-F238E27FC236}">
                <a16:creationId xmlns:a16="http://schemas.microsoft.com/office/drawing/2014/main" id="{701BE266-39B9-4B62-93EC-6FB8BB63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4D4F53"/>
                </a:solidFill>
                <a:latin typeface="Arial"/>
                <a:ea typeface="Arial"/>
                <a:cs typeface="Arial"/>
              </a:rPr>
              <a:t>Prerequisites include timing, matrix, platform, exercise/CPET, genetics, body composition, diet, and codebooks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Study-specific contrasts remain explicit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248752534e41d0"/>
          <a:stretch xmlns:a="http://schemas.openxmlformats.org/drawingml/2006/main"/>
        </p:blipFill>
        <p:spPr>
          <a:xfrm xmlns:a="http://schemas.openxmlformats.org/drawingml/2006/main">
            <a:off x="1940719" y="1000125"/>
            <a:ext cx="5357813" cy="3571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Gene-centric evidence stays an annotation chain</a:t>
            </a:r>
          </a:p>
        </p:txBody>
      </p:sp>
      <p:sp>
        <p:nvSpPr>
          <p:cNvPr id="3" name="plot-limit">
            <a:extLst xmlns:a="http://schemas.openxmlformats.org/drawingml/2006/main">
              <a:ext uri="{FF2B5EF4-FFF2-40B4-BE49-F238E27FC236}">
                <a16:creationId xmlns:a16="http://schemas.microsoft.com/office/drawing/2014/main" id="{A67C41F5-D3C4-4122-9E8B-31DD4855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43400"/>
            <a:ext cx="590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Four labeled hops  •  six evidence states  •  zero automatic measurement claims</a:t>
            </a:r>
          </a:p>
        </p:txBody>
      </p:sp>
      <p:sp>
        <p:nvSpPr>
          <p:cNvPr id="5" name="gene-hop-0-card">
            <a:extLst xmlns:a="http://schemas.openxmlformats.org/drawingml/2006/main">
              <a:ext uri="{FF2B5EF4-FFF2-40B4-BE49-F238E27FC236}">
                <a16:creationId xmlns:a16="http://schemas.microsoft.com/office/drawing/2014/main" id="{AAC75395-AFE1-417B-9C2E-4BB1E772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23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2EAF1"/>
          </a:solidFill>
          <a:ln xmlns:a="http://schemas.openxmlformats.org/drawingml/2006/main" w="11906">
            <a:solidFill>
              <a:srgbClr val="B998B3"/>
            </a:solidFill>
            <a:prstDash val="solid"/>
          </a:ln>
        </p:spPr>
      </p:sp>
      <p:sp>
        <p:nvSpPr>
          <p:cNvPr id="6" name="gene-hop-0-eyebrow">
            <a:extLst xmlns:a="http://schemas.openxmlformats.org/drawingml/2006/main">
              <a:ext uri="{FF2B5EF4-FFF2-40B4-BE49-F238E27FC236}">
                <a16:creationId xmlns:a16="http://schemas.microsoft.com/office/drawing/2014/main" id="{EBCECCDB-7558-471C-AF42-7ED63B6E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192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284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53284F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7" name="gene-hop-0-title">
            <a:extLst xmlns:a="http://schemas.openxmlformats.org/drawingml/2006/main">
              <a:ext uri="{FF2B5EF4-FFF2-40B4-BE49-F238E27FC236}">
                <a16:creationId xmlns:a16="http://schemas.microsoft.com/office/drawing/2014/main" id="{C80D4D36-E266-4E5D-B916-0E61F769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Gene</a:t>
            </a:r>
          </a:p>
        </p:txBody>
      </p:sp>
      <p:sp>
        <p:nvSpPr>
          <p:cNvPr id="8" name="gene-hop-0-detail">
            <a:extLst xmlns:a="http://schemas.openxmlformats.org/drawingml/2006/main">
              <a:ext uri="{FF2B5EF4-FFF2-40B4-BE49-F238E27FC236}">
                <a16:creationId xmlns:a16="http://schemas.microsoft.com/office/drawing/2014/main" id="{F4328D07-D906-4D17-84C2-F8448832E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62175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D4F53"/>
                </a:solidFill>
                <a:latin typeface="Arial"/>
                <a:ea typeface="Arial"/>
                <a:cs typeface="Arial"/>
              </a:rPr>
              <a:t>symbol or accession</a:t>
            </a:r>
          </a:p>
        </p:txBody>
      </p:sp>
      <p:sp>
        <p:nvSpPr>
          <p:cNvPr id="9" name="gene-hop-arrow-0">
            <a:extLst xmlns:a="http://schemas.openxmlformats.org/drawingml/2006/main">
              <a:ext uri="{FF2B5EF4-FFF2-40B4-BE49-F238E27FC236}">
                <a16:creationId xmlns:a16="http://schemas.microsoft.com/office/drawing/2014/main" id="{D69E7094-A955-4753-A2D6-EDA4B3C2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981200"/>
            <a:ext cx="2000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4763">
            <a:solidFill>
              <a:srgbClr val="D2C295"/>
            </a:solidFill>
            <a:prstDash val="solid"/>
          </a:ln>
        </p:spPr>
      </p:sp>
      <p:sp>
        <p:nvSpPr>
          <p:cNvPr id="10" name="gene-hop-1-card">
            <a:extLst xmlns:a="http://schemas.openxmlformats.org/drawingml/2006/main">
              <a:ext uri="{FF2B5EF4-FFF2-40B4-BE49-F238E27FC236}">
                <a16:creationId xmlns:a16="http://schemas.microsoft.com/office/drawing/2014/main" id="{E430CE2A-D71C-4932-BEE9-A39435F2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524000"/>
            <a:ext cx="123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8ECEB"/>
          </a:solidFill>
          <a:ln xmlns:a="http://schemas.openxmlformats.org/drawingml/2006/main" w="11906">
            <a:solidFill>
              <a:srgbClr val="D4A19C"/>
            </a:solidFill>
            <a:prstDash val="solid"/>
          </a:ln>
        </p:spPr>
      </p:sp>
      <p:sp>
        <p:nvSpPr>
          <p:cNvPr id="11" name="gene-hop-1-eyebrow">
            <a:extLst xmlns:a="http://schemas.openxmlformats.org/drawingml/2006/main">
              <a:ext uri="{FF2B5EF4-FFF2-40B4-BE49-F238E27FC236}">
                <a16:creationId xmlns:a16="http://schemas.microsoft.com/office/drawing/2014/main" id="{E2FAEBAB-9E65-4F08-8FA3-6670DB83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6192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HOP 1</a:t>
            </a:r>
          </a:p>
        </p:txBody>
      </p:sp>
      <p:sp>
        <p:nvSpPr>
          <p:cNvPr id="12" name="gene-hop-1-title">
            <a:extLst xmlns:a="http://schemas.openxmlformats.org/drawingml/2006/main">
              <a:ext uri="{FF2B5EF4-FFF2-40B4-BE49-F238E27FC236}">
                <a16:creationId xmlns:a16="http://schemas.microsoft.com/office/drawing/2014/main" id="{7259E4E9-71D6-4DE0-9CDB-D67094AA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8478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Reaction</a:t>
            </a:r>
          </a:p>
        </p:txBody>
      </p:sp>
      <p:sp>
        <p:nvSpPr>
          <p:cNvPr id="13" name="gene-hop-1-detail">
            <a:extLst xmlns:a="http://schemas.openxmlformats.org/drawingml/2006/main">
              <a:ext uri="{FF2B5EF4-FFF2-40B4-BE49-F238E27FC236}">
                <a16:creationId xmlns:a16="http://schemas.microsoft.com/office/drawing/2014/main" id="{85C7CAA0-1E10-4F19-B819-C4B83388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62175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D4F53"/>
                </a:solidFill>
                <a:latin typeface="Arial"/>
                <a:ea typeface="Arial"/>
                <a:cs typeface="Arial"/>
              </a:rPr>
              <a:t>KEGG annotation</a:t>
            </a:r>
          </a:p>
        </p:txBody>
      </p:sp>
      <p:sp>
        <p:nvSpPr>
          <p:cNvPr id="14" name="gene-hop-arrow-1">
            <a:extLst xmlns:a="http://schemas.openxmlformats.org/drawingml/2006/main">
              <a:ext uri="{FF2B5EF4-FFF2-40B4-BE49-F238E27FC236}">
                <a16:creationId xmlns:a16="http://schemas.microsoft.com/office/drawing/2014/main" id="{73D3905A-F34F-4B71-84E4-A4C97032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81200"/>
            <a:ext cx="2000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4763">
            <a:solidFill>
              <a:srgbClr val="D2C295"/>
            </a:solidFill>
            <a:prstDash val="solid"/>
          </a:ln>
        </p:spPr>
      </p:sp>
      <p:sp>
        <p:nvSpPr>
          <p:cNvPr id="15" name="gene-hop-2-card">
            <a:extLst xmlns:a="http://schemas.openxmlformats.org/drawingml/2006/main">
              <a:ext uri="{FF2B5EF4-FFF2-40B4-BE49-F238E27FC236}">
                <a16:creationId xmlns:a16="http://schemas.microsoft.com/office/drawing/2014/main" id="{AF2B3981-B9BB-44E6-98D1-0C4E8485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24000"/>
            <a:ext cx="123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1906">
            <a:solidFill>
              <a:srgbClr val="D8B36A"/>
            </a:solidFill>
            <a:prstDash val="solid"/>
          </a:ln>
        </p:spPr>
      </p:sp>
      <p:sp>
        <p:nvSpPr>
          <p:cNvPr id="16" name="gene-hop-2-eyebrow">
            <a:extLst xmlns:a="http://schemas.openxmlformats.org/drawingml/2006/main">
              <a:ext uri="{FF2B5EF4-FFF2-40B4-BE49-F238E27FC236}">
                <a16:creationId xmlns:a16="http://schemas.microsoft.com/office/drawing/2014/main" id="{6C5FFC02-ABC6-47BE-85F1-3B9BC7F9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6192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830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8300"/>
                </a:solidFill>
                <a:latin typeface="Arial"/>
                <a:ea typeface="Arial"/>
                <a:cs typeface="Arial"/>
              </a:rPr>
              <a:t>HOP 2</a:t>
            </a:r>
          </a:p>
        </p:txBody>
      </p:sp>
      <p:sp>
        <p:nvSpPr>
          <p:cNvPr id="17" name="gene-hop-2-title">
            <a:extLst xmlns:a="http://schemas.openxmlformats.org/drawingml/2006/main">
              <a:ext uri="{FF2B5EF4-FFF2-40B4-BE49-F238E27FC236}">
                <a16:creationId xmlns:a16="http://schemas.microsoft.com/office/drawing/2014/main" id="{076040A9-6048-4CE6-96FE-B2FE08D08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478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Compound</a:t>
            </a:r>
          </a:p>
        </p:txBody>
      </p:sp>
      <p:sp>
        <p:nvSpPr>
          <p:cNvPr id="18" name="gene-hop-2-detail">
            <a:extLst xmlns:a="http://schemas.openxmlformats.org/drawingml/2006/main">
              <a:ext uri="{FF2B5EF4-FFF2-40B4-BE49-F238E27FC236}">
                <a16:creationId xmlns:a16="http://schemas.microsoft.com/office/drawing/2014/main" id="{A5178197-5974-4A04-B98B-ED204D5C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162175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D4F53"/>
                </a:solidFill>
                <a:latin typeface="Arial"/>
                <a:ea typeface="Arial"/>
                <a:cs typeface="Arial"/>
              </a:rPr>
              <a:t>reaction participant</a:t>
            </a:r>
          </a:p>
        </p:txBody>
      </p:sp>
      <p:sp>
        <p:nvSpPr>
          <p:cNvPr id="19" name="gene-hop-arrow-2">
            <a:extLst xmlns:a="http://schemas.openxmlformats.org/drawingml/2006/main">
              <a:ext uri="{FF2B5EF4-FFF2-40B4-BE49-F238E27FC236}">
                <a16:creationId xmlns:a16="http://schemas.microsoft.com/office/drawing/2014/main" id="{8072638E-7ADC-4DFC-8629-1CA92CEFD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981200"/>
            <a:ext cx="2000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4763">
            <a:solidFill>
              <a:srgbClr val="D2C295"/>
            </a:solidFill>
            <a:prstDash val="solid"/>
          </a:ln>
        </p:spPr>
      </p:sp>
      <p:sp>
        <p:nvSpPr>
          <p:cNvPr id="20" name="gene-hop-3-card">
            <a:extLst xmlns:a="http://schemas.openxmlformats.org/drawingml/2006/main">
              <a:ext uri="{FF2B5EF4-FFF2-40B4-BE49-F238E27FC236}">
                <a16:creationId xmlns:a16="http://schemas.microsoft.com/office/drawing/2014/main" id="{3C8B145C-2B4B-4D58-8C7A-8E97F26B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1524000"/>
            <a:ext cx="123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AF2F7"/>
          </a:solidFill>
          <a:ln xmlns:a="http://schemas.openxmlformats.org/drawingml/2006/main" w="11906">
            <a:solidFill>
              <a:srgbClr val="9AB8CC"/>
            </a:solidFill>
            <a:prstDash val="solid"/>
          </a:ln>
        </p:spPr>
      </p:sp>
      <p:sp>
        <p:nvSpPr>
          <p:cNvPr id="21" name="gene-hop-3-eyebrow">
            <a:extLst xmlns:a="http://schemas.openxmlformats.org/drawingml/2006/main">
              <a:ext uri="{FF2B5EF4-FFF2-40B4-BE49-F238E27FC236}">
                <a16:creationId xmlns:a16="http://schemas.microsoft.com/office/drawing/2014/main" id="{0A7E97BE-B8C8-4490-9A65-BDB7BC71B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6192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E6F9E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2E6F9E"/>
                </a:solidFill>
                <a:latin typeface="Arial"/>
                <a:ea typeface="Arial"/>
                <a:cs typeface="Arial"/>
              </a:rPr>
              <a:t>HOP 3</a:t>
            </a:r>
          </a:p>
        </p:txBody>
      </p:sp>
      <p:sp>
        <p:nvSpPr>
          <p:cNvPr id="22" name="gene-hop-3-title">
            <a:extLst xmlns:a="http://schemas.openxmlformats.org/drawingml/2006/main">
              <a:ext uri="{FF2B5EF4-FFF2-40B4-BE49-F238E27FC236}">
                <a16:creationId xmlns:a16="http://schemas.microsoft.com/office/drawing/2014/main" id="{04928664-7C42-454F-A044-D4924CEA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18478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RefMet</a:t>
            </a:r>
          </a:p>
        </p:txBody>
      </p:sp>
      <p:sp>
        <p:nvSpPr>
          <p:cNvPr id="23" name="gene-hop-3-detail">
            <a:extLst xmlns:a="http://schemas.openxmlformats.org/drawingml/2006/main">
              <a:ext uri="{FF2B5EF4-FFF2-40B4-BE49-F238E27FC236}">
                <a16:creationId xmlns:a16="http://schemas.microsoft.com/office/drawing/2014/main" id="{59A6A38C-EDF4-4BE1-98A6-D214638A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162175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D4F53"/>
                </a:solidFill>
                <a:latin typeface="Arial"/>
                <a:ea typeface="Arial"/>
                <a:cs typeface="Arial"/>
              </a:rPr>
              <a:t>standard-name map</a:t>
            </a:r>
          </a:p>
        </p:txBody>
      </p:sp>
      <p:sp>
        <p:nvSpPr>
          <p:cNvPr id="24" name="gene-hop-arrow-3">
            <a:extLst xmlns:a="http://schemas.openxmlformats.org/drawingml/2006/main">
              <a:ext uri="{FF2B5EF4-FFF2-40B4-BE49-F238E27FC236}">
                <a16:creationId xmlns:a16="http://schemas.microsoft.com/office/drawing/2014/main" id="{20176E46-5094-4FD5-86B2-71490F66F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981200"/>
            <a:ext cx="200025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4763">
            <a:solidFill>
              <a:srgbClr val="D2C295"/>
            </a:solidFill>
            <a:prstDash val="solid"/>
          </a:ln>
        </p:spPr>
      </p:sp>
      <p:sp>
        <p:nvSpPr>
          <p:cNvPr id="25" name="gene-hop-4-card">
            <a:extLst xmlns:a="http://schemas.openxmlformats.org/drawingml/2006/main">
              <a:ext uri="{FF2B5EF4-FFF2-40B4-BE49-F238E27FC236}">
                <a16:creationId xmlns:a16="http://schemas.microsoft.com/office/drawing/2014/main" id="{0784B6DE-23F4-42EC-BF0C-997B7D9B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24000"/>
            <a:ext cx="12382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11906">
            <a:solidFill>
              <a:srgbClr val="8CB5AA"/>
            </a:solidFill>
            <a:prstDash val="solid"/>
          </a:ln>
        </p:spPr>
      </p:sp>
      <p:sp>
        <p:nvSpPr>
          <p:cNvPr id="26" name="gene-hop-4-eyebrow">
            <a:extLst xmlns:a="http://schemas.openxmlformats.org/drawingml/2006/main">
              <a:ext uri="{FF2B5EF4-FFF2-40B4-BE49-F238E27FC236}">
                <a16:creationId xmlns:a16="http://schemas.microsoft.com/office/drawing/2014/main" id="{DBD4696A-7F53-4494-8F5D-D0F61724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61925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5E54"/>
                </a:solidFill>
                <a:latin typeface="Arial"/>
                <a:ea typeface="Arial"/>
                <a:cs typeface="Arial"/>
              </a:rPr>
              <a:t>HOP 4</a:t>
            </a:r>
          </a:p>
        </p:txBody>
      </p:sp>
      <p:sp>
        <p:nvSpPr>
          <p:cNvPr id="27" name="gene-hop-4-title">
            <a:extLst xmlns:a="http://schemas.openxmlformats.org/drawingml/2006/main">
              <a:ext uri="{FF2B5EF4-FFF2-40B4-BE49-F238E27FC236}">
                <a16:creationId xmlns:a16="http://schemas.microsoft.com/office/drawing/2014/main" id="{895D5712-267F-472C-978E-F2DC1137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4785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MW study</a:t>
            </a:r>
          </a:p>
        </p:txBody>
      </p:sp>
      <p:sp>
        <p:nvSpPr>
          <p:cNvPr id="28" name="gene-hop-4-detail">
            <a:extLst xmlns:a="http://schemas.openxmlformats.org/drawingml/2006/main">
              <a:ext uri="{FF2B5EF4-FFF2-40B4-BE49-F238E27FC236}">
                <a16:creationId xmlns:a16="http://schemas.microsoft.com/office/drawing/2014/main" id="{5F7212AB-8E87-4FD8-9643-EA6F0A29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62175"/>
            <a:ext cx="10096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4D4F53"/>
                </a:solidFill>
                <a:latin typeface="Arial"/>
                <a:ea typeface="Arial"/>
                <a:cs typeface="Arial"/>
              </a:rPr>
              <a:t>candidate accession</a:t>
            </a:r>
          </a:p>
        </p:txBody>
      </p:sp>
      <p:sp>
        <p:nvSpPr>
          <p:cNvPr id="29" name="gene-rule-0">
            <a:extLst xmlns:a="http://schemas.openxmlformats.org/drawingml/2006/main">
              <a:ext uri="{FF2B5EF4-FFF2-40B4-BE49-F238E27FC236}">
                <a16:creationId xmlns:a16="http://schemas.microsoft.com/office/drawing/2014/main" id="{521EEC03-C4BC-4EF9-95A2-AF0AAF23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38500"/>
            <a:ext cx="2362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8ECEB"/>
          </a:solidFill>
          <a:ln xmlns:a="http://schemas.openxmlformats.org/drawingml/2006/main" w="11906">
            <a:solidFill>
              <a:srgbClr val="D4A19C"/>
            </a:solidFill>
            <a:prstDash val="solid"/>
          </a:ln>
        </p:spPr>
      </p:sp>
      <p:sp>
        <p:nvSpPr>
          <p:cNvPr id="30" name="gene-rule-title-0">
            <a:extLst xmlns:a="http://schemas.openxmlformats.org/drawingml/2006/main">
              <a:ext uri="{FF2B5EF4-FFF2-40B4-BE49-F238E27FC236}">
                <a16:creationId xmlns:a16="http://schemas.microsoft.com/office/drawing/2014/main" id="{8BAE7812-8EEE-461D-833A-C18953F5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432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LICENCE GATE</a:t>
            </a:r>
          </a:p>
        </p:txBody>
      </p:sp>
      <p:sp>
        <p:nvSpPr>
          <p:cNvPr id="31" name="gene-rule-detail-0">
            <a:extLst xmlns:a="http://schemas.openxmlformats.org/drawingml/2006/main">
              <a:ext uri="{FF2B5EF4-FFF2-40B4-BE49-F238E27FC236}">
                <a16:creationId xmlns:a16="http://schemas.microsoft.com/office/drawing/2014/main" id="{A320C87C-AF2D-4906-B4B1-2ADC47B8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rows withheld by default</a:t>
            </a:r>
          </a:p>
        </p:txBody>
      </p:sp>
      <p:sp>
        <p:nvSpPr>
          <p:cNvPr id="32" name="gene-rule-1">
            <a:extLst xmlns:a="http://schemas.openxmlformats.org/drawingml/2006/main">
              <a:ext uri="{FF2B5EF4-FFF2-40B4-BE49-F238E27FC236}">
                <a16:creationId xmlns:a16="http://schemas.microsoft.com/office/drawing/2014/main" id="{3713B1E3-6700-4EDF-B4CD-0629607B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2362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BF2E3"/>
          </a:solidFill>
          <a:ln xmlns:a="http://schemas.openxmlformats.org/drawingml/2006/main" w="11906">
            <a:solidFill>
              <a:srgbClr val="D8B36A"/>
            </a:solidFill>
            <a:prstDash val="solid"/>
          </a:ln>
        </p:spPr>
      </p:sp>
      <p:sp>
        <p:nvSpPr>
          <p:cNvPr id="33" name="gene-rule-title-1">
            <a:extLst xmlns:a="http://schemas.openxmlformats.org/drawingml/2006/main">
              <a:ext uri="{FF2B5EF4-FFF2-40B4-BE49-F238E27FC236}">
                <a16:creationId xmlns:a16="http://schemas.microsoft.com/office/drawing/2014/main" id="{66CDD6CA-A157-4387-9BEE-7F16FEA7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432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830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D98300"/>
                </a:solidFill>
                <a:latin typeface="Arial"/>
                <a:ea typeface="Arial"/>
                <a:cs typeface="Arial"/>
              </a:rPr>
              <a:t>CLAIM BOUNDARY</a:t>
            </a:r>
          </a:p>
        </p:txBody>
      </p:sp>
      <p:sp>
        <p:nvSpPr>
          <p:cNvPr id="34" name="gene-rule-detail-1">
            <a:extLst xmlns:a="http://schemas.openxmlformats.org/drawingml/2006/main">
              <a:ext uri="{FF2B5EF4-FFF2-40B4-BE49-F238E27FC236}">
                <a16:creationId xmlns:a16="http://schemas.microsoft.com/office/drawing/2014/main" id="{331A0C19-4EBD-4097-84A8-AEEDE06E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814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measurement not established</a:t>
            </a:r>
          </a:p>
        </p:txBody>
      </p:sp>
      <p:sp>
        <p:nvSpPr>
          <p:cNvPr id="35" name="gene-rule-2">
            <a:extLst xmlns:a="http://schemas.openxmlformats.org/drawingml/2006/main">
              <a:ext uri="{FF2B5EF4-FFF2-40B4-BE49-F238E27FC236}">
                <a16:creationId xmlns:a16="http://schemas.microsoft.com/office/drawing/2014/main" id="{B04120A8-244E-4952-A555-C5D06A97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38500"/>
            <a:ext cx="2362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9F2EF"/>
          </a:solidFill>
          <a:ln xmlns:a="http://schemas.openxmlformats.org/drawingml/2006/main" w="11906">
            <a:solidFill>
              <a:srgbClr val="8CB5AA"/>
            </a:solidFill>
            <a:prstDash val="solid"/>
          </a:ln>
        </p:spPr>
      </p:sp>
      <p:sp>
        <p:nvSpPr>
          <p:cNvPr id="36" name="gene-rule-title-2">
            <a:extLst xmlns:a="http://schemas.openxmlformats.org/drawingml/2006/main">
              <a:ext uri="{FF2B5EF4-FFF2-40B4-BE49-F238E27FC236}">
                <a16:creationId xmlns:a16="http://schemas.microsoft.com/office/drawing/2014/main" id="{C079B695-CDCF-4434-A505-4EF2469B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43275"/>
            <a:ext cx="2095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5E54"/>
                </a:solidFill>
                <a:latin typeface="Arial"/>
                <a:ea typeface="Arial"/>
                <a:cs typeface="Arial"/>
              </a:rPr>
              <a:t>NEXT EVIDENCE</a:t>
            </a:r>
          </a:p>
        </p:txBody>
      </p:sp>
      <p:sp>
        <p:nvSpPr>
          <p:cNvPr id="37" name="gene-rule-detail-2">
            <a:extLst xmlns:a="http://schemas.openxmlformats.org/drawingml/2006/main">
              <a:ext uri="{FF2B5EF4-FFF2-40B4-BE49-F238E27FC236}">
                <a16:creationId xmlns:a16="http://schemas.microsoft.com/office/drawing/2014/main" id="{0DC7BD21-A7F8-4947-BA02-7025D9BA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814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direct study re-fetch required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The safety boundary is executable</a:t>
            </a:r>
          </a:p>
        </p:txBody>
      </p:sp>
      <p:sp>
        <p:nvSpPr>
          <p:cNvPr id="2" name="tests-count">
            <a:extLst xmlns:a="http://schemas.openxmlformats.org/drawingml/2006/main">
              <a:ext uri="{FF2B5EF4-FFF2-40B4-BE49-F238E27FC236}">
                <a16:creationId xmlns:a16="http://schemas.microsoft.com/office/drawing/2014/main" id="{8FE6D9A8-12EB-4E47-8C33-B357D676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210 / 210</a:t>
            </a:r>
          </a:p>
        </p:txBody>
      </p:sp>
      <p:sp>
        <p:nvSpPr>
          <p:cNvPr id="3" name="tests-label">
            <a:extLst xmlns:a="http://schemas.openxmlformats.org/drawingml/2006/main">
              <a:ext uri="{FF2B5EF4-FFF2-40B4-BE49-F238E27FC236}">
                <a16:creationId xmlns:a16="http://schemas.microsoft.com/office/drawing/2014/main" id="{51D48E0F-12AB-419E-AA5C-8CB14ED7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098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4D4F53"/>
                </a:solidFill>
                <a:latin typeface="Arial"/>
                <a:ea typeface="Arial"/>
                <a:cs typeface="Arial"/>
              </a:rPr>
              <a:t>offline synthetic tests passed</a:t>
            </a:r>
          </a:p>
        </p:txBody>
      </p:sp>
      <p:sp>
        <p:nvSpPr>
          <p:cNvPr id="4" name="tests-zero">
            <a:extLst xmlns:a="http://schemas.openxmlformats.org/drawingml/2006/main">
              <a:ext uri="{FF2B5EF4-FFF2-40B4-BE49-F238E27FC236}">
                <a16:creationId xmlns:a16="http://schemas.microsoft.com/office/drawing/2014/main" id="{A5000689-B768-4CB9-8C2F-AF753C0C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289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75E54"/>
                </a:solidFill>
                <a:latin typeface="Arial"/>
                <a:ea typeface="Arial"/>
                <a:cs typeface="Arial"/>
              </a:rPr>
              <a:t>0 failed  •  0 errors  •  0 skipped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000500" y="1257300"/>
          <a:ext xmlns:a="http://schemas.openxmlformats.org/drawingml/2006/main" cx="4095750" cy="2571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f41934f87e40e6"/>
          </a:graphicData>
        </a:graphic>
      </p:graphicFrame>
      <p:sp>
        <p:nvSpPr>
          <p:cNvPr id="6" name="unsafe-callout">
            <a:extLst xmlns:a="http://schemas.openxmlformats.org/drawingml/2006/main">
              <a:ext uri="{FF2B5EF4-FFF2-40B4-BE49-F238E27FC236}">
                <a16:creationId xmlns:a16="http://schemas.microsoft.com/office/drawing/2014/main" id="{A247E38B-C497-4BB2-9EBC-16EFA759F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86125"/>
            <a:ext cx="1333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4EFEA"/>
          </a:solidFill>
          <a:ln xmlns:a="http://schemas.openxmlformats.org/drawingml/2006/main" w="9525">
            <a:solidFill>
              <a:srgbClr val="175E54"/>
            </a:solidFill>
            <a:prstDash val="solid"/>
          </a:ln>
        </p:spPr>
      </p:sp>
      <p:sp>
        <p:nvSpPr>
          <p:cNvPr id="7" name="unsafe-value">
            <a:extLst xmlns:a="http://schemas.openxmlformats.org/drawingml/2006/main">
              <a:ext uri="{FF2B5EF4-FFF2-40B4-BE49-F238E27FC236}">
                <a16:creationId xmlns:a16="http://schemas.microsoft.com/office/drawing/2014/main" id="{FD100BF2-C3DB-4A43-9BEC-F03CE405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429000"/>
            <a:ext cx="1123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5E5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75E54"/>
                </a:solidFill>
                <a:latin typeface="Arial"/>
                <a:ea typeface="Arial"/>
                <a:cs typeface="Arial"/>
              </a:rPr>
              <a:t>0 / 12 unsafe
auto-accepts</a:t>
            </a:r>
          </a:p>
        </p:txBody>
      </p:sp>
      <p:sp>
        <p:nvSpPr>
          <p:cNvPr id="8" name="synthetic-limit">
            <a:extLst xmlns:a="http://schemas.openxmlformats.org/drawingml/2006/main">
              <a:ext uri="{FF2B5EF4-FFF2-40B4-BE49-F238E27FC236}">
                <a16:creationId xmlns:a16="http://schemas.microsoft.com/office/drawing/2014/main" id="{07ED7C74-9820-411C-A92D-838735C6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6720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D4F53"/>
                </a:solidFill>
                <a:latin typeface="Arial"/>
                <a:ea typeface="Arial"/>
                <a:cs typeface="Arial"/>
              </a:rPr>
              <a:t>25 paired skills  •  23 canonical agent roles  •  synthetic regression evidence only</a:t>
            </a:r>
          </a:p>
        </p:txBody>
      </p:sp>
      <p:sp>
        <p:nvSpPr>
          <p:cNvPr id="11" name="gene-gates-callout">
            <a:extLst xmlns:a="http://schemas.openxmlformats.org/drawingml/2006/main">
              <a:ext uri="{FF2B5EF4-FFF2-40B4-BE49-F238E27FC236}">
                <a16:creationId xmlns:a16="http://schemas.microsoft.com/office/drawing/2014/main" id="{AE3806DB-799C-4091-B9BF-0C08CE9C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286125"/>
            <a:ext cx="13335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2EAF1"/>
          </a:solidFill>
          <a:ln xmlns:a="http://schemas.openxmlformats.org/drawingml/2006/main" w="11906">
            <a:solidFill>
              <a:srgbClr val="B998B3"/>
            </a:solidFill>
            <a:prstDash val="solid"/>
          </a:ln>
        </p:spPr>
      </p:sp>
      <p:sp>
        <p:nvSpPr>
          <p:cNvPr id="12" name="gene-gates-value">
            <a:extLst xmlns:a="http://schemas.openxmlformats.org/drawingml/2006/main">
              <a:ext uri="{FF2B5EF4-FFF2-40B4-BE49-F238E27FC236}">
                <a16:creationId xmlns:a16="http://schemas.microsoft.com/office/drawing/2014/main" id="{5154FF4D-F545-4AC1-9E1D-FE621E3E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71850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3284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3284F"/>
                </a:solidFill>
                <a:latin typeface="Arial"/>
                <a:ea typeface="Arial"/>
                <a:cs typeface="Arial"/>
              </a:rPr>
              <a:t>54 / 54</a:t>
            </a:r>
          </a:p>
        </p:txBody>
      </p:sp>
      <p:sp>
        <p:nvSpPr>
          <p:cNvPr id="13" name="gene-gates-label">
            <a:extLst xmlns:a="http://schemas.openxmlformats.org/drawingml/2006/main">
              <a:ext uri="{FF2B5EF4-FFF2-40B4-BE49-F238E27FC236}">
                <a16:creationId xmlns:a16="http://schemas.microsoft.com/office/drawing/2014/main" id="{3DD60819-7B37-4C2B-989F-9FB9AC43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57600"/>
            <a:ext cx="10858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3284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3284F"/>
                </a:solidFill>
                <a:latin typeface="Arial"/>
                <a:ea typeface="Arial"/>
                <a:cs typeface="Arial"/>
              </a:rPr>
              <a:t>gene-centric gates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63BEEC8E-0C7A-4040-A426-0C4FCD4FFD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Arial"/>
                <a:ea typeface="Arial"/>
                <a:cs typeface="Arial"/>
              </a:defRPr>
            </a:lvl5pPr>
            <a:lvl6pPr marL="4572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6pPr>
            <a:lvl7pPr marL="9144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7pPr>
            <a:lvl8pPr marL="13716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8pPr>
            <a:lvl9pPr marL="1828800" marR="0" indent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cap="none">
                <a:solidFill>
                  <a:schemeClr val="lt2"/>
                </a:solidFill>
                <a:latin typeface="Source Sans Pro"/>
                <a:ea typeface="Source Sans Pro"/>
                <a:cs typeface="Source Sans Pro"/>
              </a:defRPr>
            </a:lvl9pPr>
          </a:lstStyle>
          <a:p xmlns:a="http://schemas.openxmlformats.org/drawingml/2006/main">
            <a:r>
              <a:t>The MVP is ready for blinded stress-testing</a:t>
            </a:r>
          </a:p>
        </p:txBody>
      </p:sp>
      <p:sp>
        <p:nvSpPr>
          <p:cNvPr id="2" name="validation-arrow-315">
            <a:extLst xmlns:a="http://schemas.openxmlformats.org/drawingml/2006/main">
              <a:ext uri="{FF2B5EF4-FFF2-40B4-BE49-F238E27FC236}">
                <a16:creationId xmlns:a16="http://schemas.microsoft.com/office/drawing/2014/main" id="{E48D6F7F-7DF0-4782-BC43-E83A39D1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9525">
            <a:solidFill>
              <a:srgbClr val="D2C295"/>
            </a:solidFill>
            <a:prstDash val="solid"/>
          </a:ln>
        </p:spPr>
      </p:sp>
      <p:sp>
        <p:nvSpPr>
          <p:cNvPr id="3" name="validation-arrow-600">
            <a:extLst xmlns:a="http://schemas.openxmlformats.org/drawingml/2006/main">
              <a:ext uri="{FF2B5EF4-FFF2-40B4-BE49-F238E27FC236}">
                <a16:creationId xmlns:a16="http://schemas.microsoft.com/office/drawing/2014/main" id="{0C604868-FCE9-4B4D-9F07-96EC6752E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33650"/>
            <a:ext cx="666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2C295"/>
          </a:solidFill>
          <a:ln xmlns:a="http://schemas.openxmlformats.org/drawingml/2006/main" w="9525">
            <a:solidFill>
              <a:srgbClr val="D2C295"/>
            </a:solidFill>
            <a:prstDash val="solid"/>
          </a:ln>
        </p:spPr>
      </p:sp>
      <p:sp>
        <p:nvSpPr>
          <p:cNvPr id="4" name="step-number-0">
            <a:extLst xmlns:a="http://schemas.openxmlformats.org/drawingml/2006/main">
              <a:ext uri="{FF2B5EF4-FFF2-40B4-BE49-F238E27FC236}">
                <a16:creationId xmlns:a16="http://schemas.microsoft.com/office/drawing/2014/main" id="{AFF03F28-DF2B-4923-8AD7-7B6171CD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381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50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50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step-box-0">
            <a:extLst xmlns:a="http://schemas.openxmlformats.org/drawingml/2006/main">
              <a:ext uri="{FF2B5EF4-FFF2-40B4-BE49-F238E27FC236}">
                <a16:creationId xmlns:a16="http://schemas.microsoft.com/office/drawing/2014/main" id="{3C3142B9-69A2-4419-8598-15FA80E4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505C"/>
            </a:solidFill>
            <a:prstDash val="solid"/>
          </a:ln>
        </p:spPr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638DD3B3-8CF2-4F03-AA15-F85CED87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Freeze the benchmark</a:t>
            </a:r>
          </a:p>
        </p:txBody>
      </p:sp>
      <p:sp>
        <p:nvSpPr>
          <p:cNvPr id="7" name="step-detail-0">
            <a:extLst xmlns:a="http://schemas.openxmlformats.org/drawingml/2006/main">
              <a:ext uri="{FF2B5EF4-FFF2-40B4-BE49-F238E27FC236}">
                <a16:creationId xmlns:a16="http://schemas.microsoft.com/office/drawing/2014/main" id="{46B95428-229A-455D-B756-F588A6C0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D4F53"/>
                </a:solidFill>
                <a:latin typeface="Arial"/>
                <a:ea typeface="Arial"/>
                <a:cs typeface="Arial"/>
              </a:rPr>
              <a:t>Lock cohorts, source snapshots, and adjudication rubric</a:t>
            </a:r>
          </a:p>
        </p:txBody>
      </p:sp>
      <p:sp>
        <p:nvSpPr>
          <p:cNvPr id="8" name="step-number-1">
            <a:extLst xmlns:a="http://schemas.openxmlformats.org/drawingml/2006/main">
              <a:ext uri="{FF2B5EF4-FFF2-40B4-BE49-F238E27FC236}">
                <a16:creationId xmlns:a16="http://schemas.microsoft.com/office/drawing/2014/main" id="{C2ED1585-489C-4E87-907E-B1FA0D5F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381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5328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3284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box-1">
            <a:extLst xmlns:a="http://schemas.openxmlformats.org/drawingml/2006/main">
              <a:ext uri="{FF2B5EF4-FFF2-40B4-BE49-F238E27FC236}">
                <a16:creationId xmlns:a16="http://schemas.microsoft.com/office/drawing/2014/main" id="{42F0799F-38D4-45F6-8A82-D3EF7329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952625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3284F"/>
            </a:solidFill>
            <a:prstDash val="solid"/>
          </a:ln>
        </p:spPr>
      </p:sp>
      <p:sp>
        <p:nvSpPr>
          <p:cNvPr id="10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36771F18-C367-4691-A88E-1F28C07C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907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Blind the review</a:t>
            </a:r>
          </a:p>
        </p:txBody>
      </p:sp>
      <p:sp>
        <p:nvSpPr>
          <p:cNvPr id="11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BF0D03AD-73E9-4E75-809E-0FEF4E1A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743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D4F53"/>
                </a:solidFill>
                <a:latin typeface="Arial"/>
                <a:ea typeface="Arial"/>
                <a:cs typeface="Arial"/>
              </a:rPr>
              <a:t>Separate agent outputs from expert reference decisions</a:t>
            </a:r>
          </a:p>
        </p:txBody>
      </p:sp>
      <p:sp>
        <p:nvSpPr>
          <p:cNvPr id="12" name="step-number-2">
            <a:extLst xmlns:a="http://schemas.openxmlformats.org/drawingml/2006/main">
              <a:ext uri="{FF2B5EF4-FFF2-40B4-BE49-F238E27FC236}">
                <a16:creationId xmlns:a16="http://schemas.microsoft.com/office/drawing/2014/main" id="{D231E5B9-E3E5-4171-A43D-73842F1D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3811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step-box-2">
            <a:extLst xmlns:a="http://schemas.openxmlformats.org/drawingml/2006/main">
              <a:ext uri="{FF2B5EF4-FFF2-40B4-BE49-F238E27FC236}">
                <a16:creationId xmlns:a16="http://schemas.microsoft.com/office/drawing/2014/main" id="{2E4BEFC0-8E12-4250-9DC7-E978A933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2095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C1515"/>
            </a:solidFill>
            <a:prstDash val="solid"/>
          </a:ln>
        </p:spPr>
      </p:sp>
      <p:sp>
        <p:nvSpPr>
          <p:cNvPr id="14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03F03B8D-86AD-4F8E-907C-F5E8592D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90750"/>
            <a:ext cx="1752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Report the errors</a:t>
            </a:r>
          </a:p>
        </p:txBody>
      </p:sp>
      <p:sp>
        <p:nvSpPr>
          <p:cNvPr id="15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88557458-002D-4C99-9105-0A10CA19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4D4F53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4D4F53"/>
                </a:solidFill>
                <a:latin typeface="Arial"/>
                <a:ea typeface="Arial"/>
                <a:cs typeface="Arial"/>
              </a:rPr>
              <a:t>Measure unsafe accepts, missed reviews, abstentions, and drift</a:t>
            </a:r>
          </a:p>
        </p:txBody>
      </p:sp>
      <p:sp>
        <p:nvSpPr>
          <p:cNvPr id="16" name="validation-principle">
            <a:extLst xmlns:a="http://schemas.openxmlformats.org/drawingml/2006/main">
              <a:ext uri="{FF2B5EF4-FFF2-40B4-BE49-F238E27FC236}">
                <a16:creationId xmlns:a16="http://schemas.microsoft.com/office/drawing/2014/main" id="{AAA89E79-A670-4EE2-BA99-FEB011A0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0050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8C151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8C1515"/>
                </a:solidFill>
                <a:latin typeface="Arial"/>
                <a:ea typeface="Arial"/>
                <a:cs typeface="Arial"/>
              </a:rPr>
              <a:t>Advance empirical validity without relaxing the human-review gate.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Google Shape;70;p15">
            <a:extLst xmlns:a="http://schemas.openxmlformats.org/drawingml/2006/main">
              <a:ext uri="{FF2B5EF4-FFF2-40B4-BE49-F238E27FC236}">
                <a16:creationId xmlns:a16="http://schemas.microsoft.com/office/drawing/2014/main" id="{69C8C013-E882-4E51-BF0C-DE6D6ACCCE1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 xmlns:a="http://schemas.openxmlformats.org/drawingml/2006/main">
            <a:r>
              <a:t>The decision is what to validate next</a:t>
            </a:r>
          </a:p>
        </p:txBody>
      </p:sp>
      <p:sp>
        <p:nvSpPr>
          <p:cNvPr id="2" name="Google Shape;71;p15">
            <a:extLst xmlns:a="http://schemas.openxmlformats.org/drawingml/2006/main">
              <a:ext uri="{FF2B5EF4-FFF2-40B4-BE49-F238E27FC236}">
                <a16:creationId xmlns:a16="http://schemas.microsoft.com/office/drawing/2014/main" id="{DE1F1796-7EAB-482B-9E82-D37E9B2CD65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 xmlns:a="http://schemas.openxmlformats.org/drawingml/2006/main">
            <a:r>
              <a:t>Define the first blinded benchmark together.</a:t>
            </a:r>
          </a:p>
          <a:p xmlns:a="http://schemas.openxmlformats.org/drawingml/2006/main">
            <a:r>
              <a:t>Samuel Montalvo, Ph.D. | Stanford University</a:t>
            </a:r>
          </a:p>
        </p:txBody>
      </p:sp>
    </p:spTree>
    <p:extLst>
      <p:ext uri="{BB962C8B-B14F-4D97-AF65-F5344CB8AC3E}">
        <p14:creationId xmlns:p14="http://schemas.microsoft.com/office/powerpoint/2010/main" val="877438756"/>
      </p:ext>
    </p:extLst>
  </p:cSld>
</p:sld>
</file>

<file path=ppt/theme/theme1.xml><?xml version="1.0" encoding="utf-8"?>
<a:theme xmlns:a="http://schemas.openxmlformats.org/drawingml/2006/main" xmlns:r="http://schemas.openxmlformats.org/officeDocument/2006/relationships" name="SU_Preso_16x9_v6">
  <a:themeElements>
    <a:clrScheme name="Stanford2">
      <a:dk1>
        <a:srgbClr val="000000"/>
      </a:dk1>
      <a:lt1>
        <a:srgbClr val="FFFFFF"/>
      </a:lt1>
      <a:dk2>
        <a:srgbClr val="DAD7CB"/>
      </a:dk2>
      <a:lt2>
        <a:srgbClr val="8C1515"/>
      </a:lt2>
      <a:accent1>
        <a:srgbClr val="8D3C1E"/>
      </a:accent1>
      <a:accent2>
        <a:srgbClr val="00505C"/>
      </a:accent2>
      <a:accent3>
        <a:srgbClr val="53284F"/>
      </a:accent3>
      <a:accent4>
        <a:srgbClr val="175E54"/>
      </a:accent4>
      <a:accent5>
        <a:srgbClr val="4D4F53"/>
      </a:accent5>
      <a:accent6>
        <a:srgbClr val="D2C295"/>
      </a:accent6>
      <a:hlink>
        <a:srgbClr val="A4001D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2026-08-27T14:04:20.4080000Z</dcterms:created>
  <dcterms:modified xsi:type="dcterms:W3CDTF">2026-08-27T14:04:20.4080000Z</dcterms:modified>
</coreProperties>
</file>