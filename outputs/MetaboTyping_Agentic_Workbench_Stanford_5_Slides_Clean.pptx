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5186e963dd4ea4" /><Relationship Type="http://schemas.openxmlformats.org/officeDocument/2006/relationships/extended-properties" Target="/docProps/app.xml" Id="Rb2227354cdab4820" /><Relationship Type="http://schemas.openxmlformats.org/officeDocument/2006/relationships/officeDocument" Target="/ppt/presentation.xml" Id="R7a92eda1f47d457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6ec8edb92e342a8"/>
  </p:sldMasterIdLst>
  <p:notesMasterIdLst>
    <p:notesMasterId xmlns:r="http://schemas.openxmlformats.org/officeDocument/2006/relationships" r:id="R92430fb5fb924e30"/>
  </p:notesMasterIdLst>
  <p:sldIdLst>
    <p:sldId xmlns:r="http://schemas.openxmlformats.org/officeDocument/2006/relationships" id="256" r:id="R68d7c4660f414f3c"/>
    <p:sldId xmlns:r="http://schemas.openxmlformats.org/officeDocument/2006/relationships" id="257" r:id="R407f2a4f1fab44c8"/>
    <p:sldId xmlns:r="http://schemas.openxmlformats.org/officeDocument/2006/relationships" id="258" r:id="Ra93ffcee3d4b444f"/>
    <p:sldId xmlns:r="http://schemas.openxmlformats.org/officeDocument/2006/relationships" id="259" r:id="R8fa01834cce74ee6"/>
    <p:sldId xmlns:r="http://schemas.openxmlformats.org/officeDocument/2006/relationships" id="260" r:id="Rc9a869445bd14a02"/>
  </p:sldIdLst>
  <p:sldSz cx="9144000" cy="5143500"/>
  <p:notesSz cx="6858000" cy="9144000"/>
  <p:embeddedFontLst>
    <p:embeddedFont>
      <p:font typeface="Helvetica Neue Light"/>
      <p:regular xmlns:r="http://schemas.openxmlformats.org/officeDocument/2006/relationships" r:id="R1eb33f9b4bea41f0"/>
      <p:bold xmlns:r="http://schemas.openxmlformats.org/officeDocument/2006/relationships" r:id="R9e7cf04895334056"/>
      <p:italic xmlns:r="http://schemas.openxmlformats.org/officeDocument/2006/relationships" r:id="Rfe871459302b4f56"/>
      <p:boldItalic xmlns:r="http://schemas.openxmlformats.org/officeDocument/2006/relationships" r:id="R7315a832fb654ac3"/>
    </p:embeddedFont>
    <p:embeddedFont>
      <p:font typeface="Open Sans"/>
      <p:regular xmlns:r="http://schemas.openxmlformats.org/officeDocument/2006/relationships" r:id="Rc98f23b56ec54a59"/>
      <p:bold xmlns:r="http://schemas.openxmlformats.org/officeDocument/2006/relationships" r:id="R04d5ef395e0745b5"/>
      <p:italic xmlns:r="http://schemas.openxmlformats.org/officeDocument/2006/relationships" r:id="Rc5f1808d7edd49ee"/>
      <p:boldItalic xmlns:r="http://schemas.openxmlformats.org/officeDocument/2006/relationships" r:id="R388e07b8eefa49a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ab7641bbcd41f2" /><Relationship Type="http://schemas.openxmlformats.org/officeDocument/2006/relationships/slideMaster" Target="/ppt/slideMasters/slideMaster1.xml" Id="R36ec8edb92e342a8" /><Relationship Type="http://schemas.openxmlformats.org/officeDocument/2006/relationships/notesMaster" Target="/ppt/notesMasters/notesMaster1.xml" Id="R92430fb5fb924e30" /><Relationship Type="http://schemas.openxmlformats.org/officeDocument/2006/relationships/presProps" Target="/ppt/presProps.xml" Id="R47a2ead9b9554172" /><Relationship Type="http://schemas.openxmlformats.org/officeDocument/2006/relationships/viewProps" Target="/ppt/viewProps.xml" Id="Rbee2639f08b04b12" /><Relationship Type="http://schemas.openxmlformats.org/officeDocument/2006/relationships/tableStyles" Target="/ppt/tableStyles.xml" Id="R8ae5b41a7e384004" /><Relationship Type="http://schemas.openxmlformats.org/officeDocument/2006/relationships/font" Target="/ppt/fonts/font.dat" Id="R1eb33f9b4bea41f0" /><Relationship Type="http://schemas.openxmlformats.org/officeDocument/2006/relationships/font" Target="/ppt/fonts/font2.dat" Id="R9e7cf04895334056" /><Relationship Type="http://schemas.openxmlformats.org/officeDocument/2006/relationships/font" Target="/ppt/fonts/font3.dat" Id="Rfe871459302b4f56" /><Relationship Type="http://schemas.openxmlformats.org/officeDocument/2006/relationships/font" Target="/ppt/fonts/font4.dat" Id="R7315a832fb654ac3" /><Relationship Type="http://schemas.openxmlformats.org/officeDocument/2006/relationships/font" Target="/ppt/fonts/font5.dat" Id="Rc98f23b56ec54a59" /><Relationship Type="http://schemas.openxmlformats.org/officeDocument/2006/relationships/font" Target="/ppt/fonts/font6.dat" Id="R04d5ef395e0745b5" /><Relationship Type="http://schemas.openxmlformats.org/officeDocument/2006/relationships/font" Target="/ppt/fonts/font7.dat" Id="Rc5f1808d7edd49ee" /><Relationship Type="http://schemas.openxmlformats.org/officeDocument/2006/relationships/font" Target="/ppt/fonts/font8.dat" Id="R388e07b8eefa49aa" /><Relationship Type="http://schemas.openxmlformats.org/officeDocument/2006/relationships/slide" Target="/ppt/slides/slide1.xml" Id="R68d7c4660f414f3c" /><Relationship Type="http://schemas.openxmlformats.org/officeDocument/2006/relationships/slide" Target="/ppt/slides/slide2.xml" Id="R407f2a4f1fab44c8" /><Relationship Type="http://schemas.openxmlformats.org/officeDocument/2006/relationships/slide" Target="/ppt/slides/slide3.xml" Id="Ra93ffcee3d4b444f" /><Relationship Type="http://schemas.openxmlformats.org/officeDocument/2006/relationships/slide" Target="/ppt/slides/slide4.xml" Id="R8fa01834cce74ee6" /><Relationship Type="http://schemas.openxmlformats.org/officeDocument/2006/relationships/slide" Target="/ppt/slides/slide5.xml" Id="Rc9a869445bd14a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f0f9e4586f45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0980662530494a" /><Relationship Type="http://schemas.openxmlformats.org/officeDocument/2006/relationships/notesMaster" Target="/ppt/notesMasters/notesMaster1.xml" Id="R06e828efad2348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13dbbeb05748a7" /><Relationship Type="http://schemas.openxmlformats.org/officeDocument/2006/relationships/notesMaster" Target="/ppt/notesMasters/notesMaster1.xml" Id="R843ec1d90fbf4f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370799ae1a45ee" /><Relationship Type="http://schemas.openxmlformats.org/officeDocument/2006/relationships/notesMaster" Target="/ppt/notesMasters/notesMaster1.xml" Id="Rbf7dd1bc7d8f46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612b74f86b4b38" /><Relationship Type="http://schemas.openxmlformats.org/officeDocument/2006/relationships/notesMaster" Target="/ppt/notesMasters/notesMaster1.xml" Id="Rd0a3fe69b69741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68f0b0b0e640d5" /><Relationship Type="http://schemas.openxmlformats.org/officeDocument/2006/relationships/notesMaster" Target="/ppt/notesMasters/notesMaster1.xml" Id="R80dca037ae904b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Stanford visual source: stanford-slide-template.pptx and stanford-university-wordmark-cardinal.png.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identity and scope: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Problem framing and scientific guardrails: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Evidence-flow purpose and interpretation limits: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VO₂peak/VO₂max rule and pooling boundaries: AGENTS.md.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Architecture source: docs/manuscript/figures/metabotyping_agentic_workbench_architecture.png.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Deterministic workflow and outputs: README.md and src/metabotyping_agentic/reports/render.py.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DomainReviewPacket authority boundary: README.md, src/metabotyping_agentic/review/models.py, and src/metabotyping_agentic/review/validation.py.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Synthetic heatmap: docs/manuscript/figures/synthetic_motrpac_plot_suite/figures/effect_heatmap.png.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CPET and identity/pooling safeguards: AGENTS.md and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Strict synthetic gate: docs/scientific_readiness_report.md; project .venv rerun on 2026-08-19 returned PASS with tests_run=128.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Agent and skill inventory: README.md release 0.2.0.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External-validation limitations and proposed benchmark: docs/scientific_readiness_report.md and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fb0d5257445dd" /><Relationship Type="http://schemas.openxmlformats.org/officeDocument/2006/relationships/image" Target="/ppt/media/image2.png" Id="R776f9d830b6146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bbbca804c48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258b188694f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c610d887b485e" /><Relationship Type="http://schemas.openxmlformats.org/officeDocument/2006/relationships/image" Target="/ppt/media/image2.png" Id="R526865d7dfec4756" /><Relationship Type="http://schemas.openxmlformats.org/officeDocument/2006/relationships/image" Target="/ppt/media/image.jpeg" Id="R0e0f71424dd84b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bb14aa16b46f7" /><Relationship Type="http://schemas.openxmlformats.org/officeDocument/2006/relationships/image" Target="/ppt/media/image2.png" Id="Rdf151c1500784717" /><Relationship Type="http://schemas.openxmlformats.org/officeDocument/2006/relationships/image" Target="/ppt/media/image3.png" Id="R50e7225fc4f842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34414deff4e9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3304df6dd437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f1bfa4a7f48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a17a472d5495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8a44fe4ef4f8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7449fc86242f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713df730e442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26c08646d485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c440dc9d44dc3" /></Relationships>
</file>

<file path=ppt/slideLayouts/slideLayout1.xml><?xml version="1.0" encoding="utf-8"?>
<p:sldLayout xmlns:p="http://schemas.openxmlformats.org/presentationml/2006/main" showMasterSp="0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855A13F-B349-4C26-9C35-4258E4D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6f9d830b61461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7A2C2BEA-64B2-4367-B909-9BC417C0D6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200" y="1792517"/>
            <a:ext cx="8229600" cy="61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A5D8D043-5EBA-4DD8-8616-57C7102742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5" y="3599022"/>
            <a:ext cx="60594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marR="0" indent="-22860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53D30F02-F2E2-4C70-94CB-14DAF2844B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7200" y="2410990"/>
            <a:ext cx="8229600" cy="4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  <a:defRPr sz="2100" b="0" i="0" u="none" cap="small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4572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9144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13716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18288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without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1122B57F-8282-4E84-A9BC-CBC9012CA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>
  <p:cSld name="Title and Content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DF12ACA5-DCFE-436E-AC47-C8C201BF8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871EBED0-B175-4973-AA65-500B49AA9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showMasterSp="0" matchingName="Section Header Replaceable Image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241EC04-F53D-4589-BF6C-DBFAE19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6865d7dfec47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0E750D-7382-44FB-9892-A17E15441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1E226CA1-F929-4FAD-8465-F0BAF24F6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100CFF43-05F6-4134-AF23-C32803163D3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665662" y="1535112"/>
            <a:ext cx="1950900" cy="19509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e0f71424dd84b19">
              <a:alphaModFix/>
            </a:blip>
            <a:stretch>
              <a:fillRect l="0" t="0" r="0" b="0"/>
            </a:stretch>
          </a:blipFill>
          <a:ln xmlns:a="http://schemas.openxmlformats.org/drawingml/2006/main" w="4445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2700000" algn="tl" rotWithShape="0">
              <a:srgbClr val="000000">
                <a:alpha val="3569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342900" marR="0" indent="-3429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288925" marR="0" indent="-288925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569913" marR="0" indent="-227013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1258888" marR="0" indent="-230188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5146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29718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4290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38862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showMasterSp="0" matchingName="Section Header Stanford">
  <p:cSld name="Section Header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BC7116E9-EDFC-4EB2-92D0-A9EE7460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Google Shape;3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151c15007847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0D5B7992-4E6A-450A-B229-FF4401FBB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A6C4FBE0-E4FF-4FED-A002-D4AA57FBD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pic>
        <p:nvPicPr>
          <p:cNvPr id="39" name="Google Shape;33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7225fc4f842e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5651" y="1596299"/>
            <a:ext cx="1950900" cy="1950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241906BA-5045-4D71-9648-822B9C7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" y="793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0" rIns="457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‹#›</a:t>
            </a:fld>
            <a:endParaRPr sz="1000" b="0" i="0" u="none" cap="none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F02104D9-E640-4D5B-8FF2-8FC793A0E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C91C9CFC-45E0-4DAF-8426-157B3AF36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6A61A2D0-E60E-4920-8535-C42A2271C5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5"/>
            <a:ext cx="37797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Four Content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8">
            <a:extLst xmlns:a="http://schemas.openxmlformats.org/drawingml/2006/main">
              <a:ext uri="{FF2B5EF4-FFF2-40B4-BE49-F238E27FC236}">
                <a16:creationId xmlns:a16="http://schemas.microsoft.com/office/drawing/2014/main" id="{375C0E8E-DE97-4536-B71E-D89067164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1" name="Google Shape;41;p8">
            <a:extLst xmlns:a="http://schemas.openxmlformats.org/drawingml/2006/main">
              <a:ext uri="{FF2B5EF4-FFF2-40B4-BE49-F238E27FC236}">
                <a16:creationId xmlns:a16="http://schemas.microsoft.com/office/drawing/2014/main" id="{A199C750-D1E3-4DE1-9299-BC85986EC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6"/>
            <a:ext cx="37878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2" name="Google Shape;42;p8">
            <a:extLst xmlns:a="http://schemas.openxmlformats.org/drawingml/2006/main">
              <a:ext uri="{FF2B5EF4-FFF2-40B4-BE49-F238E27FC236}">
                <a16:creationId xmlns:a16="http://schemas.microsoft.com/office/drawing/2014/main" id="{4DEE480F-7EC7-4009-9FC6-8BB8B12DC9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55677" y="2840613"/>
            <a:ext cx="37815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1CDB7F96-6C80-44F2-939A-D010CA3518C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2152BCB3-2D84-49C6-859E-CA05093C463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76800" y="2840613"/>
            <a:ext cx="37797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1_Title and Content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C2E56178-2F2E-430D-86A6-89E034880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06AE47A0-06C5-4218-8AA9-96511C1CF7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Two Content Horizontal">
  <p:cSld name="Two Content Horizont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654DA749-54BA-4FC0-8AA5-720E9FB44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C2BD19E9-EED1-4E36-9AFC-76ACF7DE9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8777" y="908685"/>
            <a:ext cx="77079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BD4D1088-1CCA-4D3D-BB20-0CACFBB4E2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49327" y="2841313"/>
            <a:ext cx="77073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hree Content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6775C3C5-888D-47F9-86F7-5AF3D022F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7D0490D3-ADE1-4130-B787-706FEBC693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9BAE188C-DF95-4510-A468-CFBFACDE44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469291E7-AA86-42D1-BB3C-CE77CF678D9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2837497"/>
            <a:ext cx="3779700" cy="18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6DAFF9C5-32A5-411B-A27B-594B6E7C81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58A6AEEE-E086-4236-A237-752511A72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Standard Layout">
  <p:cSld name="Standard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CD1D7AFB-238A-48BD-9A3C-56333BA4C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250" y="206125"/>
            <a:ext cx="6427500" cy="5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DEB9189A-9D3F-4ADF-BAC5-AB7AED070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760" y="1097280"/>
            <a:ext cx="85380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Open Sans"/>
              <a:buNone/>
              <a:defRPr i="0">
                <a:latin typeface="Open Sans"/>
                <a:ea typeface="Open Sans"/>
                <a:cs typeface="Open Sans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Char char="▪"/>
              <a:defRPr i="0">
                <a:latin typeface="Open Sans"/>
                <a:ea typeface="Open Sans"/>
                <a:cs typeface="Open Sans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Font typeface="Open Sans"/>
              <a:buChar char="›"/>
              <a:defRPr sz="1800" i="0">
                <a:latin typeface="Open Sans"/>
                <a:ea typeface="Open Sans"/>
                <a:cs typeface="Open Sans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▪"/>
              <a:defRPr sz="1600" i="0">
                <a:latin typeface="Open Sans"/>
                <a:ea typeface="Open Sans"/>
                <a:cs typeface="Open Sans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•"/>
              <a:defRPr sz="1600" i="0">
                <a:latin typeface="Open Sans"/>
                <a:ea typeface="Open Sans"/>
                <a:cs typeface="Open Sans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753FAE68-7023-411A-A6D2-D0B8FC9841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B67E3143-32B4-41E1-83F1-5C9578BB8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B4D2E9D5-2BD1-4AE9-AECA-B973AFEAA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4">
            <a:extLst xmlns:a="http://schemas.openxmlformats.org/drawingml/2006/main">
              <a:ext uri="{FF2B5EF4-FFF2-40B4-BE49-F238E27FC236}">
                <a16:creationId xmlns:a16="http://schemas.microsoft.com/office/drawing/2014/main" id="{3E77BD24-1987-4CB5-8E7F-2A6E4F983B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indent="-342900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indent="-345186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indent="-34290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BC8C41BF-30C8-4ACE-9958-2A6BCAC5DF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7216A8C8-0A8C-4C33-83A2-34F86E02404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AD66D82F-9423-48E3-9312-D0967B722B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8751826A-B6F7-4473-AB5A-A4DBF008E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4036b3e24c94f91" /><Relationship Type="http://schemas.openxmlformats.org/officeDocument/2006/relationships/theme" Target="/ppt/slideMasters/theme/theme2.xml" Id="R614b7bce73fc4011" /><Relationship Type="http://schemas.openxmlformats.org/officeDocument/2006/relationships/slideLayout" Target="/ppt/slideLayouts/slideLayout1.xml" Id="Rf0c69326b1764c15" /><Relationship Type="http://schemas.openxmlformats.org/officeDocument/2006/relationships/slideLayout" Target="/ppt/slideLayouts/slideLayout2.xml" Id="Rae5b700e06e54cb2" /><Relationship Type="http://schemas.openxmlformats.org/officeDocument/2006/relationships/slideLayout" Target="/ppt/slideLayouts/slideLayout3.xml" Id="R11033ee2aaab448f" /><Relationship Type="http://schemas.openxmlformats.org/officeDocument/2006/relationships/slideLayout" Target="/ppt/slideLayouts/slideLayout4.xml" Id="R8f05e392572645fd" /><Relationship Type="http://schemas.openxmlformats.org/officeDocument/2006/relationships/slideLayout" Target="/ppt/slideLayouts/slideLayout5.xml" Id="R3819d0df0e704460" /><Relationship Type="http://schemas.openxmlformats.org/officeDocument/2006/relationships/slideLayout" Target="/ppt/slideLayouts/slideLayout6.xml" Id="R0d5225dce9634484" /><Relationship Type="http://schemas.openxmlformats.org/officeDocument/2006/relationships/slideLayout" Target="/ppt/slideLayouts/slideLayout7.xml" Id="Rc6d553b828e44961" /><Relationship Type="http://schemas.openxmlformats.org/officeDocument/2006/relationships/slideLayout" Target="/ppt/slideLayouts/slideLayout8.xml" Id="Rb5337a2727dc42d9" /><Relationship Type="http://schemas.openxmlformats.org/officeDocument/2006/relationships/slideLayout" Target="/ppt/slideLayouts/slideLayout9.xml" Id="Ra06a104dbee64f86" /><Relationship Type="http://schemas.openxmlformats.org/officeDocument/2006/relationships/slideLayout" Target="/ppt/slideLayouts/slideLayout10.xml" Id="Rc3a4ce0aa6ed4650" /><Relationship Type="http://schemas.openxmlformats.org/officeDocument/2006/relationships/slideLayout" Target="/ppt/slideLayouts/slideLayout11.xml" Id="R4da86265eb8245e8" /><Relationship Type="http://schemas.openxmlformats.org/officeDocument/2006/relationships/slideLayout" Target="/ppt/slideLayouts/slideLayout12.xml" Id="Rfbc1085736a443d7" /><Relationship Type="http://schemas.openxmlformats.org/officeDocument/2006/relationships/slideLayout" Target="/ppt/slideLayouts/slideLayout13.xml" Id="R561c8f86f14b42d7" /><Relationship Type="http://schemas.openxmlformats.org/officeDocument/2006/relationships/slideLayout" Target="/ppt/slideLayouts/slideLayout14.xml" Id="R6ab7e32cc07f492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AE0D60E7-0E79-4F09-AC3C-83E67EC7E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9325" y="358775"/>
            <a:ext cx="7707300" cy="4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D989767-8E5B-4674-A8E9-24E389902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5" y="903288"/>
            <a:ext cx="7707300" cy="37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493AFF1-60B2-403C-98A6-9E7408B1ED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538" y="4811713"/>
            <a:ext cx="846000" cy="2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A43306F6-9AC0-4120-807F-DB2F974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514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oogle Shape;1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036b3e24c94f9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21525" y="4856163"/>
            <a:ext cx="1541281" cy="1900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c69326b1764c15"/>
    <p:sldLayoutId xmlns:r="http://schemas.openxmlformats.org/officeDocument/2006/relationships" id="2147483650" r:id="Rae5b700e06e54cb2"/>
    <p:sldLayoutId xmlns:r="http://schemas.openxmlformats.org/officeDocument/2006/relationships" id="2147483651" r:id="R11033ee2aaab448f"/>
    <p:sldLayoutId xmlns:r="http://schemas.openxmlformats.org/officeDocument/2006/relationships" id="2147483652" r:id="R8f05e392572645fd"/>
    <p:sldLayoutId xmlns:r="http://schemas.openxmlformats.org/officeDocument/2006/relationships" id="2147483653" r:id="R3819d0df0e704460"/>
    <p:sldLayoutId xmlns:r="http://schemas.openxmlformats.org/officeDocument/2006/relationships" id="2147483654" r:id="R0d5225dce9634484"/>
    <p:sldLayoutId xmlns:r="http://schemas.openxmlformats.org/officeDocument/2006/relationships" id="2147483655" r:id="Rc6d553b828e44961"/>
    <p:sldLayoutId xmlns:r="http://schemas.openxmlformats.org/officeDocument/2006/relationships" id="2147483656" r:id="Rb5337a2727dc42d9"/>
    <p:sldLayoutId xmlns:r="http://schemas.openxmlformats.org/officeDocument/2006/relationships" id="2147483657" r:id="Ra06a104dbee64f86"/>
    <p:sldLayoutId xmlns:r="http://schemas.openxmlformats.org/officeDocument/2006/relationships" id="2147483658" r:id="Rc3a4ce0aa6ed4650"/>
    <p:sldLayoutId xmlns:r="http://schemas.openxmlformats.org/officeDocument/2006/relationships" id="2147483659" r:id="R4da86265eb8245e8"/>
    <p:sldLayoutId xmlns:r="http://schemas.openxmlformats.org/officeDocument/2006/relationships" id="2147483660" r:id="Rfbc1085736a443d7"/>
    <p:sldLayoutId xmlns:r="http://schemas.openxmlformats.org/officeDocument/2006/relationships" id="2147483661" r:id="R561c8f86f14b42d7"/>
    <p:sldLayoutId xmlns:r="http://schemas.openxmlformats.org/officeDocument/2006/relationships" id="2147483662" r:id="R6ab7e32cc07f492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26650bc364b472a" /><Relationship Type="http://schemas.openxmlformats.org/officeDocument/2006/relationships/image" Target="/ppt/media/image4.png" Id="Rd3d40b002b734e56" /><Relationship Type="http://schemas.openxmlformats.org/officeDocument/2006/relationships/notesSlide" Target="/ppt/notesSlides/notesSlide1.xml" Id="R6e31d76016a24b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9384de6dfec48c4" /><Relationship Type="http://schemas.openxmlformats.org/officeDocument/2006/relationships/notesSlide" Target="/ppt/notesSlides/notesSlide2.xml" Id="R134144655bf444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ce3568992464780" /><Relationship Type="http://schemas.openxmlformats.org/officeDocument/2006/relationships/notesSlide" Target="/ppt/notesSlides/notesSlide3.xml" Id="Rda65c57c1a834e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7b6abc6b2594b67" /><Relationship Type="http://schemas.openxmlformats.org/officeDocument/2006/relationships/image" Target="/ppt/media/image5.png" Id="Rbe8025d57b284fd0" /><Relationship Type="http://schemas.openxmlformats.org/officeDocument/2006/relationships/notesSlide" Target="/ppt/notesSlides/notesSlide4.xml" Id="Rc2892ad9db094e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68feef5fc5b4ee3" /><Relationship Type="http://schemas.openxmlformats.org/officeDocument/2006/relationships/notesSlide" Target="/ppt/notesSlides/notesSlide5.xml" Id="Rf4e723cfbddd40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40b002b734e56"/>
          <a:stretch xmlns:a="http://schemas.openxmlformats.org/drawingml/2006/main"/>
        </p:blipFill>
        <p:spPr>
          <a:xfrm xmlns:a="http://schemas.openxmlformats.org/drawingml/2006/main">
            <a:off x="6115050" y="588950"/>
            <a:ext cx="2190750" cy="269900"/>
          </a:xfrm>
          <a:prstGeom xmlns:a="http://schemas.openxmlformats.org/drawingml/2006/main" prst="rect">
            <a:avLst/>
          </a:prstGeom>
        </p:spPr>
      </p:pic>
      <p:sp>
        <p:nvSpPr>
          <p:cNvPr id="2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4C27C4AD-7CA7-4441-ABBF-44514B27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OFFLINE MVP USING SYNTHETIC DATA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80D9479F-4A30-4DDA-8D04-2D7306F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9B6E7F2-6256-4C16-BF08-D4A520C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workflow that helps curators find and harmonize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metabolomics datasets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0F3583D-08B1-45D3-A6C6-CD54A12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senter-name">
            <a:extLst xmlns:a="http://schemas.openxmlformats.org/drawingml/2006/main">
              <a:ext uri="{FF2B5EF4-FFF2-40B4-BE49-F238E27FC236}">
                <a16:creationId xmlns:a16="http://schemas.microsoft.com/office/drawing/2014/main" id="{1F2726EC-A177-4C51-9576-B553F66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Samuel Montalvo, Ph.D.</a:t>
            </a:r>
          </a:p>
        </p:txBody>
      </p:sp>
      <p:sp>
        <p:nvSpPr>
          <p:cNvPr id="7" name="presenter-block">
            <a:extLst xmlns:a="http://schemas.openxmlformats.org/drawingml/2006/main">
              <a:ext uri="{FF2B5EF4-FFF2-40B4-BE49-F238E27FC236}">
                <a16:creationId xmlns:a16="http://schemas.microsoft.com/office/drawing/2014/main" id="{37CA8E02-309A-45DD-8A80-967FD68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Bioinformatics Center | Molecular Transducers of Physical Activity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Wu Tsai Human Performance Alliance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Division of Cardiovascular Medicine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Stanford University</a:t>
            </a:r>
          </a:p>
        </p:txBody>
      </p:sp>
      <p:sp>
        <p:nvSpPr>
          <p:cNvPr id="8" name="presentation-date">
            <a:extLst xmlns:a="http://schemas.openxmlformats.org/drawingml/2006/main">
              <a:ext uri="{FF2B5EF4-FFF2-40B4-BE49-F238E27FC236}">
                <a16:creationId xmlns:a16="http://schemas.microsoft.com/office/drawing/2014/main" id="{FF53D475-4AD4-4245-93C6-55C9E4F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3CEA9CA-83EB-4DD4-8992-BF4F753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CD9776-88AF-4589-A936-575D640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Reusing data starts with the evidence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9DA24A-CD9E-4139-9A95-8237CC96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5F6E9762-EA65-4F20-A379-B4E248D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Before combining studies, investigators need to know what was measured, when samples were collected, which methods were used, and how confidently metabolites were identified.</a:t>
            </a:r>
          </a:p>
        </p:txBody>
      </p:sp>
      <p:sp>
        <p:nvSpPr>
          <p:cNvPr id="5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250E40E-D8C8-4331-A93C-EACA3D0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615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3BE31AAA-5732-46B8-8562-DAA3AF7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6588D83F-4C23-446F-A44D-4A0FB87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99BC42B1-787B-47F9-99DF-AA0704D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Find candidate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studies</a:t>
            </a:r>
          </a:p>
        </p:txBody>
      </p:sp>
      <p:sp>
        <p:nvSpPr>
          <p:cNvPr id="9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16E4B153-C329-4B0A-8F19-A8F744C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744D768F-0787-4FC9-BBBD-066CCC7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51495A93-ABDA-4F65-AC80-5D76315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Check access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and metadata</a:t>
            </a:r>
          </a:p>
        </p:txBody>
      </p:sp>
      <p:sp>
        <p:nvSpPr>
          <p:cNvPr id="12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B023B693-0F6B-48B6-B34E-BFFE422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2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3C0A3693-8620-48BD-927F-23A30AC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64A864EC-B0C5-4953-B5CA-552ACF51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Compare variables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and assays</a:t>
            </a:r>
          </a:p>
        </p:txBody>
      </p:sp>
      <p:sp>
        <p:nvSpPr>
          <p:cNvPr id="15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0CF1BDED-A9AC-4179-8CAE-2A9DF19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906D21B1-A8E5-4845-B2E8-2A9FB1C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94333F37-EE8B-4FD0-B89C-964454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Send unresolved cases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for review</a:t>
            </a:r>
          </a:p>
        </p:txBody>
      </p:sp>
      <p:sp>
        <p:nvSpPr>
          <p:cNvPr id="18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DD0C1C05-1857-4C10-9780-69B650E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ution-rule-1">
            <a:extLst xmlns:a="http://schemas.openxmlformats.org/drawingml/2006/main">
              <a:ext uri="{FF2B5EF4-FFF2-40B4-BE49-F238E27FC236}">
                <a16:creationId xmlns:a16="http://schemas.microsoft.com/office/drawing/2014/main" id="{BA8BC908-D330-4F78-87EC-EE080D1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ution-1">
            <a:extLst xmlns:a="http://schemas.openxmlformats.org/drawingml/2006/main">
              <a:ext uri="{FF2B5EF4-FFF2-40B4-BE49-F238E27FC236}">
                <a16:creationId xmlns:a16="http://schemas.microsoft.com/office/drawing/2014/main" id="{392D012F-AD8E-4D49-8039-78C08A2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Similar names do not prove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identity.</a:t>
            </a:r>
          </a:p>
        </p:txBody>
      </p:sp>
      <p:sp>
        <p:nvSpPr>
          <p:cNvPr id="21" name="caution-rule-2">
            <a:extLst xmlns:a="http://schemas.openxmlformats.org/drawingml/2006/main">
              <a:ext uri="{FF2B5EF4-FFF2-40B4-BE49-F238E27FC236}">
                <a16:creationId xmlns:a16="http://schemas.microsoft.com/office/drawing/2014/main" id="{99F7453D-5E5C-4D39-97E2-CB61550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ution-2">
            <a:extLst xmlns:a="http://schemas.openxmlformats.org/drawingml/2006/main">
              <a:ext uri="{FF2B5EF4-FFF2-40B4-BE49-F238E27FC236}">
                <a16:creationId xmlns:a16="http://schemas.microsoft.com/office/drawing/2014/main" id="{CD9E5F80-1526-4A3E-96EC-A8CD5C5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VO₂peak and VO₂max need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protocol evidence.</a:t>
            </a:r>
          </a:p>
        </p:txBody>
      </p:sp>
      <p:sp>
        <p:nvSpPr>
          <p:cNvPr id="23" name="caution-rule-3">
            <a:extLst xmlns:a="http://schemas.openxmlformats.org/drawingml/2006/main">
              <a:ext uri="{FF2B5EF4-FFF2-40B4-BE49-F238E27FC236}">
                <a16:creationId xmlns:a16="http://schemas.microsoft.com/office/drawing/2014/main" id="{1BC6A8DE-1B8E-47D6-B535-2B5C4F9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ution-3">
            <a:extLst xmlns:a="http://schemas.openxmlformats.org/drawingml/2006/main">
              <a:ext uri="{FF2B5EF4-FFF2-40B4-BE49-F238E27FC236}">
                <a16:creationId xmlns:a16="http://schemas.microsoft.com/office/drawing/2014/main" id="{B60E27F7-FF99-4F47-8A64-9E26D9B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228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Relative intensities cannot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be pooled by default.</a:t>
            </a:r>
          </a:p>
        </p:txBody>
      </p:sp>
      <p:sp>
        <p:nvSpPr>
          <p:cNvPr id="2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5701C23B-373B-4E0A-B58F-95C4A5B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The workbench keeps these gaps visible instead of treating uncertain records as analysis-ready.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1D52EC6A-B942-4F25-8AEC-455BEB58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53E5CB-077D-488E-A281-53FE6F4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The workflow keeps evidence and decisions linked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47BE07-D455-486B-B87D-51318D7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90F12842-A7AE-4A3E-9C0F-EB7FA36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Each step produces a reviewable artifact, so curators can trace and revise a decision.</a:t>
            </a:r>
          </a:p>
        </p:txBody>
      </p:sp>
      <p:sp>
        <p:nvSpPr>
          <p:cNvPr id="5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EEE30941-5134-424C-B1DC-88F925A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CEFFEF0A-A61B-4AD2-BA4B-CDE9B64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2A7B4882-25EC-49F0-BD55-0FF597A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node-01">
            <a:extLst xmlns:a="http://schemas.openxmlformats.org/drawingml/2006/main">
              <a:ext uri="{FF2B5EF4-FFF2-40B4-BE49-F238E27FC236}">
                <a16:creationId xmlns:a16="http://schemas.microsoft.com/office/drawing/2014/main" id="{15C7A6D0-897C-4D17-A1B6-7A4D0DD6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4F5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9" name="workflow-step-01">
            <a:extLst xmlns:a="http://schemas.openxmlformats.org/drawingml/2006/main">
              <a:ext uri="{FF2B5EF4-FFF2-40B4-BE49-F238E27FC236}">
                <a16:creationId xmlns:a16="http://schemas.microsoft.com/office/drawing/2014/main" id="{FEAE22BE-E06A-4940-B6D9-7D42BB0A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workflow-title-01">
            <a:extLst xmlns:a="http://schemas.openxmlformats.org/drawingml/2006/main">
              <a:ext uri="{FF2B5EF4-FFF2-40B4-BE49-F238E27FC236}">
                <a16:creationId xmlns:a16="http://schemas.microsoft.com/office/drawing/2014/main" id="{4C2CC8D4-2D7D-4492-8A3C-8B699A1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1" name="workflow-body-01">
            <a:extLst xmlns:a="http://schemas.openxmlformats.org/drawingml/2006/main">
              <a:ext uri="{FF2B5EF4-FFF2-40B4-BE49-F238E27FC236}">
                <a16:creationId xmlns:a16="http://schemas.microsoft.com/office/drawing/2014/main" id="{CBCBDFBB-0D1B-4252-923A-77CCF57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Research question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Publication + repository records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dictionaries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Assay + effect tables</a:t>
            </a:r>
          </a:p>
        </p:txBody>
      </p:sp>
      <p:sp>
        <p:nvSpPr>
          <p:cNvPr id="12" name="workflow-node-02">
            <a:extLst xmlns:a="http://schemas.openxmlformats.org/drawingml/2006/main">
              <a:ext uri="{FF2B5EF4-FFF2-40B4-BE49-F238E27FC236}">
                <a16:creationId xmlns:a16="http://schemas.microsoft.com/office/drawing/2014/main" id="{7B522B91-4D09-49A6-B799-F8B10E23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3" name="workflow-step-02">
            <a:extLst xmlns:a="http://schemas.openxmlformats.org/drawingml/2006/main">
              <a:ext uri="{FF2B5EF4-FFF2-40B4-BE49-F238E27FC236}">
                <a16:creationId xmlns:a16="http://schemas.microsoft.com/office/drawing/2014/main" id="{35E3851D-CC1B-4D02-B2D0-C27AFB3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workflow-title-02">
            <a:extLst xmlns:a="http://schemas.openxmlformats.org/drawingml/2006/main">
              <a:ext uri="{FF2B5EF4-FFF2-40B4-BE49-F238E27FC236}">
                <a16:creationId xmlns:a16="http://schemas.microsoft.com/office/drawing/2014/main" id="{AD019DBE-8C6D-4C64-B3C9-DEEB697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records</a:t>
            </a:r>
          </a:p>
        </p:txBody>
      </p:sp>
      <p:sp>
        <p:nvSpPr>
          <p:cNvPr id="15" name="workflow-body-02">
            <a:extLst xmlns:a="http://schemas.openxmlformats.org/drawingml/2006/main">
              <a:ext uri="{FF2B5EF4-FFF2-40B4-BE49-F238E27FC236}">
                <a16:creationId xmlns:a16="http://schemas.microsoft.com/office/drawing/2014/main" id="{9DF8156B-27EF-4FDA-8465-000C357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Inclusion criteria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Source retrieval plan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Study + dataset cards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+ QA/QC fields</a:t>
            </a:r>
          </a:p>
        </p:txBody>
      </p:sp>
      <p:sp>
        <p:nvSpPr>
          <p:cNvPr id="16" name="workflow-node-03">
            <a:extLst xmlns:a="http://schemas.openxmlformats.org/drawingml/2006/main">
              <a:ext uri="{FF2B5EF4-FFF2-40B4-BE49-F238E27FC236}">
                <a16:creationId xmlns:a16="http://schemas.microsoft.com/office/drawing/2014/main" id="{10D195ED-DF15-4248-B3EB-FB377D6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7" name="workflow-step-03">
            <a:extLst xmlns:a="http://schemas.openxmlformats.org/drawingml/2006/main">
              <a:ext uri="{FF2B5EF4-FFF2-40B4-BE49-F238E27FC236}">
                <a16:creationId xmlns:a16="http://schemas.microsoft.com/office/drawing/2014/main" id="{E2CBCD6B-83EB-4F3C-8C24-5F42BAB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workflow-title-03">
            <a:extLst xmlns:a="http://schemas.openxmlformats.org/drawingml/2006/main">
              <a:ext uri="{FF2B5EF4-FFF2-40B4-BE49-F238E27FC236}">
                <a16:creationId xmlns:a16="http://schemas.microsoft.com/office/drawing/2014/main" id="{50309A41-BFAC-4E24-BAAD-86BBBE7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Rule-based checks</a:t>
            </a:r>
          </a:p>
        </p:txBody>
      </p:sp>
      <p:sp>
        <p:nvSpPr>
          <p:cNvPr id="19" name="workflow-body-03">
            <a:extLst xmlns:a="http://schemas.openxmlformats.org/drawingml/2006/main">
              <a:ext uri="{FF2B5EF4-FFF2-40B4-BE49-F238E27FC236}">
                <a16:creationId xmlns:a16="http://schemas.microsoft.com/office/drawing/2014/main" id="{6BF6578D-277A-469D-897B-724D9114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Eligibility and gaps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crosswalks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Identity and assay checks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MoTrPAC readiness</a:t>
            </a:r>
          </a:p>
        </p:txBody>
      </p:sp>
      <p:sp>
        <p:nvSpPr>
          <p:cNvPr id="20" name="workflow-node-04">
            <a:extLst xmlns:a="http://schemas.openxmlformats.org/drawingml/2006/main">
              <a:ext uri="{FF2B5EF4-FFF2-40B4-BE49-F238E27FC236}">
                <a16:creationId xmlns:a16="http://schemas.microsoft.com/office/drawing/2014/main" id="{2684D8F7-67C8-4F69-8CB6-475B38AB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5E9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21" name="workflow-step-04">
            <a:extLst xmlns:a="http://schemas.openxmlformats.org/drawingml/2006/main">
              <a:ext uri="{FF2B5EF4-FFF2-40B4-BE49-F238E27FC236}">
                <a16:creationId xmlns:a16="http://schemas.microsoft.com/office/drawing/2014/main" id="{D57ADE1B-D51E-46C7-A78A-B5679BA5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workflow-title-04">
            <a:extLst xmlns:a="http://schemas.openxmlformats.org/drawingml/2006/main">
              <a:ext uri="{FF2B5EF4-FFF2-40B4-BE49-F238E27FC236}">
                <a16:creationId xmlns:a16="http://schemas.microsoft.com/office/drawing/2014/main" id="{6DB62E00-423A-43AF-93EB-686A2E36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Outputs for review</a:t>
            </a:r>
          </a:p>
        </p:txBody>
      </p:sp>
      <p:sp>
        <p:nvSpPr>
          <p:cNvPr id="23" name="workflow-body-04">
            <a:extLst xmlns:a="http://schemas.openxmlformats.org/drawingml/2006/main">
              <a:ext uri="{FF2B5EF4-FFF2-40B4-BE49-F238E27FC236}">
                <a16:creationId xmlns:a16="http://schemas.microsoft.com/office/drawing/2014/main" id="{BA610752-E7D1-4548-9EC8-DB554E9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Ranked studies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Cards with provenance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Approved transforms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 queue and plot manifest</a:t>
            </a:r>
          </a:p>
        </p:txBody>
      </p:sp>
      <p:sp>
        <p:nvSpPr>
          <p:cNvPr id="24" name="review-state-band">
            <a:extLst xmlns:a="http://schemas.openxmlformats.org/drawingml/2006/main">
              <a:ext uri="{FF2B5EF4-FFF2-40B4-BE49-F238E27FC236}">
                <a16:creationId xmlns:a16="http://schemas.microsoft.com/office/drawing/2014/main" id="{68B7570A-CD21-49D2-A9DD-4070D93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7448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2E5"/>
          </a:solidFill>
          <a:ln xmlns:a="http://schemas.openxmlformats.org/drawingml/2006/main" w="11430">
            <a:solidFill>
              <a:srgbClr val="C87924"/>
            </a:solidFill>
            <a:prstDash val="solid"/>
          </a:ln>
        </p:spPr>
      </p:sp>
      <p:sp>
        <p:nvSpPr>
          <p:cNvPr id="25" name="review-state-label">
            <a:extLst xmlns:a="http://schemas.openxmlformats.org/drawingml/2006/main">
              <a:ext uri="{FF2B5EF4-FFF2-40B4-BE49-F238E27FC236}">
                <a16:creationId xmlns:a16="http://schemas.microsoft.com/office/drawing/2014/main" id="{738B7881-5EC9-4B91-B262-E2900EA9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A85B1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5B10"/>
                </a:solidFill>
                <a:latin typeface="Arial"/>
                <a:ea typeface="Arial"/>
                <a:cs typeface="Arial"/>
              </a:rPr>
              <a:t>REVIEW STATES</a:t>
            </a:r>
          </a:p>
        </p:txBody>
      </p:sp>
      <p:sp>
        <p:nvSpPr>
          <p:cNvPr id="26" name="review-state-values">
            <a:extLst xmlns:a="http://schemas.openxmlformats.org/drawingml/2006/main">
              <a:ext uri="{FF2B5EF4-FFF2-40B4-BE49-F238E27FC236}">
                <a16:creationId xmlns:a16="http://schemas.microsoft.com/office/drawing/2014/main" id="{DD3012DD-3476-4C2B-9595-BF12EA2F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004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accepted     |     needs human review     |     cannot be combined</a:t>
            </a:r>
          </a:p>
        </p:txBody>
      </p:sp>
      <p:sp>
        <p:nvSpPr>
          <p:cNvPr id="27" name="workflow-provenance">
            <a:extLst xmlns:a="http://schemas.openxmlformats.org/drawingml/2006/main">
              <a:ext uri="{FF2B5EF4-FFF2-40B4-BE49-F238E27FC236}">
                <a16:creationId xmlns:a16="http://schemas.microsoft.com/office/drawing/2014/main" id="{0089607D-26B6-4B98-AA46-BF62128E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Each artifact keeps its source, rule version, rationale, and open questions.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D791C8E-0C4A-4803-93BF-1058736E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D8456A-FBDB-4D7A-BBE1-3CC02ECD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Unresolved cases stop for human review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E14C0D-C49F-43CE-A111-FF3B86B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fety-number-01">
            <a:extLst xmlns:a="http://schemas.openxmlformats.org/drawingml/2006/main">
              <a:ext uri="{FF2B5EF4-FFF2-40B4-BE49-F238E27FC236}">
                <a16:creationId xmlns:a16="http://schemas.microsoft.com/office/drawing/2014/main" id="{A7CFBBB0-1343-4A34-BECA-AB9EC73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afety-heading-01">
            <a:extLst xmlns:a="http://schemas.openxmlformats.org/drawingml/2006/main">
              <a:ext uri="{FF2B5EF4-FFF2-40B4-BE49-F238E27FC236}">
                <a16:creationId xmlns:a16="http://schemas.microsoft.com/office/drawing/2014/main" id="{4C479E61-36A9-4614-BC57-E049793F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00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Agents organize the evidence</a:t>
            </a:r>
          </a:p>
        </p:txBody>
      </p:sp>
      <p:sp>
        <p:nvSpPr>
          <p:cNvPr id="6" name="safety-body-01">
            <a:extLst xmlns:a="http://schemas.openxmlformats.org/drawingml/2006/main">
              <a:ext uri="{FF2B5EF4-FFF2-40B4-BE49-F238E27FC236}">
                <a16:creationId xmlns:a16="http://schemas.microsoft.com/office/drawing/2014/main" id="{36B0B096-20F5-4496-A546-C1A5FEA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049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Agent and skill interfaces collect evidence and prepare questions for reviewers.</a:t>
            </a:r>
          </a:p>
        </p:txBody>
      </p:sp>
      <p:sp>
        <p:nvSpPr>
          <p:cNvPr id="7" name="safety-number-02">
            <a:extLst xmlns:a="http://schemas.openxmlformats.org/drawingml/2006/main">
              <a:ext uri="{FF2B5EF4-FFF2-40B4-BE49-F238E27FC236}">
                <a16:creationId xmlns:a16="http://schemas.microsoft.com/office/drawing/2014/main" id="{86D36A93-CC9F-4C66-A00F-52C7E81F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afety-heading-02">
            <a:extLst xmlns:a="http://schemas.openxmlformats.org/drawingml/2006/main">
              <a:ext uri="{FF2B5EF4-FFF2-40B4-BE49-F238E27FC236}">
                <a16:creationId xmlns:a16="http://schemas.microsoft.com/office/drawing/2014/main" id="{0F189EE2-8F9E-4050-829D-28E5A76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Schemas limit what agents can claim</a:t>
            </a:r>
          </a:p>
        </p:txBody>
      </p:sp>
      <p:sp>
        <p:nvSpPr>
          <p:cNvPr id="9" name="safety-body-02">
            <a:extLst xmlns:a="http://schemas.openxmlformats.org/drawingml/2006/main">
              <a:ext uri="{FF2B5EF4-FFF2-40B4-BE49-F238E27FC236}">
                <a16:creationId xmlns:a16="http://schemas.microsoft.com/office/drawing/2014/main" id="{7C90571D-541E-4FFE-AC85-2E9AF63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Review packets are advisory. They require human adjudication and cannot trigger executable actions.</a:t>
            </a:r>
          </a:p>
        </p:txBody>
      </p:sp>
      <p:sp>
        <p:nvSpPr>
          <p:cNvPr id="10" name="safety-number-03">
            <a:extLst xmlns:a="http://schemas.openxmlformats.org/drawingml/2006/main">
              <a:ext uri="{FF2B5EF4-FFF2-40B4-BE49-F238E27FC236}">
                <a16:creationId xmlns:a16="http://schemas.microsoft.com/office/drawing/2014/main" id="{91898AFC-F1AC-488F-9E3D-8A35727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afety-heading-03">
            <a:extLst xmlns:a="http://schemas.openxmlformats.org/drawingml/2006/main">
              <a:ext uri="{FF2B5EF4-FFF2-40B4-BE49-F238E27FC236}">
                <a16:creationId xmlns:a16="http://schemas.microsoft.com/office/drawing/2014/main" id="{86EAEA31-0AC3-451A-9A9A-03CA8BE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Python enforces the decision</a:t>
            </a:r>
          </a:p>
        </p:txBody>
      </p:sp>
      <p:sp>
        <p:nvSpPr>
          <p:cNvPr id="12" name="safety-body-03">
            <a:extLst xmlns:a="http://schemas.openxmlformats.org/drawingml/2006/main">
              <a:ext uri="{FF2B5EF4-FFF2-40B4-BE49-F238E27FC236}">
                <a16:creationId xmlns:a16="http://schemas.microsoft.com/office/drawing/2014/main" id="{3CD4A491-5733-441B-BEB5-F93C89B2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Only approved mappings and transforms can reach ETL or plotting.</a:t>
            </a:r>
          </a:p>
        </p:txBody>
      </p:sp>
      <p:sp>
        <p:nvSpPr>
          <p:cNvPr id="13" name="safety-callout-band">
            <a:extLst xmlns:a="http://schemas.openxmlformats.org/drawingml/2006/main">
              <a:ext uri="{FF2B5EF4-FFF2-40B4-BE49-F238E27FC236}">
                <a16:creationId xmlns:a16="http://schemas.microsoft.com/office/drawing/2014/main" id="{FEA398E8-8D10-4A79-A2A4-29B7ADA9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35623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BF2E5"/>
          </a:solidFill>
          <a:ln xmlns:a="http://schemas.openxmlformats.org/drawingml/2006/main" w="9525">
            <a:solidFill>
              <a:srgbClr val="D4A66A"/>
            </a:solidFill>
            <a:prstDash val="solid"/>
          </a:ln>
        </p:spPr>
      </p:sp>
      <p:sp>
        <p:nvSpPr>
          <p:cNvPr id="14" name="safety-callouts">
            <a:extLst xmlns:a="http://schemas.openxmlformats.org/drawingml/2006/main">
              <a:ext uri="{FF2B5EF4-FFF2-40B4-BE49-F238E27FC236}">
                <a16:creationId xmlns:a16="http://schemas.microsoft.com/office/drawing/2014/main" id="{26CBD373-06D0-49D2-8BF4-D554F3FA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862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5F101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5F1010"/>
                </a:solidFill>
                <a:latin typeface="Arial"/>
                <a:ea typeface="Arial"/>
                <a:cs typeface="Arial"/>
              </a:rPr>
              <a:t>VO₂peak and VO₂max require protocol review</a:t>
            </a:r>
          </a:p>
          <a:p xmlns:a="http://schemas.openxmlformats.org/drawingml/2006/main">
            <a:pPr algn="l">
              <a:buNone/>
              <a:defRPr sz="1163" b="1" i="0">
                <a:solidFill>
                  <a:srgbClr val="5F101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5F1010"/>
                </a:solidFill>
                <a:latin typeface="Arial"/>
                <a:ea typeface="Arial"/>
                <a:cs typeface="Arial"/>
              </a:rPr>
              <a:t>A name match alone cannot authorize pooling</a:t>
            </a:r>
          </a:p>
        </p:txBody>
      </p:sp>
      <p:sp>
        <p:nvSpPr>
          <p:cNvPr id="15" name="heatmap-frame">
            <a:extLst xmlns:a="http://schemas.openxmlformats.org/drawingml/2006/main">
              <a:ext uri="{FF2B5EF4-FFF2-40B4-BE49-F238E27FC236}">
                <a16:creationId xmlns:a16="http://schemas.microsoft.com/office/drawing/2014/main" id="{68C06BEE-A29F-4838-8C42-3C7352F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90625"/>
            <a:ext cx="3619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025d57b284fd0"/>
          <a:stretch xmlns:a="http://schemas.openxmlformats.org/drawingml/2006/main"/>
        </p:blipFill>
        <p:spPr>
          <a:xfrm xmlns:a="http://schemas.openxmlformats.org/drawingml/2006/main">
            <a:off x="4743450" y="1397494"/>
            <a:ext cx="3467100" cy="2310411"/>
          </a:xfrm>
          <a:prstGeom xmlns:a="http://schemas.openxmlformats.org/drawingml/2006/main" prst="rect">
            <a:avLst/>
          </a:prstGeom>
        </p:spPr>
      </p:pic>
      <p:sp>
        <p:nvSpPr>
          <p:cNvPr id="17" name="heatmap-caption">
            <a:extLst xmlns:a="http://schemas.openxmlformats.org/drawingml/2006/main">
              <a:ext uri="{FF2B5EF4-FFF2-40B4-BE49-F238E27FC236}">
                <a16:creationId xmlns:a16="http://schemas.microsoft.com/office/drawing/2014/main" id="{9E5B2F44-E00B-4509-808B-EAFCB66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48125"/>
            <a:ext cx="339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The synthetic heatmap keeps the contrast and review status explicit. Similar patterns do not establish replication.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C514DC7E-81F7-461C-9A1E-7FF432D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B465E2-B10A-4BB6-A517-F1C9166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The offline MVP passes its synthetic test suite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99F795-3583-48A4-B8DA-1144F1C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idation-metric">
            <a:extLst xmlns:a="http://schemas.openxmlformats.org/drawingml/2006/main">
              <a:ext uri="{FF2B5EF4-FFF2-40B4-BE49-F238E27FC236}">
                <a16:creationId xmlns:a16="http://schemas.microsoft.com/office/drawing/2014/main" id="{BE2AAA1D-E5E4-4304-A214-2530D0E9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47775"/>
            <a:ext cx="2905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5" name="validation-caption">
            <a:extLst xmlns:a="http://schemas.openxmlformats.org/drawingml/2006/main">
              <a:ext uri="{FF2B5EF4-FFF2-40B4-BE49-F238E27FC236}">
                <a16:creationId xmlns:a16="http://schemas.microsoft.com/office/drawing/2014/main" id="{7E2316F7-294A-4AA9-935A-94C71AC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offline synthetic tests passed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verified 19 August 2026</a:t>
            </a:r>
          </a:p>
        </p:txBody>
      </p:sp>
      <p:sp>
        <p:nvSpPr>
          <p:cNvPr id="6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49CE0C40-818B-41A4-BF9C-7084F3EE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ventory-summary">
            <a:extLst xmlns:a="http://schemas.openxmlformats.org/drawingml/2006/main">
              <a:ext uri="{FF2B5EF4-FFF2-40B4-BE49-F238E27FC236}">
                <a16:creationId xmlns:a16="http://schemas.microsoft.com/office/drawing/2014/main" id="{ADCE7BE8-DA57-4A07-A513-905F6158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21 paired agent roles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23 paired skill contracts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Offline core requires no network access</a:t>
            </a:r>
          </a:p>
        </p:txBody>
      </p:sp>
      <p:sp>
        <p:nvSpPr>
          <p:cNvPr id="8" name="proves-heading">
            <a:extLst xmlns:a="http://schemas.openxmlformats.org/drawingml/2006/main">
              <a:ext uri="{FF2B5EF4-FFF2-40B4-BE49-F238E27FC236}">
                <a16:creationId xmlns:a16="http://schemas.microsoft.com/office/drawing/2014/main" id="{7C112055-52F0-4225-A49E-E904F25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5730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5E54"/>
                </a:solidFill>
                <a:latin typeface="Arial"/>
                <a:ea typeface="Arial"/>
                <a:cs typeface="Arial"/>
              </a:rPr>
              <a:t>What we checked</a:t>
            </a:r>
          </a:p>
        </p:txBody>
      </p:sp>
      <p:sp>
        <p:nvSpPr>
          <p:cNvPr id="9" name="proves-body">
            <a:extLst xmlns:a="http://schemas.openxmlformats.org/drawingml/2006/main">
              <a:ext uri="{FF2B5EF4-FFF2-40B4-BE49-F238E27FC236}">
                <a16:creationId xmlns:a16="http://schemas.microsoft.com/office/drawing/2014/main" id="{11CF250D-673E-4E9A-A8C0-8418996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3905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Deterministic rules reproduce expected results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Evidence artifacts retain their provenance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Review and network boundaries are enforced</a:t>
            </a:r>
          </a:p>
        </p:txBody>
      </p:sp>
      <p:sp>
        <p:nvSpPr>
          <p:cNvPr id="10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73A862FD-F6C8-4B55-9853-1B8CA1E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What remains untested</a:t>
            </a:r>
          </a:p>
        </p:txBody>
      </p:sp>
      <p:sp>
        <p:nvSpPr>
          <p:cNvPr id="11" name="limits-body">
            <a:extLst xmlns:a="http://schemas.openxmlformats.org/drawingml/2006/main">
              <a:ext uri="{FF2B5EF4-FFF2-40B4-BE49-F238E27FC236}">
                <a16:creationId xmlns:a16="http://schemas.microsoft.com/office/drawing/2014/main" id="{9925B5FE-6F97-4BC9-9B84-ED2FA7B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Performance on independent studies and cohorts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Whether assays are comparable across platforms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Biological replication or causal inference</a:t>
            </a:r>
          </a:p>
        </p:txBody>
      </p:sp>
      <p:sp>
        <p:nvSpPr>
          <p:cNvPr id="12" name="next-milestone-band">
            <a:extLst xmlns:a="http://schemas.openxmlformats.org/drawingml/2006/main">
              <a:ext uri="{FF2B5EF4-FFF2-40B4-BE49-F238E27FC236}">
                <a16:creationId xmlns:a16="http://schemas.microsoft.com/office/drawing/2014/main" id="{FACE8CE2-854A-48DC-9539-655D0D8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74485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8C1515"/>
            </a:solidFill>
            <a:prstDash val="solid"/>
          </a:ln>
        </p:spPr>
      </p:sp>
      <p:sp>
        <p:nvSpPr>
          <p:cNvPr id="13" name="next-milestone-label">
            <a:extLst xmlns:a="http://schemas.openxmlformats.org/drawingml/2006/main">
              <a:ext uri="{FF2B5EF4-FFF2-40B4-BE49-F238E27FC236}">
                <a16:creationId xmlns:a16="http://schemas.microsoft.com/office/drawing/2014/main" id="{6E769E5A-AAC5-46A6-BD8B-8C54F9C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5DA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DAD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14" name="next-milestone-text">
            <a:extLst xmlns:a="http://schemas.openxmlformats.org/drawingml/2006/main">
              <a:ext uri="{FF2B5EF4-FFF2-40B4-BE49-F238E27FC236}">
                <a16:creationId xmlns:a16="http://schemas.microsoft.com/office/drawing/2014/main" id="{26332660-606F-49CE-9DC5-D35B7AF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frozen public records from several assay platforms</a:t>
            </a:r>
          </a:p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at least two blinded curators and formal adjudication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theme/theme1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2026-08-19T22:13:47.6530000Z</dcterms:created>
  <dcterms:modified xsi:type="dcterms:W3CDTF">2026-08-19T22:13:47.6530000Z</dcterms:modified>
</coreProperties>
</file>