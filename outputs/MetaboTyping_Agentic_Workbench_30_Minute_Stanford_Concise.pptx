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7775d8d3dc4977" /><Relationship Type="http://schemas.openxmlformats.org/officeDocument/2006/relationships/extended-properties" Target="/docProps/app.xml" Id="Rc020136aa79242b6" /><Relationship Type="http://schemas.openxmlformats.org/officeDocument/2006/relationships/officeDocument" Target="/ppt/presentation.xml" Id="R1fb761e3d98849e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ca609d9d4634704"/>
  </p:sldMasterIdLst>
  <p:notesMasterIdLst>
    <p:notesMasterId xmlns:r="http://schemas.openxmlformats.org/officeDocument/2006/relationships" r:id="Rb09a55f121df4e7d"/>
  </p:notesMasterIdLst>
  <p:sldIdLst>
    <p:sldId xmlns:r="http://schemas.openxmlformats.org/officeDocument/2006/relationships" id="256" r:id="R44b7c20627e74baa"/>
    <p:sldId xmlns:r="http://schemas.openxmlformats.org/officeDocument/2006/relationships" id="257" r:id="R98e34e38538f488e"/>
    <p:sldId xmlns:r="http://schemas.openxmlformats.org/officeDocument/2006/relationships" id="258" r:id="Re33c6ff3e26c4d43"/>
    <p:sldId xmlns:r="http://schemas.openxmlformats.org/officeDocument/2006/relationships" id="259" r:id="R6b3b6d7ef5fa4404"/>
    <p:sldId xmlns:r="http://schemas.openxmlformats.org/officeDocument/2006/relationships" id="260" r:id="Re775cbe0657944c8"/>
    <p:sldId xmlns:r="http://schemas.openxmlformats.org/officeDocument/2006/relationships" id="261" r:id="Rd8c1c04a65e84336"/>
    <p:sldId xmlns:r="http://schemas.openxmlformats.org/officeDocument/2006/relationships" id="262" r:id="Rf5442b77c97c41f2"/>
    <p:sldId xmlns:r="http://schemas.openxmlformats.org/officeDocument/2006/relationships" id="263" r:id="R742385c7ac584c22"/>
    <p:sldId xmlns:r="http://schemas.openxmlformats.org/officeDocument/2006/relationships" id="264" r:id="Rc7c40e3d61334d28"/>
    <p:sldId xmlns:r="http://schemas.openxmlformats.org/officeDocument/2006/relationships" id="265" r:id="R78c587d8dab44f10"/>
    <p:sldId xmlns:r="http://schemas.openxmlformats.org/officeDocument/2006/relationships" id="266" r:id="R4b6036d228de43eb"/>
    <p:sldId xmlns:r="http://schemas.openxmlformats.org/officeDocument/2006/relationships" id="267" r:id="R0340c9b0760c4181"/>
    <p:sldId xmlns:r="http://schemas.openxmlformats.org/officeDocument/2006/relationships" id="268" r:id="Rd2d3057c03a74497"/>
    <p:sldId xmlns:r="http://schemas.openxmlformats.org/officeDocument/2006/relationships" id="269" r:id="R371c07df3b504adb"/>
    <p:sldId xmlns:r="http://schemas.openxmlformats.org/officeDocument/2006/relationships" id="270" r:id="R15353bcd12614634"/>
    <p:sldId xmlns:r="http://schemas.openxmlformats.org/officeDocument/2006/relationships" id="271" r:id="Rd337dbd1812b41df"/>
  </p:sldIdLst>
  <p:sldSz cx="9144000" cy="5143500"/>
  <p:notesSz cx="6858000" cy="9144000"/>
  <p:embeddedFontLst>
    <p:embeddedFont>
      <p:font typeface="Helvetica Neue Light"/>
      <p:regular xmlns:r="http://schemas.openxmlformats.org/officeDocument/2006/relationships" r:id="Rbb87d0b09959432b"/>
      <p:bold xmlns:r="http://schemas.openxmlformats.org/officeDocument/2006/relationships" r:id="R7cf8ca52bab34b79"/>
      <p:italic xmlns:r="http://schemas.openxmlformats.org/officeDocument/2006/relationships" r:id="Rd475ac68a4824f37"/>
      <p:boldItalic xmlns:r="http://schemas.openxmlformats.org/officeDocument/2006/relationships" r:id="Re941e1b12f334de8"/>
    </p:embeddedFont>
    <p:embeddedFont>
      <p:font typeface="Open Sans"/>
      <p:regular xmlns:r="http://schemas.openxmlformats.org/officeDocument/2006/relationships" r:id="R0abf343e0d444697"/>
      <p:bold xmlns:r="http://schemas.openxmlformats.org/officeDocument/2006/relationships" r:id="Rbf919e8adcec443d"/>
      <p:italic xmlns:r="http://schemas.openxmlformats.org/officeDocument/2006/relationships" r:id="R60ee7830667f42f4"/>
      <p:boldItalic xmlns:r="http://schemas.openxmlformats.org/officeDocument/2006/relationships" r:id="R384cf1d260b2411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f8d0c9c40534c06" /><Relationship Type="http://schemas.openxmlformats.org/officeDocument/2006/relationships/slideMaster" Target="/ppt/slideMasters/slideMaster1.xml" Id="Rbca609d9d4634704" /><Relationship Type="http://schemas.openxmlformats.org/officeDocument/2006/relationships/notesMaster" Target="/ppt/notesMasters/notesMaster1.xml" Id="Rb09a55f121df4e7d" /><Relationship Type="http://schemas.openxmlformats.org/officeDocument/2006/relationships/presProps" Target="/ppt/presProps.xml" Id="R7800b5338c87404c" /><Relationship Type="http://schemas.openxmlformats.org/officeDocument/2006/relationships/viewProps" Target="/ppt/viewProps.xml" Id="R3ab2a7b803084c68" /><Relationship Type="http://schemas.openxmlformats.org/officeDocument/2006/relationships/tableStyles" Target="/ppt/tableStyles.xml" Id="R6ba4fb72c1264a64" /><Relationship Type="http://schemas.openxmlformats.org/officeDocument/2006/relationships/font" Target="/ppt/fonts/font.dat" Id="Rbb87d0b09959432b" /><Relationship Type="http://schemas.openxmlformats.org/officeDocument/2006/relationships/font" Target="/ppt/fonts/font2.dat" Id="R7cf8ca52bab34b79" /><Relationship Type="http://schemas.openxmlformats.org/officeDocument/2006/relationships/font" Target="/ppt/fonts/font3.dat" Id="Rd475ac68a4824f37" /><Relationship Type="http://schemas.openxmlformats.org/officeDocument/2006/relationships/font" Target="/ppt/fonts/font4.dat" Id="Re941e1b12f334de8" /><Relationship Type="http://schemas.openxmlformats.org/officeDocument/2006/relationships/font" Target="/ppt/fonts/font5.dat" Id="R0abf343e0d444697" /><Relationship Type="http://schemas.openxmlformats.org/officeDocument/2006/relationships/font" Target="/ppt/fonts/font6.dat" Id="Rbf919e8adcec443d" /><Relationship Type="http://schemas.openxmlformats.org/officeDocument/2006/relationships/font" Target="/ppt/fonts/font7.dat" Id="R60ee7830667f42f4" /><Relationship Type="http://schemas.openxmlformats.org/officeDocument/2006/relationships/font" Target="/ppt/fonts/font8.dat" Id="R384cf1d260b24117" /><Relationship Type="http://schemas.openxmlformats.org/officeDocument/2006/relationships/slide" Target="/ppt/slides/slide1.xml" Id="R44b7c20627e74baa" /><Relationship Type="http://schemas.openxmlformats.org/officeDocument/2006/relationships/slide" Target="/ppt/slides/slide2.xml" Id="R98e34e38538f488e" /><Relationship Type="http://schemas.openxmlformats.org/officeDocument/2006/relationships/slide" Target="/ppt/slides/slide3.xml" Id="Re33c6ff3e26c4d43" /><Relationship Type="http://schemas.openxmlformats.org/officeDocument/2006/relationships/slide" Target="/ppt/slides/slide4.xml" Id="R6b3b6d7ef5fa4404" /><Relationship Type="http://schemas.openxmlformats.org/officeDocument/2006/relationships/slide" Target="/ppt/slides/slide5.xml" Id="Re775cbe0657944c8" /><Relationship Type="http://schemas.openxmlformats.org/officeDocument/2006/relationships/slide" Target="/ppt/slides/slide6.xml" Id="Rd8c1c04a65e84336" /><Relationship Type="http://schemas.openxmlformats.org/officeDocument/2006/relationships/slide" Target="/ppt/slides/slide7.xml" Id="Rf5442b77c97c41f2" /><Relationship Type="http://schemas.openxmlformats.org/officeDocument/2006/relationships/slide" Target="/ppt/slides/slide8.xml" Id="R742385c7ac584c22" /><Relationship Type="http://schemas.openxmlformats.org/officeDocument/2006/relationships/slide" Target="/ppt/slides/slide9.xml" Id="Rc7c40e3d61334d28" /><Relationship Type="http://schemas.openxmlformats.org/officeDocument/2006/relationships/slide" Target="/ppt/slides/slide10.xml" Id="R78c587d8dab44f10" /><Relationship Type="http://schemas.openxmlformats.org/officeDocument/2006/relationships/slide" Target="/ppt/slides/slide11.xml" Id="R4b6036d228de43eb" /><Relationship Type="http://schemas.openxmlformats.org/officeDocument/2006/relationships/slide" Target="/ppt/slides/slide12.xml" Id="R0340c9b0760c4181" /><Relationship Type="http://schemas.openxmlformats.org/officeDocument/2006/relationships/slide" Target="/ppt/slides/slide13.xml" Id="Rd2d3057c03a74497" /><Relationship Type="http://schemas.openxmlformats.org/officeDocument/2006/relationships/slide" Target="/ppt/slides/slide14.xml" Id="R371c07df3b504adb" /><Relationship Type="http://schemas.openxmlformats.org/officeDocument/2006/relationships/slide" Target="/ppt/slides/slide15.xml" Id="R15353bcd12614634" /><Relationship Type="http://schemas.openxmlformats.org/officeDocument/2006/relationships/slide" Target="/ppt/slides/slide16.xml" Id="Rd337dbd1812b41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3d3bb837a849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439b909bcc4274" /><Relationship Type="http://schemas.openxmlformats.org/officeDocument/2006/relationships/notesMaster" Target="/ppt/notesMasters/notesMaster1.xml" Id="R54042cf2179b40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cf96a63fb44b4a" /><Relationship Type="http://schemas.openxmlformats.org/officeDocument/2006/relationships/notesMaster" Target="/ppt/notesMasters/notesMaster1.xml" Id="R57d6d98497634d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fff518f5634cd6" /><Relationship Type="http://schemas.openxmlformats.org/officeDocument/2006/relationships/notesMaster" Target="/ppt/notesMasters/notesMaster1.xml" Id="R48434234c4034e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ed3210c35c4de5" /><Relationship Type="http://schemas.openxmlformats.org/officeDocument/2006/relationships/notesMaster" Target="/ppt/notesMasters/notesMaster1.xml" Id="R62ee798b6e0a47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42ab14499842eb" /><Relationship Type="http://schemas.openxmlformats.org/officeDocument/2006/relationships/notesMaster" Target="/ppt/notesMasters/notesMaster1.xml" Id="R11a5c9fe957b4f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6a45ef09f748e3" /><Relationship Type="http://schemas.openxmlformats.org/officeDocument/2006/relationships/notesMaster" Target="/ppt/notesMasters/notesMaster1.xml" Id="R20427ce17c9f4a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9f1318c2674600" /><Relationship Type="http://schemas.openxmlformats.org/officeDocument/2006/relationships/notesMaster" Target="/ppt/notesMasters/notesMaster1.xml" Id="R3c02f9c4f4fd45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eac69086004f13" /><Relationship Type="http://schemas.openxmlformats.org/officeDocument/2006/relationships/notesMaster" Target="/ppt/notesMasters/notesMaster1.xml" Id="R3adde6192c6f44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e86585c470418d" /><Relationship Type="http://schemas.openxmlformats.org/officeDocument/2006/relationships/notesMaster" Target="/ppt/notesMasters/notesMaster1.xml" Id="R2bf0051df6fc4a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9e0df120d943af" /><Relationship Type="http://schemas.openxmlformats.org/officeDocument/2006/relationships/notesMaster" Target="/ppt/notesMasters/notesMaster1.xml" Id="R8dd933dbae224b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aa384e1eef47c4" /><Relationship Type="http://schemas.openxmlformats.org/officeDocument/2006/relationships/notesMaster" Target="/ppt/notesMasters/notesMaster1.xml" Id="R4200b71b00254d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970a6a78c647d5" /><Relationship Type="http://schemas.openxmlformats.org/officeDocument/2006/relationships/notesMaster" Target="/ppt/notesMasters/notesMaster1.xml" Id="Rd8b6dfccb2dd45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472dd71b72474a" /><Relationship Type="http://schemas.openxmlformats.org/officeDocument/2006/relationships/notesMaster" Target="/ppt/notesMasters/notesMaster1.xml" Id="R7d4dbf17d61346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fc318f24974239" /><Relationship Type="http://schemas.openxmlformats.org/officeDocument/2006/relationships/notesMaster" Target="/ppt/notesMasters/notesMaster1.xml" Id="R78ad7619d40949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7a07872d174353" /><Relationship Type="http://schemas.openxmlformats.org/officeDocument/2006/relationships/notesMaster" Target="/ppt/notesMasters/notesMaster1.xml" Id="Re2de9f05268d45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da0b7bf9f74331" /><Relationship Type="http://schemas.openxmlformats.org/officeDocument/2006/relationships/notesMaster" Target="/ppt/notesMasters/notesMaster1.xml" Id="Re51bf29f69584f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Each stage creates inspectable artifacts. Structured results and provenance are persisted as CSV or JSON; human-readable reports and review packets are Markdown; figures are rendered from the persisted tables.</a:t>
            </a:r>
            <a:endParaRPr/>
          </a:p>
          <a:p xmlns:a="http://schemas.openxmlformats.org/drawingml/2006/main">
            <a:pPr marL="0" lvl="0" indent="0" algn="l">
              <a:spcBef>
                <a:spcPts val="0"/>
              </a:spcBef>
              <a:spcAft>
                <a:spcPts val="0"/>
              </a:spcAft>
              <a:buNone/>
            </a:pPr>
            <a:r>
              <a:t>The visible shorthand, CSV + Markdown, emphasizes the handoff to a human reviewer. It does not imply that JSON provenance or figures are absent.</a:t>
            </a:r>
            <a:endParaRPr/>
          </a:p>
          <a:p xmlns:a="http://schemas.openxmlformats.org/drawingml/2006/main">
            <a:pPr marL="0" lvl="0" indent="0" algn="l">
              <a:spcBef>
                <a:spcPts val="0"/>
              </a:spcBef>
              <a:spcAft>
                <a:spcPts val="0"/>
              </a:spcAft>
              <a:buNone/>
            </a:pPr>
            <a:r>
              <a:t>Uncertain identities, mappings, protocols, or estimands are routed to review queues and packets. They cannot enter deterministic ETL or be treated as accepted results without adjudication.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/Users/samuelmontalvo/Documents/GitHub/metabotyping-agentic-workbench/src/metabotyping_agentic/io.py</a:t>
            </a:r>
            <a:endParaRPr/>
          </a:p>
          <a:p xmlns:a="http://schemas.openxmlformats.org/drawingml/2006/main">
            <a:pPr marL="0" lvl="0" indent="0" algn="l">
              <a:spcBef>
                <a:spcPts val="0"/>
              </a:spcBef>
              <a:spcAft>
                <a:spcPts val="0"/>
              </a:spcAft>
              <a:buNone/>
            </a:pPr>
            <a:r>
              <a:t>- /Users/samuelmontalvo/Documents/GitHub/metabotyping-agentic-workbench/src/metabotyping_agentic/harmonization/harmonization_plan.py</a:t>
            </a:r>
            <a:endParaRPr/>
          </a:p>
          <a:p xmlns:a="http://schemas.openxmlformats.org/drawingml/2006/main">
            <a:pPr marL="0" lvl="0" indent="0" algn="l">
              <a:spcBef>
                <a:spcPts val="0"/>
              </a:spcBef>
              <a:spcAft>
                <a:spcPts val="0"/>
              </a:spcAft>
              <a:buNone/>
            </a:pPr>
            <a:r>
              <a:t>- /Users/samuelmontalvo/Documents/GitHub/metabotyping-agentic-workbench/src/metabotyping_agentic/reports/render.py</a:t>
            </a:r>
            <a:endParaRPr/>
          </a:p>
          <a:p xmlns:a="http://schemas.openxmlformats.org/drawingml/2006/main">
            <a:pPr marL="0" lvl="0" indent="0" algn="l">
              <a:spcBef>
                <a:spcPts val="0"/>
              </a:spcBef>
              <a:spcAft>
                <a:spcPts val="0"/>
              </a:spcAft>
              <a:buNone/>
            </a:pPr>
            <a:r>
              <a:t>- /Users/samuelmontalvo/Documents/GitHub/metabotyping-agentic-workbench/.agents/skills/human-review-packet/SKILL.md</a:t>
            </a:r>
            <a:endParaRPr/>
          </a:p>
          <a:p xmlns:a="http://schemas.openxmlformats.org/drawingml/2006/main">
            <a:pPr marL="0" lvl="0" indent="0" algn="l">
              <a:spcBef>
                <a:spcPts val="0"/>
              </a:spcBef>
              <a:spcAft>
                <a:spcPts val="0"/>
              </a:spcAft>
              <a:buNone/>
            </a:pPr>
            <a:r>
              <a:t>- /Users/samuelmontalvo/Documents/GitHub/metabotyping-agentic-workbench/.agents/skills/harmonization-plan/SKILL.md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These are operating layers, not three different levels of intelligence.</a:t>
            </a:r>
            <a:endParaRPr/>
          </a:p>
          <a:p xmlns:a="http://schemas.openxmlformats.org/drawingml/2006/main">
            <a:pPr marL="0" lvl="0" indent="0" algn="l">
              <a:spcBef>
                <a:spcPts val="0"/>
              </a:spcBef>
              <a:spcAft>
                <a:spcPts val="0"/>
              </a:spcAft>
              <a:buNone/>
            </a:pPr>
            <a:r>
              <a:t>With direct ChatGPT use, the model responds to a prompt and the user manages the sequence: ask, inspect, and ask again.</a:t>
            </a:r>
            <a:endParaRPr/>
          </a:p>
          <a:p xmlns:a="http://schemas.openxmlformats.org/drawingml/2006/main">
            <a:pPr marL="0" lvl="0" indent="0" algn="l">
              <a:spcBef>
                <a:spcPts val="0"/>
              </a:spcBef>
              <a:spcAft>
                <a:spcPts val="0"/>
              </a:spcAft>
              <a:buNone/>
            </a:pPr>
            <a:r>
              <a:t>A skill is a reusable method or contract: structured instructions, checks, and an expected output. It does not independently decide to run.</a:t>
            </a:r>
            <a:endParaRPr/>
          </a:p>
          <a:p xmlns:a="http://schemas.openxmlformats.org/drawingml/2006/main">
            <a:pPr marL="0" lvl="0" indent="0" algn="l">
              <a:spcBef>
                <a:spcPts val="0"/>
              </a:spcBef>
              <a:spcAft>
                <a:spcPts val="0"/>
              </a:spcAft>
              <a:buNone/>
            </a:pPr>
            <a:r>
              <a:t>An agent is goal-directed orchestration. It maintains state, chooses tools and skills, iterates, produces artifacts, and can pause for human review.</a:t>
            </a:r>
            <a:endParaRPr/>
          </a:p>
          <a:p xmlns:a="http://schemas.openxmlformats.org/drawingml/2006/main">
            <a:pPr marL="0" lvl="0" indent="0" algn="l">
              <a:spcBef>
                <a:spcPts val="0"/>
              </a:spcBef>
              <a:spcAft>
                <a:spcPts val="0"/>
              </a:spcAft>
              <a:buNone/>
            </a:pPr>
            <a:r>
              <a:t>ChatGPT can host agentic behavior when it is given tools, state, and permission to coordinate a workflow. The distinction is the operating contract, not a separate kind of intelligence.</a:t>
            </a:r>
            <a:endParaRPr/>
          </a:p>
          <a:p xmlns:a="http://schemas.openxmlformats.org/drawingml/2006/main">
            <a:pPr marL="0" lvl="0" indent="0" algn="l">
              <a:spcBef>
                <a:spcPts val="0"/>
              </a:spcBef>
              <a:spcAft>
                <a:spcPts val="0"/>
              </a:spcAft>
              <a:buNone/>
            </a:pPr>
            <a:r>
              <a:t>In this workbench, agents call domain skills such as study discovery, metadata-card extraction, identity resolution, crosswalking, analysis planning, and report packaging.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/Users/samuelmontalvo/Documents/GitHub/metabotyping-agentic-workbench/.agents/skills</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privacy boundary is data minimization: participant identifiers, phenotypes, sample-level factors, and full quantitative matrices are not sent to RefMet.</a:t>
            </a:r>
            <a:endParaRPr/>
          </a:p>
          <a:p xmlns:a="http://schemas.openxmlformats.org/drawingml/2006/main">
            <a:pPr marL="0" lvl="0" indent="0" algn="l">
              <a:spcBef>
                <a:spcPts val="0"/>
              </a:spcBef>
              <a:spcAft>
                <a:spcPts val="0"/>
              </a:spcAft>
              <a:buNone/>
            </a:pPr>
            <a:r>
              <a:t>During an online lookup, this implementation sends only the metabolite query name and receives standardized nomenclature fields. Offline analyses use the frozen local RefMet snapshot and do not call the network.</a:t>
            </a:r>
            <a:endParaRPr/>
          </a:p>
          <a:p xmlns:a="http://schemas.openxmlformats.org/drawingml/2006/main">
            <a:pPr marL="0" lvl="0" indent="0" algn="l">
              <a:spcBef>
                <a:spcPts val="0"/>
              </a:spcBef>
              <a:spcAft>
                <a:spcPts val="0"/>
              </a:spcAft>
              <a:buNone/>
            </a:pPr>
            <a:r>
              <a:t>RefMet is a public nomenclature service, not a private-data vault. Security comes from keeping sensitive study data local and restricting network access to reviewed connector modules.</a:t>
            </a:r>
            <a:endParaRPr/>
          </a:p>
          <a:p xmlns:a="http://schemas.openxmlformats.org/drawingml/2006/main">
            <a:pPr marL="0" lvl="0" indent="0" algn="l">
              <a:spcBef>
                <a:spcPts val="0"/>
              </a:spcBef>
              <a:spcAft>
                <a:spcPts val="0"/>
              </a:spcAft>
              <a:buNone/>
            </a:pPr>
            <a:r>
              <a:t>The returned RefMet label and hierarchy remain nomenclature evidence. They do not prove feature identity or authorize pooling; conflicting assay evidence stays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a:p xmlns:a="http://schemas.openxmlformats.org/drawingml/2006/main">
            <a:pPr marL="0" lvl="0" indent="0" algn="l">
              <a:spcBef>
                <a:spcPts val="0"/>
              </a:spcBef>
              <a:spcAft>
                <a:spcPts val="0"/>
              </a:spcAft>
              <a:buNone/>
            </a:pPr>
            <a:r>
              <a:t>- /Users/samuelmontalvo/Documents/GitHub/metabotyping-agentic-workbench/tests/test_network_boundary.py</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analysis does not terminate in an opaque chart. Plot data and study-contrast metadata are persisted as CSV before the figure is rendered, so a reviewer can inspect the exact rows behind each panel.</a:t>
            </a:r>
            <a:endParaRPr/>
          </a:p>
          <a:p xmlns:a="http://schemas.openxmlformats.org/drawingml/2006/main">
            <a:pPr marL="0" lvl="0" indent="0" algn="l">
              <a:spcBef>
                <a:spcPts val="0"/>
              </a:spcBef>
              <a:spcAft>
                <a:spcPts val="0"/>
              </a:spcAft>
              <a:buNone/>
            </a:pPr>
            <a:r>
              <a:t>This displayed figure is generated from four_study_differential_results.csv, study_contrast_metadata.csv, and cross_study_heatmap_data.csv in the repository's synthetic four-study figure bundle.</a:t>
            </a:r>
            <a:endParaRPr/>
          </a:p>
          <a:p xmlns:a="http://schemas.openxmlformats.org/drawingml/2006/main">
            <a:pPr marL="0" lvl="0" indent="0" algn="l">
              <a:spcBef>
                <a:spcPts val="0"/>
              </a:spcBef>
              <a:spcAft>
                <a:spcPts val="0"/>
              </a:spcAft>
              <a:buNone/>
            </a:pPr>
            <a:r>
              <a:t>The plotting contract also records dimensions, checksums, and provenance in a JSON manifest. Markdown reports and review packets explain interpretation, limitations, and unresolved decisions in a human-readable form.</a:t>
            </a:r>
            <a:endParaRPr/>
          </a:p>
          <a:p xmlns:a="http://schemas.openxmlformats.org/drawingml/2006/main">
            <a:pPr marL="0" lvl="0" indent="0" algn="l">
              <a:spcBef>
                <a:spcPts val="0"/>
              </a:spcBef>
              <a:spcAft>
                <a:spcPts val="0"/>
              </a:spcAft>
              <a:buNone/>
            </a:pPr>
            <a:r>
              <a:t>Human verification remains required: persisted artifacts make the result auditable, but they do not make an agent output ground truth or authorize automatic pooling.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/Users/samuelmontalvo/Documents/GitHub/metabotyping-agentic-workbench/scripts/render_synthetic_four_study_motrpac_mw_figure.R</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/Users/samuelmontalvo/Documents/GitHub/metabotyping-agentic-workbench/reports/synthetic_four_study_figure/cross_study_heatmap_data.csv</a:t>
            </a:r>
            <a:endParaRPr/>
          </a:p>
          <a:p xmlns:a="http://schemas.openxmlformats.org/drawingml/2006/main">
            <a:pPr marL="0" lvl="0" indent="0" algn="l">
              <a:spcBef>
                <a:spcPts val="0"/>
              </a:spcBef>
              <a:spcAft>
                <a:spcPts val="0"/>
              </a:spcAft>
              <a:buNone/>
            </a:pPr>
            <a:r>
              <a:t>- /Users/samuelmontalvo/Documents/GitHub/metabotyping-agentic-workbench/src/metabotyping_agentic/plotting/metabolomics.py</a:t>
            </a:r>
            <a:endParaRPr/>
          </a:p>
          <a:p xmlns:a="http://schemas.openxmlformats.org/drawingml/2006/main">
            <a:pPr marL="0" lvl="0" indent="0" algn="l">
              <a:spcBef>
                <a:spcPts val="0"/>
              </a:spcBef>
              <a:spcAft>
                <a:spcPts val="0"/>
              </a:spcAft>
              <a:buNone/>
            </a:pPr>
            <a:r>
              <a:t>- /Users/samuelmontalvo/Documents/GitHub/metabotyping-agentic-workbench/.agents/skills/motrpac-plotting/SKILL.md</a:t>
            </a:r>
            <a:endParaRPr/>
          </a:p>
          <a:p xmlns:a="http://schemas.openxmlformats.org/drawingml/2006/main">
            <a:pPr marL="0" lvl="0" indent="0" algn="l">
              <a:spcBef>
                <a:spcPts val="0"/>
              </a:spcBef>
              <a:spcAft>
                <a:spcPts val="0"/>
              </a:spcAft>
              <a:buNone/>
            </a:pPr>
            <a:r>
              <a:t>- /Users/samuelmontalvo/Documents/GitHub/metabotyping-agentic-workbench/reports/human_review_packet.md</a:t>
            </a:r>
            <a:endParaRPr/>
          </a:p>
          <a:p xmlns:a="http://schemas.openxmlformats.org/drawingml/2006/main">
            <a:pPr marL="0" lvl="0" indent="0" algn="l">
              <a:spcBef>
                <a:spcPts val="0"/>
              </a:spcBef>
              <a:spcAft>
                <a:spcPts val="0"/>
              </a:spcAft>
              <a:buNone/>
            </a:pPr>
            <a:r>
              <a:t>- /Users/samuelmontalvo/Documents/GitHub/metabotyping-agentic-workbench/data/review/human_review_queue.csv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20 seconds.</a:t>
            </a:r>
            <a:endParaRPr/>
          </a:p>
          <a:p xmlns:a="http://schemas.openxmlformats.org/drawingml/2006/main">
            <a:pPr marL="0" lvl="0" indent="0" algn="l">
              <a:spcBef>
                <a:spcPts val="0"/>
              </a:spcBef>
              <a:spcAft>
                <a:spcPts val="0"/>
              </a:spcAft>
              <a:buNone/>
            </a:pPr>
            <a:r>
              <a:t>Acknowledge the full project team: Samuel Montalvo, Eric Leslie, Laurens van de Wiel, and Matthew T. Wheeler, before returning to the closing decision.</a:t>
            </a:r>
            <a:endParaRPr/>
          </a:p>
          <a:p xmlns:a="http://schemas.openxmlformats.org/drawingml/2006/main">
            <a:pPr marL="0" lvl="0" indent="0" algn="l">
              <a:spcBef>
                <a:spcPts val="0"/>
              </a:spcBef>
              <a:spcAft>
                <a:spcPts val="0"/>
              </a:spcAft>
              <a:buNone/>
            </a:pPr>
            <a:r>
              <a:t>The MoTrPAC-oriented public-summary proposal lists these four names as authors. The slide uses the requested contributor framing.</a:t>
            </a:r>
            <a:endParaRPr/>
          </a:p>
          <a:p xmlns:a="http://schemas.openxmlformats.org/drawingml/2006/main">
            <a:pPr marL="0" lvl="0" indent="0" algn="l">
              <a:spcBef>
                <a:spcPts val="0"/>
              </a:spcBef>
              <a:spcAft>
                <a:spcPts val="0"/>
              </a:spcAft>
              <a:buNone/>
            </a:pPr>
            <a:r>
              <a:t>Open with the expanded scope: the workbench can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/Users/samuelmontalvo/Documents/GitHub/metabotyping-agentic-workbench/output/doc/metabotyping_ai_public_summary_proposal/metabotyping_ai_public_summary_proposal.md</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2deb0027b0467f" /><Relationship Type="http://schemas.openxmlformats.org/officeDocument/2006/relationships/image" Target="/ppt/media/image2.png" Id="R7c6829ed933045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ed49edb4f84c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c6c29101eb4f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a7b5a2db4349d5" /><Relationship Type="http://schemas.openxmlformats.org/officeDocument/2006/relationships/image" Target="/ppt/media/image2.png" Id="R76df2776065143e8" /><Relationship Type="http://schemas.openxmlformats.org/officeDocument/2006/relationships/image" Target="/ppt/media/image.jpeg" Id="Ra905c9c18f9c46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aeb2a85110450f" /><Relationship Type="http://schemas.openxmlformats.org/officeDocument/2006/relationships/image" Target="/ppt/media/image2.png" Id="R466892561c354305" /><Relationship Type="http://schemas.openxmlformats.org/officeDocument/2006/relationships/image" Target="/ppt/media/image3.png" Id="Rb23875928d8644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865e4c4d6543c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57f29c0d1b48a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d6907c95db4f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cde458505b348a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814878f3bfd48a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bb3583647f2486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b1d0a314b1c454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16568c7655b4b20"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4895652aa8c48a0"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7c6829ed933045fd">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76df2776065143e8">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a905c9c18f9c4696">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466892561c354305">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b23875928d864410">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9f67bc7d90d440e4" /><Relationship Type="http://schemas.openxmlformats.org/officeDocument/2006/relationships/theme" Target="/ppt/slideMasters/theme/theme2.xml" Id="R09817321e95d4fe4" /><Relationship Type="http://schemas.openxmlformats.org/officeDocument/2006/relationships/slideLayout" Target="/ppt/slideLayouts/slideLayout1.xml" Id="Rab913471ed4345ea" /><Relationship Type="http://schemas.openxmlformats.org/officeDocument/2006/relationships/slideLayout" Target="/ppt/slideLayouts/slideLayout2.xml" Id="R38340edd5f5045a0" /><Relationship Type="http://schemas.openxmlformats.org/officeDocument/2006/relationships/slideLayout" Target="/ppt/slideLayouts/slideLayout3.xml" Id="R6396ab0a1c934d57" /><Relationship Type="http://schemas.openxmlformats.org/officeDocument/2006/relationships/slideLayout" Target="/ppt/slideLayouts/slideLayout4.xml" Id="R6345bbb72bb24a16" /><Relationship Type="http://schemas.openxmlformats.org/officeDocument/2006/relationships/slideLayout" Target="/ppt/slideLayouts/slideLayout5.xml" Id="R9bbb4cf9667d4681" /><Relationship Type="http://schemas.openxmlformats.org/officeDocument/2006/relationships/slideLayout" Target="/ppt/slideLayouts/slideLayout6.xml" Id="R5d7a09f410854614" /><Relationship Type="http://schemas.openxmlformats.org/officeDocument/2006/relationships/slideLayout" Target="/ppt/slideLayouts/slideLayout7.xml" Id="R7bbdd7c7fc92418a" /><Relationship Type="http://schemas.openxmlformats.org/officeDocument/2006/relationships/slideLayout" Target="/ppt/slideLayouts/slideLayout8.xml" Id="R684102c70f0940a4" /><Relationship Type="http://schemas.openxmlformats.org/officeDocument/2006/relationships/slideLayout" Target="/ppt/slideLayouts/slideLayout9.xml" Id="Red1826041d724cab" /><Relationship Type="http://schemas.openxmlformats.org/officeDocument/2006/relationships/slideLayout" Target="/ppt/slideLayouts/slideLayout10.xml" Id="R638d7572bfbd4692" /><Relationship Type="http://schemas.openxmlformats.org/officeDocument/2006/relationships/slideLayout" Target="/ppt/slideLayouts/slideLayout11.xml" Id="R8b0a215f94294365" /><Relationship Type="http://schemas.openxmlformats.org/officeDocument/2006/relationships/slideLayout" Target="/ppt/slideLayouts/slideLayout12.xml" Id="R8a9faecbeacb4745" /><Relationship Type="http://schemas.openxmlformats.org/officeDocument/2006/relationships/slideLayout" Target="/ppt/slideLayouts/slideLayout13.xml" Id="R6fe40dc6220b4d84" /><Relationship Type="http://schemas.openxmlformats.org/officeDocument/2006/relationships/slideLayout" Target="/ppt/slideLayouts/slideLayout14.xml" Id="R50b0a4b6f6e54a4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9f67bc7d90d440e4">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b913471ed4345ea"/>
    <p:sldLayoutId xmlns:r="http://schemas.openxmlformats.org/officeDocument/2006/relationships" id="2147483650" r:id="R38340edd5f5045a0"/>
    <p:sldLayoutId xmlns:r="http://schemas.openxmlformats.org/officeDocument/2006/relationships" id="2147483651" r:id="R6396ab0a1c934d57"/>
    <p:sldLayoutId xmlns:r="http://schemas.openxmlformats.org/officeDocument/2006/relationships" id="2147483652" r:id="R6345bbb72bb24a16"/>
    <p:sldLayoutId xmlns:r="http://schemas.openxmlformats.org/officeDocument/2006/relationships" id="2147483653" r:id="R9bbb4cf9667d4681"/>
    <p:sldLayoutId xmlns:r="http://schemas.openxmlformats.org/officeDocument/2006/relationships" id="2147483654" r:id="R5d7a09f410854614"/>
    <p:sldLayoutId xmlns:r="http://schemas.openxmlformats.org/officeDocument/2006/relationships" id="2147483655" r:id="R7bbdd7c7fc92418a"/>
    <p:sldLayoutId xmlns:r="http://schemas.openxmlformats.org/officeDocument/2006/relationships" id="2147483656" r:id="R684102c70f0940a4"/>
    <p:sldLayoutId xmlns:r="http://schemas.openxmlformats.org/officeDocument/2006/relationships" id="2147483657" r:id="Red1826041d724cab"/>
    <p:sldLayoutId xmlns:r="http://schemas.openxmlformats.org/officeDocument/2006/relationships" id="2147483658" r:id="R638d7572bfbd4692"/>
    <p:sldLayoutId xmlns:r="http://schemas.openxmlformats.org/officeDocument/2006/relationships" id="2147483659" r:id="R8b0a215f94294365"/>
    <p:sldLayoutId xmlns:r="http://schemas.openxmlformats.org/officeDocument/2006/relationships" id="2147483660" r:id="R8a9faecbeacb4745"/>
    <p:sldLayoutId xmlns:r="http://schemas.openxmlformats.org/officeDocument/2006/relationships" id="2147483661" r:id="R6fe40dc6220b4d84"/>
    <p:sldLayoutId xmlns:r="http://schemas.openxmlformats.org/officeDocument/2006/relationships" id="2147483662" r:id="R50b0a4b6f6e54a4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25fd1118fe4b4f52" /><Relationship Type="http://schemas.openxmlformats.org/officeDocument/2006/relationships/notesSlide" Target="/ppt/notesSlides/notesSlide1.xml" Id="R6c69810eea7f4e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0f403098c894df4" /><Relationship Type="http://schemas.openxmlformats.org/officeDocument/2006/relationships/image" Target="/ppt/media/image4.png" Id="Rd4af3854fc504e17" /><Relationship Type="http://schemas.openxmlformats.org/officeDocument/2006/relationships/notesSlide" Target="/ppt/notesSlides/notesSlide2.xml" Id="R0d7f84f39ec94a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f4ef0dcbbf14cbe" /><Relationship Type="http://schemas.openxmlformats.org/officeDocument/2006/relationships/notesSlide" Target="/ppt/notesSlides/notesSlide3.xml" Id="R1b03fdff3a9145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99b0f9ffe13481b" /><Relationship Type="http://schemas.openxmlformats.org/officeDocument/2006/relationships/notesSlide" Target="/ppt/notesSlides/notesSlide4.xml" Id="Rccca31dff63b49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c5ec00233094a6b" /><Relationship Type="http://schemas.openxmlformats.org/officeDocument/2006/relationships/notesSlide" Target="/ppt/notesSlides/notesSlide5.xml" Id="R3e3c00c1dbbb47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8579244c0d94abe" /><Relationship Type="http://schemas.openxmlformats.org/officeDocument/2006/relationships/chart" Target="/ppt/slides/charts/chart1.xml" Id="R1c2521de0ed74778" /><Relationship Type="http://schemas.openxmlformats.org/officeDocument/2006/relationships/notesSlide" Target="/ppt/notesSlides/notesSlide6.xml" Id="R6d8f055baf674b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676760eaac943ac" /><Relationship Type="http://schemas.openxmlformats.org/officeDocument/2006/relationships/image" Target="/ppt/media/image5.png" Id="R23f442a7d39444cf" /><Relationship Type="http://schemas.openxmlformats.org/officeDocument/2006/relationships/notesSlide" Target="/ppt/notesSlides/notesSlide7.xml" Id="R6e85d0e51e434e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ff86f2493c24d15" /><Relationship Type="http://schemas.openxmlformats.org/officeDocument/2006/relationships/image" Target="/ppt/media/image6.png" Id="R9527e7e08908467e" /><Relationship Type="http://schemas.openxmlformats.org/officeDocument/2006/relationships/notesSlide" Target="/ppt/notesSlides/notesSlide8.xml" Id="R6e413816f8a144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39dd1d2b8d54db8" /><Relationship Type="http://schemas.openxmlformats.org/officeDocument/2006/relationships/chart" Target="/ppt/slides/charts/chart2.xml" Id="R897ee38a47d249a5" /><Relationship Type="http://schemas.openxmlformats.org/officeDocument/2006/relationships/notesSlide" Target="/ppt/notesSlides/notesSlide9.xml" Id="R50279b8aa94a4f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a8403366ca24e98" /><Relationship Type="http://schemas.openxmlformats.org/officeDocument/2006/relationships/chart" Target="/ppt/slides/charts/chart3.xml" Id="R74edc557d27f4d01" /><Relationship Type="http://schemas.openxmlformats.org/officeDocument/2006/relationships/notesSlide" Target="/ppt/notesSlides/notesSlide10.xml" Id="R515426a27ccd41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282839e6dca4f97" /><Relationship Type="http://schemas.openxmlformats.org/officeDocument/2006/relationships/image" Target="/ppt/media/image7.png" Id="Rbb87874b2b494c23" /><Relationship Type="http://schemas.openxmlformats.org/officeDocument/2006/relationships/notesSlide" Target="/ppt/notesSlides/notesSlide11.xml" Id="Rcad8b56f254748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d1c77b5d95045c6" /><Relationship Type="http://schemas.openxmlformats.org/officeDocument/2006/relationships/notesSlide" Target="/ppt/notesSlides/notesSlide12.xml" Id="R6ba4bcebe53a4c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c25531efdb0410a" /><Relationship Type="http://schemas.openxmlformats.org/officeDocument/2006/relationships/chart" Target="/ppt/slides/charts/chart4.xml" Id="Rf9a754adaeba41a4" /><Relationship Type="http://schemas.openxmlformats.org/officeDocument/2006/relationships/notesSlide" Target="/ppt/notesSlides/notesSlide13.xml" Id="Rfec912220afb48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995ecf337934945" /><Relationship Type="http://schemas.openxmlformats.org/officeDocument/2006/relationships/image" Target="/ppt/media/image8.png" Id="R94b8940d262c4572" /><Relationship Type="http://schemas.openxmlformats.org/officeDocument/2006/relationships/image" Target="/ppt/media/image9.png" Id="Ra4d3ef75c97f4777" /><Relationship Type="http://schemas.openxmlformats.org/officeDocument/2006/relationships/image" Target="/ppt/media/image10.png" Id="R0f71f443f48e4fc6" /><Relationship Type="http://schemas.openxmlformats.org/officeDocument/2006/relationships/notesSlide" Target="/ppt/notesSlides/notesSlide14.xml" Id="R2bbfe8512b8745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66500d68306a4362" /><Relationship Type="http://schemas.openxmlformats.org/officeDocument/2006/relationships/notesSlide" Target="/ppt/notesSlides/notesSlide15.xml" Id="R6c3963cf645e48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4.xml" Id="R1994891c11c14e37" /><Relationship Type="http://schemas.openxmlformats.org/officeDocument/2006/relationships/notesSlide" Target="/ppt/notesSlides/notesSlide16.xml" Id="R01ee3377988c4feb"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Evidence reuse across genes, metabolites, studies, and variables</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comparability gaps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4af3854fc504e17"/>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hide more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stages turn evidence into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Any stage can pause, abstain, or return for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CSV + Markdown</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ChatGPT answers; skills standardize; agents execute</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Same model; different contract.</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CONVERSATION</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ChatGPT</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answers prompts</a:t>
            </a:r>
          </a:p>
        </p:txBody>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REUSABLE METHOD</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Skill</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instructions + checks</a:t>
            </a:r>
          </a:p>
        </p:txBody>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GOAL-DIRECTED</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Agent</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plans, tools, loops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USER ORCHESTRATES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ask → inspect → repeat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NOT A WORKER</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used by models or agents</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AGENT ORCHESTRATES</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selects skills + tools</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context;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a:t>
            </a:r>
            <a:r>
              <a:rPr sz="1125" b="1">
                <a:solidFill>
                  <a:srgbClr val="175E54"/>
                </a:solidFill>
                <a:latin typeface="Arial"/>
                <a:ea typeface="Arial"/>
                <a:cs typeface="Arial"/>
              </a:rPr>
              <a:t>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auto-acceptance, pooling, or identity claims</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keeps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1c2521de0ed74778"/>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Titles are not enough. Require accession, metadata, codebook, assay, and timing.</a:t>
            </a:r>
          </a:p>
        </p:txBody>
      </p:sp>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3f442a7d39444cf"/>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Private study data stay local; RefMet sees names only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527e7e08908467e"/>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897ee38a47d249a5"/>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is not eligibility; animal fixture excluded.</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Metadata-backed triage—not risk of bias or assay validity.</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guides planning</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74edc557d27f4d01"/>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Readiness asks: can we plan this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Not: are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Needs timing, matrix, platform, exercise/CPET, genetics, body composition, diet + codebooks</a:t>
            </a:r>
          </a:p>
        </p:txBody>
      </p:sp>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CSV + Markdown enable human verification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b87874b2b494c23"/>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 evidence remains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4 hops  •  6 evidence states  •  no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Safety rules are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No failures, errors, or skips</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f9a754adaeba41a4"/>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Agents produce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is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4b8940d262c4572"/>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4d3ef75c97f4777"/>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f71f443f48e4fc6"/>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Project contributors</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658" y="2834164"/>
            <a:ext cx="8520589" cy="13335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Samuel Montalvo, Ph.D. · Eric Leslie</a:t>
            </a:r>
          </a:p>
          <a:p xmlns:a="http://schemas.openxmlformats.org/drawingml/2006/main">
            <a:r>
              <a:t>Laurens van de Wiel · Matthew T. Wheeler | Stanford University</a:t>
            </a:r>
          </a:p>
        </p:txBody>
      </p:sp>
    </p:spTree>
    <p:extLst>
      <p:ext uri="{BB962C8B-B14F-4D97-AF65-F5344CB8AC3E}">
        <p14:creationId xmlns:p14="http://schemas.microsoft.com/office/powerpoint/2010/main" val="87743875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Decide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2026-08-27T15:59:06.1890000Z</dcterms:created>
  <dcterms:modified xsi:type="dcterms:W3CDTF">2026-08-27T15:59:06.1890000Z</dcterms:modified>
</coreProperties>
</file>